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42645" y="296621"/>
            <a:ext cx="7858709" cy="1045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4642" y="1349755"/>
            <a:ext cx="8167370" cy="2372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https://alexanderdyakonov.wordpress.com/2017/04/19/&#1087;&#1086;&#1080;&#1089;&#1082;-&#1072;&#1085;&#1086;&#1084;&#1072;&#1083;&#1080;&#1081;-anomaly-detection/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5786" y="2481452"/>
            <a:ext cx="68732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Поиск</a:t>
            </a:r>
            <a:r>
              <a:rPr sz="4400" spc="-95" dirty="0"/>
              <a:t> </a:t>
            </a:r>
            <a:r>
              <a:rPr sz="4400" dirty="0"/>
              <a:t>выбросов</a:t>
            </a:r>
            <a:r>
              <a:rPr sz="4400" spc="-65" dirty="0"/>
              <a:t> </a:t>
            </a:r>
            <a:r>
              <a:rPr sz="4400" dirty="0"/>
              <a:t>и</a:t>
            </a:r>
            <a:r>
              <a:rPr sz="4400" spc="-70" dirty="0"/>
              <a:t> </a:t>
            </a:r>
            <a:r>
              <a:rPr sz="4400" spc="-10" dirty="0"/>
              <a:t>аномалий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2394585" y="3797274"/>
            <a:ext cx="4353560" cy="60337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865"/>
              </a:spcBef>
            </a:pPr>
            <a:r>
              <a:rPr sz="3200" dirty="0">
                <a:solidFill>
                  <a:srgbClr val="888888"/>
                </a:solidFill>
                <a:latin typeface="Calibri"/>
                <a:cs typeface="Calibri"/>
              </a:rPr>
              <a:t>Лекция</a:t>
            </a:r>
            <a:r>
              <a:rPr sz="3200" spc="-6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888888"/>
                </a:solidFill>
                <a:latin typeface="Calibri"/>
                <a:cs typeface="Calibri"/>
              </a:rPr>
              <a:t>№3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74317" y="496646"/>
            <a:ext cx="56007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Напоминаю</a:t>
            </a:r>
            <a:r>
              <a:rPr sz="4000" spc="-10" dirty="0"/>
              <a:t> определения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35965" y="1555749"/>
            <a:ext cx="7986395" cy="2037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469900" algn="l"/>
              </a:tabLst>
            </a:pPr>
            <a:r>
              <a:rPr sz="2200" dirty="0">
                <a:latin typeface="Verdana"/>
                <a:cs typeface="Verdana"/>
              </a:rPr>
              <a:t>Поиск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выбросов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(outlier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detection).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Есть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множество </a:t>
            </a:r>
            <a:r>
              <a:rPr sz="2200" dirty="0">
                <a:latin typeface="Verdana"/>
                <a:cs typeface="Verdana"/>
              </a:rPr>
              <a:t>объектов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i="1" dirty="0">
                <a:latin typeface="Verdana"/>
                <a:cs typeface="Verdana"/>
              </a:rPr>
              <a:t>М</a:t>
            </a:r>
            <a:r>
              <a:rPr sz="2200" dirty="0">
                <a:latin typeface="Verdana"/>
                <a:cs typeface="Verdana"/>
              </a:rPr>
              <a:t>.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Найти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в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нем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все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аномальные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объекты.</a:t>
            </a:r>
            <a:endParaRPr sz="2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Verdana"/>
              <a:buAutoNum type="arabicPeriod"/>
            </a:pPr>
            <a:endParaRPr sz="2200">
              <a:latin typeface="Verdana"/>
              <a:cs typeface="Verdana"/>
            </a:endParaRPr>
          </a:p>
          <a:p>
            <a:pPr marL="355600" marR="135255" indent="-342900">
              <a:lnSpc>
                <a:spcPct val="97800"/>
              </a:lnSpc>
              <a:buAutoNum type="arabicPeriod"/>
              <a:tabLst>
                <a:tab pos="355600" algn="l"/>
                <a:tab pos="389255" algn="l"/>
              </a:tabLst>
            </a:pPr>
            <a:r>
              <a:rPr sz="2200" dirty="0">
                <a:latin typeface="Verdana"/>
                <a:cs typeface="Verdana"/>
              </a:rPr>
              <a:t>	Поиск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новизны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(novelty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detection).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Есть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множество </a:t>
            </a:r>
            <a:r>
              <a:rPr sz="2200" dirty="0">
                <a:latin typeface="Verdana"/>
                <a:cs typeface="Verdana"/>
              </a:rPr>
              <a:t>объектов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i="1" dirty="0">
                <a:latin typeface="Verdana"/>
                <a:cs typeface="Verdana"/>
              </a:rPr>
              <a:t>М</a:t>
            </a:r>
            <a:r>
              <a:rPr sz="2200" dirty="0">
                <a:latin typeface="Verdana"/>
                <a:cs typeface="Verdana"/>
              </a:rPr>
              <a:t>.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Определить,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является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ли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объект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i="1" spc="-25" dirty="0">
                <a:latin typeface="Verdana"/>
                <a:cs typeface="Verdana"/>
              </a:rPr>
              <a:t>А</a:t>
            </a:r>
            <a:r>
              <a:rPr sz="2300" spc="-25" dirty="0">
                <a:latin typeface="Symbol"/>
                <a:cs typeface="Symbol"/>
              </a:rPr>
              <a:t></a:t>
            </a:r>
            <a:r>
              <a:rPr sz="2200" i="1" spc="-25" dirty="0">
                <a:latin typeface="Verdana"/>
                <a:cs typeface="Verdana"/>
              </a:rPr>
              <a:t>М </a:t>
            </a:r>
            <a:r>
              <a:rPr sz="2200" dirty="0">
                <a:latin typeface="Verdana"/>
                <a:cs typeface="Verdana"/>
              </a:rPr>
              <a:t>похожим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на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объекты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из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i="1" dirty="0">
                <a:latin typeface="Verdana"/>
                <a:cs typeface="Verdana"/>
              </a:rPr>
              <a:t>М</a:t>
            </a:r>
            <a:r>
              <a:rPr sz="2200" i="1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или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нет?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9521" rIns="0" bIns="0" rtlCol="0">
            <a:spAutoFit/>
          </a:bodyPr>
          <a:lstStyle/>
          <a:p>
            <a:pPr marL="1007110">
              <a:lnSpc>
                <a:spcPct val="100000"/>
              </a:lnSpc>
              <a:spcBef>
                <a:spcPts val="95"/>
              </a:spcBef>
            </a:pPr>
            <a:r>
              <a:rPr sz="2500" spc="-10" dirty="0"/>
              <a:t>Отличие</a:t>
            </a:r>
            <a:r>
              <a:rPr sz="2500" spc="-75" dirty="0"/>
              <a:t> </a:t>
            </a:r>
            <a:r>
              <a:rPr sz="2500" dirty="0"/>
              <a:t>выбросов</a:t>
            </a:r>
            <a:r>
              <a:rPr sz="2500" spc="-80" dirty="0"/>
              <a:t> </a:t>
            </a:r>
            <a:r>
              <a:rPr sz="2500" dirty="0"/>
              <a:t>от</a:t>
            </a:r>
            <a:r>
              <a:rPr sz="2500" spc="-75" dirty="0"/>
              <a:t> </a:t>
            </a:r>
            <a:r>
              <a:rPr sz="2500" dirty="0"/>
              <a:t>новизны</a:t>
            </a:r>
            <a:r>
              <a:rPr sz="2500" spc="-75" dirty="0"/>
              <a:t> </a:t>
            </a:r>
            <a:r>
              <a:rPr sz="2500" dirty="0"/>
              <a:t>и</a:t>
            </a:r>
            <a:r>
              <a:rPr sz="2500" spc="-70" dirty="0"/>
              <a:t> </a:t>
            </a:r>
            <a:r>
              <a:rPr sz="2500" spc="-10" dirty="0"/>
              <a:t>пропусков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390550" y="1598752"/>
            <a:ext cx="4000500" cy="23425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395"/>
              </a:lnSpc>
              <a:spcBef>
                <a:spcPts val="105"/>
              </a:spcBef>
            </a:pPr>
            <a:r>
              <a:rPr sz="2000" b="1" dirty="0">
                <a:latin typeface="Calibri"/>
                <a:cs typeface="Calibri"/>
              </a:rPr>
              <a:t>выброс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VS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пропуск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в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данных</a:t>
            </a:r>
            <a:endParaRPr sz="2000">
              <a:latin typeface="Calibri"/>
              <a:cs typeface="Calibri"/>
            </a:endParaRPr>
          </a:p>
          <a:p>
            <a:pPr marL="355600" marR="302260" indent="-342900">
              <a:lnSpc>
                <a:spcPts val="2640"/>
              </a:lnSpc>
              <a:spcBef>
                <a:spcPts val="85"/>
              </a:spcBef>
            </a:pPr>
            <a:r>
              <a:rPr sz="2200" dirty="0">
                <a:latin typeface="Calibri"/>
                <a:cs typeface="Calibri"/>
              </a:rPr>
              <a:t>Выброс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–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это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часто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реально существующий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объект,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но </a:t>
            </a:r>
            <a:r>
              <a:rPr sz="2200" spc="-10" dirty="0">
                <a:latin typeface="Calibri"/>
                <a:cs typeface="Calibri"/>
              </a:rPr>
              <a:t>обладающий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аномальными </a:t>
            </a:r>
            <a:r>
              <a:rPr sz="2200" dirty="0">
                <a:latin typeface="Calibri"/>
                <a:cs typeface="Calibri"/>
              </a:rPr>
              <a:t>свойствами,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он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сильно</a:t>
            </a:r>
            <a:endParaRPr sz="2200">
              <a:latin typeface="Calibri"/>
              <a:cs typeface="Calibri"/>
            </a:endParaRPr>
          </a:p>
          <a:p>
            <a:pPr marL="355600" marR="5080">
              <a:lnSpc>
                <a:spcPts val="2640"/>
              </a:lnSpc>
            </a:pPr>
            <a:r>
              <a:rPr sz="2200" spc="-20" dirty="0">
                <a:latin typeface="Calibri"/>
                <a:cs typeface="Calibri"/>
              </a:rPr>
              <a:t>отличается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от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других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объектов выборки.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11978" y="1598752"/>
            <a:ext cx="3798570" cy="23425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395"/>
              </a:lnSpc>
              <a:spcBef>
                <a:spcPts val="105"/>
              </a:spcBef>
            </a:pPr>
            <a:r>
              <a:rPr sz="2000" b="1" dirty="0">
                <a:latin typeface="Calibri"/>
                <a:cs typeface="Calibri"/>
              </a:rPr>
              <a:t>выброс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VS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новизна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635"/>
              </a:lnSpc>
            </a:pPr>
            <a:r>
              <a:rPr sz="2200" dirty="0">
                <a:latin typeface="Calibri"/>
                <a:cs typeface="Calibri"/>
              </a:rPr>
              <a:t>Новизна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считается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по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200" dirty="0">
                <a:latin typeface="Calibri"/>
                <a:cs typeface="Calibri"/>
              </a:rPr>
              <a:t>отношению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к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старой</a:t>
            </a:r>
            <a:endParaRPr sz="2200">
              <a:latin typeface="Calibri"/>
              <a:cs typeface="Calibri"/>
            </a:endParaRPr>
          </a:p>
          <a:p>
            <a:pPr marL="355600" marR="5080">
              <a:lnSpc>
                <a:spcPct val="100000"/>
              </a:lnSpc>
            </a:pPr>
            <a:r>
              <a:rPr sz="2200" dirty="0">
                <a:latin typeface="Calibri"/>
                <a:cs typeface="Calibri"/>
              </a:rPr>
              <a:t>выборке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объектов.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А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выброс </a:t>
            </a:r>
            <a:r>
              <a:rPr sz="2200" dirty="0">
                <a:latin typeface="Calibri"/>
                <a:cs typeface="Calibri"/>
              </a:rPr>
              <a:t>является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аномальным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уже </a:t>
            </a:r>
            <a:r>
              <a:rPr sz="2200" dirty="0">
                <a:latin typeface="Calibri"/>
                <a:cs typeface="Calibri"/>
              </a:rPr>
              <a:t>для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своих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«соседей»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по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200" spc="-10" dirty="0">
                <a:latin typeface="Calibri"/>
                <a:cs typeface="Calibri"/>
              </a:rPr>
              <a:t>выборке.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0156" rIns="0" bIns="0" rtlCol="0">
            <a:spAutoFit/>
          </a:bodyPr>
          <a:lstStyle/>
          <a:p>
            <a:pPr marL="264414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Примеры</a:t>
            </a:r>
            <a:r>
              <a:rPr sz="2400" spc="-75" dirty="0"/>
              <a:t> </a:t>
            </a:r>
            <a:r>
              <a:rPr sz="2400" spc="-10" dirty="0"/>
              <a:t>выбросов</a:t>
            </a:r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58648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1.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(из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Википедии)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если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наугад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измерять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температуру</a:t>
            </a:r>
            <a:endParaRPr sz="2400">
              <a:latin typeface="Calibri"/>
              <a:cs typeface="Calibri"/>
            </a:endParaRPr>
          </a:p>
          <a:p>
            <a:pPr marL="381000" marR="5080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предметов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в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комнате,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получим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цифры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от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18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до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22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°C,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но </a:t>
            </a:r>
            <a:r>
              <a:rPr sz="2400" dirty="0">
                <a:latin typeface="Calibri"/>
                <a:cs typeface="Calibri"/>
              </a:rPr>
              <a:t>радиатор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отопления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будет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иметь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температуру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в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70°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и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это </a:t>
            </a:r>
            <a:r>
              <a:rPr sz="2400" dirty="0">
                <a:latin typeface="Calibri"/>
                <a:cs typeface="Calibri"/>
              </a:rPr>
              <a:t>выброс,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не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типичное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значение!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0156" rIns="0" bIns="0" rtlCol="0">
            <a:spAutoFit/>
          </a:bodyPr>
          <a:lstStyle/>
          <a:p>
            <a:pPr marL="264414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Примеры</a:t>
            </a:r>
            <a:r>
              <a:rPr sz="2400" spc="-75" dirty="0"/>
              <a:t> </a:t>
            </a:r>
            <a:r>
              <a:rPr sz="2400" spc="-10" dirty="0"/>
              <a:t>выбросов</a:t>
            </a:r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64642" y="1349755"/>
            <a:ext cx="8167370" cy="1738501"/>
          </a:xfrm>
          <a:prstGeom prst="rect">
            <a:avLst/>
          </a:prstGeom>
        </p:spPr>
        <p:txBody>
          <a:bodyPr vert="horz" wrap="square" lIns="0" tIns="258648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2.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На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матфаке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 err="1">
                <a:latin typeface="Calibri"/>
                <a:cs typeface="Calibri"/>
              </a:rPr>
              <a:t>ОмГУ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lang="ru-RU" sz="2400" spc="-50" dirty="0">
                <a:latin typeface="Calibri"/>
                <a:cs typeface="Calibri"/>
              </a:rPr>
              <a:t>проводилось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анкетирование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порядка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60</a:t>
            </a:r>
            <a:endParaRPr sz="2400" dirty="0">
              <a:latin typeface="Calibri"/>
              <a:cs typeface="Calibri"/>
            </a:endParaRPr>
          </a:p>
          <a:p>
            <a:pPr marL="381000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студентов: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 err="1">
                <a:latin typeface="Calibri"/>
                <a:cs typeface="Calibri"/>
              </a:rPr>
              <a:t>просил</a:t>
            </a:r>
            <a:r>
              <a:rPr lang="ru-RU" sz="2400" dirty="0">
                <a:latin typeface="Calibri"/>
                <a:cs typeface="Calibri"/>
              </a:rPr>
              <a:t>и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их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написать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средние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баллы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за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все</a:t>
            </a:r>
            <a:endParaRPr sz="2400" dirty="0">
              <a:latin typeface="Calibri"/>
              <a:cs typeface="Calibri"/>
            </a:endParaRPr>
          </a:p>
          <a:p>
            <a:pPr marL="381000" marR="508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сессии.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Выбросом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оказался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КРУГЛЫЙ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ОТЛИЧНИК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(что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было </a:t>
            </a:r>
            <a:r>
              <a:rPr sz="2400" spc="-10" dirty="0">
                <a:latin typeface="Calibri"/>
                <a:cs typeface="Calibri"/>
              </a:rPr>
              <a:t>установлено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с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помощью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алгоритма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поиска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выбросов)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0156" rIns="0" bIns="0" rtlCol="0">
            <a:spAutoFit/>
          </a:bodyPr>
          <a:lstStyle/>
          <a:p>
            <a:pPr marL="1047115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Зачем</a:t>
            </a:r>
            <a:r>
              <a:rPr sz="2400" spc="-100" dirty="0"/>
              <a:t> </a:t>
            </a:r>
            <a:r>
              <a:rPr sz="2400" dirty="0"/>
              <a:t>нужно</a:t>
            </a:r>
            <a:r>
              <a:rPr sz="2400" spc="-70" dirty="0"/>
              <a:t> </a:t>
            </a:r>
            <a:r>
              <a:rPr sz="2400" dirty="0"/>
              <a:t>искать</a:t>
            </a:r>
            <a:r>
              <a:rPr sz="2400" spc="-75" dirty="0"/>
              <a:t> </a:t>
            </a:r>
            <a:r>
              <a:rPr sz="2400" dirty="0"/>
              <a:t>и</a:t>
            </a:r>
            <a:r>
              <a:rPr sz="2400" spc="-60" dirty="0"/>
              <a:t> </a:t>
            </a:r>
            <a:r>
              <a:rPr sz="2400" spc="-10" dirty="0"/>
              <a:t>уничтожать</a:t>
            </a:r>
            <a:r>
              <a:rPr sz="2400" spc="-85" dirty="0"/>
              <a:t> </a:t>
            </a:r>
            <a:r>
              <a:rPr sz="2400" spc="-10" dirty="0"/>
              <a:t>выбросы?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390550" y="1595704"/>
            <a:ext cx="8043545" cy="295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69265" algn="l"/>
              </a:tabLst>
            </a:pPr>
            <a:r>
              <a:rPr sz="2400" dirty="0">
                <a:latin typeface="Calibri"/>
                <a:cs typeface="Calibri"/>
              </a:rPr>
              <a:t>Если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данные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будут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использоваться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при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решении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задачи</a:t>
            </a:r>
            <a:endParaRPr sz="2400">
              <a:latin typeface="Calibri"/>
              <a:cs typeface="Calibri"/>
            </a:endParaRPr>
          </a:p>
          <a:p>
            <a:pPr marL="469900" marR="5080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предсказания,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то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удаление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выбросов,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как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правило, повышает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точность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предсказания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(ибо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правило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«мусор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на </a:t>
            </a:r>
            <a:r>
              <a:rPr sz="2400" spc="-20" dirty="0">
                <a:latin typeface="Calibri"/>
                <a:cs typeface="Calibri"/>
              </a:rPr>
              <a:t>входе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мусор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на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выходе»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никто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не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отменял).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469265" algn="l"/>
              </a:tabLst>
            </a:pPr>
            <a:r>
              <a:rPr sz="2400" spc="-30" dirty="0">
                <a:latin typeface="Calibri"/>
                <a:cs typeface="Calibri"/>
              </a:rPr>
              <a:t>Удаление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выбросов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позволяет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получить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нормальные</a:t>
            </a:r>
            <a:endParaRPr sz="24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(типичные,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эталонные)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объекты.</a:t>
            </a:r>
            <a:endParaRPr sz="2400">
              <a:latin typeface="Calibri"/>
              <a:cs typeface="Calibri"/>
            </a:endParaRPr>
          </a:p>
          <a:p>
            <a:pPr marL="469900" marR="386715" indent="-457200">
              <a:lnSpc>
                <a:spcPct val="100000"/>
              </a:lnSpc>
              <a:buAutoNum type="arabicPeriod" startAt="3"/>
              <a:tabLst>
                <a:tab pos="469900" algn="l"/>
              </a:tabLst>
            </a:pPr>
            <a:r>
              <a:rPr sz="2400" dirty="0">
                <a:latin typeface="Calibri"/>
                <a:cs typeface="Calibri"/>
              </a:rPr>
              <a:t>Многие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характеристики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(например,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среднее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значение) </a:t>
            </a:r>
            <a:r>
              <a:rPr sz="2400" dirty="0">
                <a:latin typeface="Calibri"/>
                <a:cs typeface="Calibri"/>
              </a:rPr>
              <a:t>очень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чувствительны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к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наличию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выбросов.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355" y="677672"/>
            <a:ext cx="721550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62810" marR="5080" indent="-2150745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Идеальных</a:t>
            </a:r>
            <a:r>
              <a:rPr sz="2800" spc="-114" dirty="0"/>
              <a:t> </a:t>
            </a:r>
            <a:r>
              <a:rPr sz="2800" spc="-10" dirty="0"/>
              <a:t>методов</a:t>
            </a:r>
            <a:r>
              <a:rPr sz="2800" spc="-125" dirty="0"/>
              <a:t> </a:t>
            </a:r>
            <a:r>
              <a:rPr sz="2800" spc="-10" dirty="0"/>
              <a:t>обнаружения</a:t>
            </a:r>
            <a:r>
              <a:rPr sz="2800" spc="-105" dirty="0"/>
              <a:t> </a:t>
            </a:r>
            <a:r>
              <a:rPr sz="2800" dirty="0"/>
              <a:t>выбросов</a:t>
            </a:r>
            <a:r>
              <a:rPr sz="2800" spc="-105" dirty="0"/>
              <a:t> </a:t>
            </a:r>
            <a:r>
              <a:rPr sz="2800" spc="-25" dirty="0"/>
              <a:t>не </a:t>
            </a:r>
            <a:r>
              <a:rPr sz="2800" dirty="0"/>
              <a:t>бывает</a:t>
            </a:r>
            <a:r>
              <a:rPr sz="2800" spc="-100" dirty="0"/>
              <a:t> </a:t>
            </a:r>
            <a:r>
              <a:rPr sz="2800" spc="-10" dirty="0"/>
              <a:t>потому,</a:t>
            </a:r>
            <a:r>
              <a:rPr sz="2800" spc="-75" dirty="0"/>
              <a:t> </a:t>
            </a:r>
            <a:r>
              <a:rPr sz="2800" spc="-25" dirty="0"/>
              <a:t>что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64642" y="1841754"/>
            <a:ext cx="8255000" cy="3378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9255" indent="-376555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389255" algn="l"/>
              </a:tabLst>
            </a:pPr>
            <a:r>
              <a:rPr sz="2200" dirty="0">
                <a:latin typeface="Verdana"/>
                <a:cs typeface="Verdana"/>
              </a:rPr>
              <a:t>…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не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существует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формального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определения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выброса.</a:t>
            </a:r>
            <a:endParaRPr sz="2200">
              <a:latin typeface="Verdana"/>
              <a:cs typeface="Verdana"/>
            </a:endParaRPr>
          </a:p>
          <a:p>
            <a:pPr marL="389255" marR="1205230" indent="-376555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sz="2200" dirty="0">
                <a:latin typeface="Verdana"/>
                <a:cs typeface="Verdana"/>
              </a:rPr>
              <a:t>…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алгоритм,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беспощадный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к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выбросам,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будет 	</a:t>
            </a:r>
            <a:r>
              <a:rPr sz="2200" dirty="0">
                <a:latin typeface="Verdana"/>
                <a:cs typeface="Verdana"/>
              </a:rPr>
              <a:t>удалять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и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часть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«нормальных»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объектов.</a:t>
            </a:r>
            <a:endParaRPr sz="2200">
              <a:latin typeface="Verdana"/>
              <a:cs typeface="Verdana"/>
            </a:endParaRPr>
          </a:p>
          <a:p>
            <a:pPr marL="389255" marR="500380" indent="-376555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sz="2200" dirty="0">
                <a:latin typeface="Verdana"/>
                <a:cs typeface="Verdana"/>
              </a:rPr>
              <a:t>…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алгоритм,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гуманный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к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«нормальным»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объектам, 	</a:t>
            </a:r>
            <a:r>
              <a:rPr sz="2200" dirty="0">
                <a:latin typeface="Verdana"/>
                <a:cs typeface="Verdana"/>
              </a:rPr>
              <a:t>будет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пропускать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часть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выбросов.</a:t>
            </a:r>
            <a:endParaRPr sz="2200">
              <a:latin typeface="Verdana"/>
              <a:cs typeface="Verdana"/>
            </a:endParaRPr>
          </a:p>
          <a:p>
            <a:pPr marL="469900" marR="755650" indent="-457200">
              <a:lnSpc>
                <a:spcPct val="100000"/>
              </a:lnSpc>
              <a:spcBef>
                <a:spcPts val="2640"/>
              </a:spcBef>
            </a:pPr>
            <a:r>
              <a:rPr sz="2200" dirty="0">
                <a:latin typeface="Verdana"/>
                <a:cs typeface="Verdana"/>
              </a:rPr>
              <a:t>Построить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идеальный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детектор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выбросов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–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это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всё </a:t>
            </a:r>
            <a:r>
              <a:rPr sz="2200" dirty="0">
                <a:latin typeface="Verdana"/>
                <a:cs typeface="Verdana"/>
              </a:rPr>
              <a:t>равно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что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предложить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мед.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анализ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без </a:t>
            </a:r>
            <a:r>
              <a:rPr sz="2200" dirty="0">
                <a:latin typeface="Verdana"/>
                <a:cs typeface="Verdana"/>
              </a:rPr>
              <a:t>ложноположительных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и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ложноотрицательных результатов.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2673" rIns="0" bIns="0" rtlCol="0">
            <a:spAutoFit/>
          </a:bodyPr>
          <a:lstStyle/>
          <a:p>
            <a:pPr marL="147193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Методы</a:t>
            </a:r>
            <a:r>
              <a:rPr sz="2800" spc="-95" dirty="0"/>
              <a:t> </a:t>
            </a:r>
            <a:r>
              <a:rPr sz="2800" spc="-10" dirty="0"/>
              <a:t>обнаружения</a:t>
            </a:r>
            <a:r>
              <a:rPr sz="2800" spc="-100" dirty="0"/>
              <a:t> </a:t>
            </a:r>
            <a:r>
              <a:rPr sz="2800" spc="-10" dirty="0"/>
              <a:t>выбросов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35965" y="1555750"/>
            <a:ext cx="8050530" cy="295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685" marR="5080" indent="-515620">
              <a:lnSpc>
                <a:spcPct val="100000"/>
              </a:lnSpc>
              <a:spcBef>
                <a:spcPts val="100"/>
              </a:spcBef>
              <a:tabLst>
                <a:tab pos="527685" algn="l"/>
              </a:tabLst>
            </a:pPr>
            <a:r>
              <a:rPr sz="2400" spc="-25" dirty="0">
                <a:latin typeface="Verdana"/>
                <a:cs typeface="Verdana"/>
              </a:rPr>
              <a:t>I.</a:t>
            </a:r>
            <a:r>
              <a:rPr sz="2400" dirty="0">
                <a:latin typeface="Verdana"/>
                <a:cs typeface="Verdana"/>
              </a:rPr>
              <a:t>	Поиск</a:t>
            </a:r>
            <a:r>
              <a:rPr sz="2400" spc="-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аномальных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объектов</a:t>
            </a:r>
            <a:r>
              <a:rPr sz="2400" spc="-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с</a:t>
            </a:r>
            <a:r>
              <a:rPr sz="2400" spc="-8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помощью </a:t>
            </a:r>
            <a:r>
              <a:rPr sz="2400" dirty="0">
                <a:latin typeface="Verdana"/>
                <a:cs typeface="Verdana"/>
              </a:rPr>
              <a:t>здравого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смысла.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Например,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если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известен </a:t>
            </a:r>
            <a:r>
              <a:rPr sz="2400" dirty="0">
                <a:latin typeface="Verdana"/>
                <a:cs typeface="Verdana"/>
              </a:rPr>
              <a:t>нормальный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диапазон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для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значений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признака.</a:t>
            </a:r>
            <a:endParaRPr sz="2400">
              <a:latin typeface="Verdana"/>
              <a:cs typeface="Verdana"/>
            </a:endParaRPr>
          </a:p>
          <a:p>
            <a:pPr marL="12700" marR="445770">
              <a:lnSpc>
                <a:spcPct val="100000"/>
              </a:lnSpc>
              <a:spcBef>
                <a:spcPts val="2880"/>
              </a:spcBef>
            </a:pPr>
            <a:r>
              <a:rPr sz="2400" b="1" dirty="0">
                <a:latin typeface="Verdana"/>
                <a:cs typeface="Verdana"/>
              </a:rPr>
              <a:t>Пример</a:t>
            </a:r>
            <a:r>
              <a:rPr sz="2400" dirty="0">
                <a:latin typeface="Verdana"/>
                <a:cs typeface="Verdana"/>
              </a:rPr>
              <a:t>: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человек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с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ростом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более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200см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(такие </a:t>
            </a:r>
            <a:r>
              <a:rPr sz="2400" dirty="0">
                <a:latin typeface="Verdana"/>
                <a:cs typeface="Verdana"/>
              </a:rPr>
              <a:t>люди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могут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в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реальности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существовать,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но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их </a:t>
            </a:r>
            <a:r>
              <a:rPr sz="2400" dirty="0">
                <a:latin typeface="Verdana"/>
                <a:cs typeface="Verdana"/>
              </a:rPr>
              <a:t>очень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мало).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Таких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людей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лучше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объявить выбросами.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2673" rIns="0" bIns="0" rtlCol="0">
            <a:spAutoFit/>
          </a:bodyPr>
          <a:lstStyle/>
          <a:p>
            <a:pPr marL="147193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Методы</a:t>
            </a:r>
            <a:r>
              <a:rPr sz="2800" spc="-95" dirty="0"/>
              <a:t> </a:t>
            </a:r>
            <a:r>
              <a:rPr sz="2800" spc="-10" dirty="0"/>
              <a:t>обнаружения</a:t>
            </a:r>
            <a:r>
              <a:rPr sz="2800" spc="-100" dirty="0"/>
              <a:t> </a:t>
            </a:r>
            <a:r>
              <a:rPr sz="2800" spc="-10" dirty="0"/>
              <a:t>выбросов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435965" y="1555750"/>
            <a:ext cx="8109584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685" marR="5080" indent="-51562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Verdana"/>
                <a:cs typeface="Verdana"/>
              </a:rPr>
              <a:t>II.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Методы,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основанные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на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анализе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одного </a:t>
            </a:r>
            <a:r>
              <a:rPr sz="2400" dirty="0">
                <a:latin typeface="Verdana"/>
                <a:cs typeface="Verdana"/>
              </a:rPr>
              <a:t>признака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(каждый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признак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берётся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отдельно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spc="-50" dirty="0">
                <a:latin typeface="Verdana"/>
                <a:cs typeface="Verdana"/>
              </a:rPr>
              <a:t>и </a:t>
            </a:r>
            <a:r>
              <a:rPr sz="2400" dirty="0">
                <a:latin typeface="Verdana"/>
                <a:cs typeface="Verdana"/>
              </a:rPr>
              <a:t>ищутся</a:t>
            </a:r>
            <a:r>
              <a:rPr sz="2400" spc="-9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объекты</a:t>
            </a:r>
            <a:r>
              <a:rPr sz="2400" spc="-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аномальными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значениями </a:t>
            </a:r>
            <a:r>
              <a:rPr sz="2400" dirty="0">
                <a:latin typeface="Verdana"/>
                <a:cs typeface="Verdana"/>
              </a:rPr>
              <a:t>этого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признака).</a:t>
            </a:r>
            <a:endParaRPr sz="2400">
              <a:latin typeface="Verdana"/>
              <a:cs typeface="Verdana"/>
            </a:endParaRPr>
          </a:p>
          <a:p>
            <a:pPr marL="527685" marR="1082675" indent="-515620">
              <a:lnSpc>
                <a:spcPct val="100000"/>
              </a:lnSpc>
            </a:pPr>
            <a:r>
              <a:rPr sz="2400" dirty="0">
                <a:latin typeface="Verdana"/>
                <a:cs typeface="Verdana"/>
              </a:rPr>
              <a:t>III.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Методы,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основанные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на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одновременном </a:t>
            </a:r>
            <a:r>
              <a:rPr sz="2400" dirty="0">
                <a:latin typeface="Verdana"/>
                <a:cs typeface="Verdana"/>
              </a:rPr>
              <a:t>анализе</a:t>
            </a:r>
            <a:r>
              <a:rPr sz="2400" spc="-9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нескольких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признаков.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9022" y="2770758"/>
            <a:ext cx="6903720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52040" marR="5080" indent="-2339975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Calibri"/>
                <a:cs typeface="Calibri"/>
              </a:rPr>
              <a:t>Методы,</a:t>
            </a:r>
            <a:r>
              <a:rPr sz="3200" b="1" spc="-9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анализирующие</a:t>
            </a:r>
            <a:r>
              <a:rPr sz="3200" b="1" spc="-10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признаки</a:t>
            </a:r>
            <a:r>
              <a:rPr sz="3200" b="1" spc="-105" dirty="0">
                <a:latin typeface="Calibri"/>
                <a:cs typeface="Calibri"/>
              </a:rPr>
              <a:t> </a:t>
            </a:r>
            <a:r>
              <a:rPr sz="3200" b="1" spc="-25" dirty="0">
                <a:latin typeface="Calibri"/>
                <a:cs typeface="Calibri"/>
              </a:rPr>
              <a:t>по </a:t>
            </a:r>
            <a:r>
              <a:rPr sz="3200" b="1" spc="-10" dirty="0">
                <a:latin typeface="Calibri"/>
                <a:cs typeface="Calibri"/>
              </a:rPr>
              <a:t>отдельности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2673" rIns="0" bIns="0" rtlCol="0">
            <a:spAutoFit/>
          </a:bodyPr>
          <a:lstStyle/>
          <a:p>
            <a:pPr marL="91059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Методы,</a:t>
            </a:r>
            <a:r>
              <a:rPr sz="2800" spc="-110" dirty="0"/>
              <a:t> </a:t>
            </a:r>
            <a:r>
              <a:rPr sz="2800" spc="-10" dirty="0"/>
              <a:t>анализирующие</a:t>
            </a:r>
            <a:r>
              <a:rPr sz="2800" spc="-110" dirty="0"/>
              <a:t> </a:t>
            </a:r>
            <a:r>
              <a:rPr sz="2800" dirty="0"/>
              <a:t>один</a:t>
            </a:r>
            <a:r>
              <a:rPr sz="2800" spc="-114" dirty="0"/>
              <a:t> </a:t>
            </a:r>
            <a:r>
              <a:rPr sz="2800" spc="-10" dirty="0"/>
              <a:t>признак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13842" y="1555749"/>
            <a:ext cx="8030845" cy="3043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Verdana"/>
                <a:cs typeface="Verdana"/>
              </a:rPr>
              <a:t>Вот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у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вас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есть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значения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признака</a:t>
            </a:r>
            <a:endParaRPr sz="2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610"/>
              </a:spcBef>
            </a:pPr>
            <a:endParaRPr sz="2200">
              <a:latin typeface="Verdana"/>
              <a:cs typeface="Verdana"/>
            </a:endParaRPr>
          </a:p>
          <a:p>
            <a:pPr marL="63500">
              <a:lnSpc>
                <a:spcPct val="100000"/>
              </a:lnSpc>
            </a:pPr>
            <a:r>
              <a:rPr sz="2200" b="1" dirty="0">
                <a:latin typeface="Verdana"/>
                <a:cs typeface="Verdana"/>
              </a:rPr>
              <a:t>Основная</a:t>
            </a:r>
            <a:r>
              <a:rPr sz="2200" b="1" spc="-85" dirty="0">
                <a:latin typeface="Verdana"/>
                <a:cs typeface="Verdana"/>
              </a:rPr>
              <a:t> </a:t>
            </a:r>
            <a:r>
              <a:rPr sz="2200" b="1" dirty="0">
                <a:latin typeface="Verdana"/>
                <a:cs typeface="Verdana"/>
              </a:rPr>
              <a:t>идея</a:t>
            </a:r>
            <a:r>
              <a:rPr sz="2200" b="1" spc="-100" dirty="0">
                <a:latin typeface="Verdana"/>
                <a:cs typeface="Verdana"/>
              </a:rPr>
              <a:t> </a:t>
            </a:r>
            <a:r>
              <a:rPr sz="2200" b="1" dirty="0">
                <a:latin typeface="Verdana"/>
                <a:cs typeface="Verdana"/>
              </a:rPr>
              <a:t>поиска</a:t>
            </a:r>
            <a:r>
              <a:rPr sz="2200" b="1" spc="-80" dirty="0">
                <a:latin typeface="Verdana"/>
                <a:cs typeface="Verdana"/>
              </a:rPr>
              <a:t> </a:t>
            </a:r>
            <a:r>
              <a:rPr sz="2200" b="1" spc="-10" dirty="0">
                <a:latin typeface="Verdana"/>
                <a:cs typeface="Verdana"/>
              </a:rPr>
              <a:t>аномалий:</a:t>
            </a:r>
            <a:endParaRPr sz="2200">
              <a:latin typeface="Verdana"/>
              <a:cs typeface="Verdana"/>
            </a:endParaRPr>
          </a:p>
          <a:p>
            <a:pPr marL="63500" marR="55880">
              <a:lnSpc>
                <a:spcPct val="100000"/>
              </a:lnSpc>
            </a:pPr>
            <a:r>
              <a:rPr sz="2200" dirty="0">
                <a:latin typeface="Verdana"/>
                <a:cs typeface="Verdana"/>
              </a:rPr>
              <a:t>найти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значения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i="1" dirty="0">
                <a:latin typeface="Verdana"/>
                <a:cs typeface="Verdana"/>
              </a:rPr>
              <a:t>p</a:t>
            </a:r>
            <a:r>
              <a:rPr sz="2175" i="1" baseline="-21072" dirty="0">
                <a:latin typeface="Verdana"/>
                <a:cs typeface="Verdana"/>
              </a:rPr>
              <a:t>i</a:t>
            </a:r>
            <a:r>
              <a:rPr sz="2200" dirty="0">
                <a:latin typeface="Verdana"/>
                <a:cs typeface="Verdana"/>
              </a:rPr>
              <a:t>,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расположенные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вдали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от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среднего </a:t>
            </a:r>
            <a:r>
              <a:rPr sz="2200" dirty="0">
                <a:latin typeface="Verdana"/>
                <a:cs typeface="Verdana"/>
              </a:rPr>
              <a:t>значения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(медианы).</a:t>
            </a:r>
            <a:endParaRPr sz="2200">
              <a:latin typeface="Verdana"/>
              <a:cs typeface="Verdana"/>
            </a:endParaRPr>
          </a:p>
          <a:p>
            <a:pPr marL="63500">
              <a:lnSpc>
                <a:spcPct val="100000"/>
              </a:lnSpc>
            </a:pPr>
            <a:r>
              <a:rPr sz="2200" dirty="0">
                <a:latin typeface="Verdana"/>
                <a:cs typeface="Verdana"/>
              </a:rPr>
              <a:t>Далее</a:t>
            </a:r>
            <a:r>
              <a:rPr sz="2200" spc="-1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используем</a:t>
            </a:r>
            <a:r>
              <a:rPr sz="2200" spc="-114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обозначения:</a:t>
            </a:r>
            <a:endParaRPr sz="2200">
              <a:latin typeface="Verdana"/>
              <a:cs typeface="Verdana"/>
            </a:endParaRPr>
          </a:p>
          <a:p>
            <a:pPr marL="454659">
              <a:lnSpc>
                <a:spcPct val="100000"/>
              </a:lnSpc>
              <a:tabLst>
                <a:tab pos="3801745" algn="l"/>
              </a:tabLst>
            </a:pPr>
            <a:r>
              <a:rPr sz="2200" dirty="0">
                <a:latin typeface="Verdana"/>
                <a:cs typeface="Verdana"/>
              </a:rPr>
              <a:t>-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среднее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значение,</a:t>
            </a:r>
            <a:r>
              <a:rPr sz="2200" dirty="0">
                <a:latin typeface="Verdana"/>
                <a:cs typeface="Verdana"/>
              </a:rPr>
              <a:t>	-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объем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выборки,</a:t>
            </a:r>
            <a:endParaRPr sz="2200">
              <a:latin typeface="Verdana"/>
              <a:cs typeface="Verdana"/>
            </a:endParaRPr>
          </a:p>
          <a:p>
            <a:pPr marL="553720">
              <a:lnSpc>
                <a:spcPct val="100000"/>
              </a:lnSpc>
            </a:pPr>
            <a:r>
              <a:rPr sz="2200" dirty="0">
                <a:latin typeface="Verdana"/>
                <a:cs typeface="Verdana"/>
              </a:rPr>
              <a:t>-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отклонение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1748" y="2190737"/>
            <a:ext cx="2571750" cy="44616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67537" y="3861041"/>
            <a:ext cx="314325" cy="957580"/>
            <a:chOff x="467537" y="3861041"/>
            <a:chExt cx="314325" cy="95758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7537" y="3861041"/>
              <a:ext cx="182968" cy="57329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7537" y="4221099"/>
              <a:ext cx="314325" cy="596900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51909" y="3861053"/>
            <a:ext cx="190500" cy="596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2673" rIns="0" bIns="0" rtlCol="0">
            <a:spAutoFit/>
          </a:bodyPr>
          <a:lstStyle/>
          <a:p>
            <a:pPr marL="237109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Простейшие</a:t>
            </a:r>
            <a:r>
              <a:rPr sz="2800" spc="-135" dirty="0"/>
              <a:t> </a:t>
            </a:r>
            <a:r>
              <a:rPr sz="2800" spc="-10" dirty="0"/>
              <a:t>методы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64642" y="1555749"/>
            <a:ext cx="8185784" cy="2708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1510665" indent="-45720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469900" algn="l"/>
              </a:tabLst>
            </a:pPr>
            <a:r>
              <a:rPr sz="2200" dirty="0">
                <a:latin typeface="Verdana"/>
                <a:cs typeface="Verdana"/>
              </a:rPr>
              <a:t>Удалить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все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объекты,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у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которых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величина </a:t>
            </a:r>
            <a:r>
              <a:rPr sz="2200" dirty="0">
                <a:latin typeface="Verdana"/>
                <a:cs typeface="Verdana"/>
              </a:rPr>
              <a:t>слишком</a:t>
            </a:r>
            <a:r>
              <a:rPr sz="2200" spc="-11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велика.</a:t>
            </a:r>
            <a:endParaRPr sz="2200">
              <a:latin typeface="Verdana"/>
              <a:cs typeface="Verdana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69265" algn="l"/>
              </a:tabLst>
            </a:pPr>
            <a:r>
              <a:rPr sz="2200" dirty="0">
                <a:latin typeface="Verdana"/>
                <a:cs typeface="Verdana"/>
              </a:rPr>
              <a:t>Удалить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все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объекты,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у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которых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величина</a:t>
            </a:r>
            <a:endParaRPr sz="2200">
              <a:latin typeface="Verdana"/>
              <a:cs typeface="Verdana"/>
            </a:endParaRPr>
          </a:p>
          <a:p>
            <a:pPr marL="469900" marR="5206365">
              <a:lnSpc>
                <a:spcPct val="100000"/>
              </a:lnSpc>
            </a:pPr>
            <a:r>
              <a:rPr sz="2200" dirty="0">
                <a:latin typeface="Verdana"/>
                <a:cs typeface="Verdana"/>
              </a:rPr>
              <a:t>слишком</a:t>
            </a:r>
            <a:r>
              <a:rPr sz="2200" spc="-11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велика. </a:t>
            </a:r>
            <a:r>
              <a:rPr sz="2200" dirty="0">
                <a:latin typeface="Verdana"/>
                <a:cs typeface="Verdana"/>
              </a:rPr>
              <a:t>(см.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след.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слайд)</a:t>
            </a:r>
            <a:endParaRPr sz="2200">
              <a:latin typeface="Verdana"/>
              <a:cs typeface="Verdana"/>
            </a:endParaRPr>
          </a:p>
          <a:p>
            <a:pPr marL="469265" indent="-456565">
              <a:lnSpc>
                <a:spcPct val="100000"/>
              </a:lnSpc>
              <a:buAutoNum type="arabicPeriod" startAt="3"/>
              <a:tabLst>
                <a:tab pos="469265" algn="l"/>
              </a:tabLst>
            </a:pPr>
            <a:r>
              <a:rPr sz="2200" dirty="0">
                <a:latin typeface="Verdana"/>
                <a:cs typeface="Verdana"/>
              </a:rPr>
              <a:t>Более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продвинутый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критерий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Шовене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(см.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ниже)</a:t>
            </a:r>
            <a:endParaRPr sz="2200">
              <a:latin typeface="Verdana"/>
              <a:cs typeface="Verdana"/>
            </a:endParaRPr>
          </a:p>
          <a:p>
            <a:pPr marL="469900" marR="5080" indent="-457200">
              <a:lnSpc>
                <a:spcPct val="100000"/>
              </a:lnSpc>
              <a:buAutoNum type="arabicPeriod" startAt="3"/>
              <a:tabLst>
                <a:tab pos="469900" algn="l"/>
              </a:tabLst>
            </a:pPr>
            <a:r>
              <a:rPr sz="2200" dirty="0">
                <a:latin typeface="Verdana"/>
                <a:cs typeface="Verdana"/>
              </a:rPr>
              <a:t>Определение</a:t>
            </a:r>
            <a:r>
              <a:rPr sz="2200" spc="-1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выбросов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0000"/>
                </a:solidFill>
                <a:latin typeface="Verdana"/>
                <a:cs typeface="Verdana"/>
              </a:rPr>
              <a:t>без</a:t>
            </a:r>
            <a:r>
              <a:rPr sz="2200" spc="-1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использования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среднего </a:t>
            </a:r>
            <a:r>
              <a:rPr sz="2200" dirty="0">
                <a:latin typeface="Verdana"/>
                <a:cs typeface="Verdana"/>
              </a:rPr>
              <a:t>и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отклонения.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43826" y="1593196"/>
            <a:ext cx="1009650" cy="3164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36332" y="2276843"/>
            <a:ext cx="1066800" cy="97575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944" rIns="0" bIns="0" rtlCol="0">
            <a:spAutoFit/>
          </a:bodyPr>
          <a:lstStyle/>
          <a:p>
            <a:pPr marL="2118995" marR="5080" indent="-1252855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Пожалуй,</a:t>
            </a:r>
            <a:r>
              <a:rPr sz="3000" spc="-70" dirty="0"/>
              <a:t> </a:t>
            </a:r>
            <a:r>
              <a:rPr sz="3000" dirty="0"/>
              <a:t>самое</a:t>
            </a:r>
            <a:r>
              <a:rPr sz="3000" spc="-70" dirty="0"/>
              <a:t> </a:t>
            </a:r>
            <a:r>
              <a:rPr sz="3000" dirty="0"/>
              <a:t>простое</a:t>
            </a:r>
            <a:r>
              <a:rPr sz="3000" spc="-50" dirty="0"/>
              <a:t> </a:t>
            </a:r>
            <a:r>
              <a:rPr sz="3000" dirty="0"/>
              <a:t>правило</a:t>
            </a:r>
            <a:r>
              <a:rPr sz="3000" spc="-55" dirty="0"/>
              <a:t> </a:t>
            </a:r>
            <a:r>
              <a:rPr sz="3000" spc="-25" dirty="0"/>
              <a:t>для </a:t>
            </a:r>
            <a:r>
              <a:rPr sz="3000" spc="-10" dirty="0"/>
              <a:t>определения</a:t>
            </a:r>
            <a:r>
              <a:rPr sz="3000" spc="-150" dirty="0"/>
              <a:t> </a:t>
            </a:r>
            <a:r>
              <a:rPr sz="3000" spc="-10" dirty="0"/>
              <a:t>выброса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364642" y="1732533"/>
            <a:ext cx="8202930" cy="3043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469265" algn="l"/>
              </a:tabLst>
            </a:pPr>
            <a:r>
              <a:rPr sz="2200" dirty="0">
                <a:latin typeface="Verdana"/>
                <a:cs typeface="Verdana"/>
              </a:rPr>
              <a:t>Пусть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i="1" dirty="0">
                <a:latin typeface="Verdana"/>
                <a:cs typeface="Verdana"/>
              </a:rPr>
              <a:t>х</a:t>
            </a:r>
            <a:r>
              <a:rPr sz="2200" i="1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–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подозрительное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значение.</a:t>
            </a:r>
            <a:endParaRPr sz="2200">
              <a:latin typeface="Verdana"/>
              <a:cs typeface="Verdana"/>
            </a:endParaRPr>
          </a:p>
          <a:p>
            <a:pPr marL="469265" indent="-45656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sz="2200" dirty="0">
                <a:latin typeface="Verdana"/>
                <a:cs typeface="Verdana"/>
              </a:rPr>
              <a:t>Исключим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i="1" dirty="0">
                <a:latin typeface="Verdana"/>
                <a:cs typeface="Verdana"/>
              </a:rPr>
              <a:t>х</a:t>
            </a:r>
            <a:r>
              <a:rPr sz="2200" i="1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из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выборки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и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по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оставшимся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элементам</a:t>
            </a:r>
            <a:endParaRPr sz="22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tabLst>
                <a:tab pos="3568700" algn="l"/>
                <a:tab pos="5828665" algn="l"/>
              </a:tabLst>
            </a:pPr>
            <a:r>
              <a:rPr sz="2200" dirty="0">
                <a:latin typeface="Verdana"/>
                <a:cs typeface="Verdana"/>
              </a:rPr>
              <a:t>вычислим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среднее</a:t>
            </a:r>
            <a:r>
              <a:rPr sz="2200" dirty="0">
                <a:latin typeface="Verdana"/>
                <a:cs typeface="Verdana"/>
              </a:rPr>
              <a:t>	и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отклонение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50" dirty="0">
                <a:latin typeface="Verdana"/>
                <a:cs typeface="Verdana"/>
              </a:rPr>
              <a:t>.</a:t>
            </a:r>
            <a:endParaRPr sz="2200">
              <a:latin typeface="Verdana"/>
              <a:cs typeface="Verdana"/>
            </a:endParaRPr>
          </a:p>
          <a:p>
            <a:pPr marL="389255" indent="-376555">
              <a:lnSpc>
                <a:spcPct val="100000"/>
              </a:lnSpc>
              <a:buAutoNum type="arabicPeriod" startAt="3"/>
              <a:tabLst>
                <a:tab pos="389255" algn="l"/>
              </a:tabLst>
            </a:pPr>
            <a:r>
              <a:rPr sz="2200" dirty="0">
                <a:latin typeface="Verdana"/>
                <a:cs typeface="Verdana"/>
              </a:rPr>
              <a:t>Если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выборка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симметричная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(см.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лекцию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1),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то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i="1" spc="-50" dirty="0">
                <a:latin typeface="Verdana"/>
                <a:cs typeface="Verdana"/>
              </a:rPr>
              <a:t>х</a:t>
            </a:r>
            <a:endParaRPr sz="22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Verdana"/>
                <a:cs typeface="Verdana"/>
              </a:rPr>
              <a:t>будет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выбросом,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если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он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не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принадлежит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интервалу</a:t>
            </a:r>
            <a:endParaRPr sz="2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605"/>
              </a:spcBef>
            </a:pPr>
            <a:endParaRPr sz="2200">
              <a:latin typeface="Verdana"/>
              <a:cs typeface="Verdana"/>
            </a:endParaRPr>
          </a:p>
          <a:p>
            <a:pPr marL="389255" marR="916305" indent="-376555">
              <a:lnSpc>
                <a:spcPct val="100000"/>
              </a:lnSpc>
              <a:buAutoNum type="arabicPeriod" startAt="4"/>
              <a:tabLst>
                <a:tab pos="469900" algn="l"/>
              </a:tabLst>
            </a:pPr>
            <a:r>
              <a:rPr sz="2200" dirty="0">
                <a:latin typeface="Verdana"/>
                <a:cs typeface="Verdana"/>
              </a:rPr>
              <a:t>Если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выборка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не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симметричная,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то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i="1" dirty="0">
                <a:latin typeface="Verdana"/>
                <a:cs typeface="Verdana"/>
              </a:rPr>
              <a:t>х</a:t>
            </a:r>
            <a:r>
              <a:rPr sz="2200" i="1" spc="-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будет 	</a:t>
            </a:r>
            <a:r>
              <a:rPr sz="2200" dirty="0">
                <a:latin typeface="Verdana"/>
                <a:cs typeface="Verdana"/>
              </a:rPr>
              <a:t>выбросом,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если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он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не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принадлежит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интервалу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07891" y="2420873"/>
            <a:ext cx="144017" cy="36004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40171" y="2420873"/>
            <a:ext cx="261937" cy="36004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94888" y="3620642"/>
            <a:ext cx="1943100" cy="2381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66896" y="4988814"/>
            <a:ext cx="1943100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46097" y="2981071"/>
            <a:ext cx="60547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Calibri"/>
                <a:cs typeface="Calibri"/>
              </a:rPr>
              <a:t>Критерий</a:t>
            </a:r>
            <a:r>
              <a:rPr sz="3600" b="1" spc="-6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Шовене</a:t>
            </a:r>
            <a:r>
              <a:rPr sz="3600" b="1" spc="-15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(Chauvenet)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8307" rIns="0" bIns="0" rtlCol="0">
            <a:spAutoFit/>
          </a:bodyPr>
          <a:lstStyle/>
          <a:p>
            <a:pPr marL="319405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Критерий</a:t>
            </a:r>
            <a:r>
              <a:rPr sz="4400" spc="-110" dirty="0"/>
              <a:t> </a:t>
            </a:r>
            <a:r>
              <a:rPr sz="4400" dirty="0"/>
              <a:t>Шовене</a:t>
            </a:r>
            <a:r>
              <a:rPr sz="4400" spc="-75" dirty="0"/>
              <a:t> </a:t>
            </a:r>
            <a:r>
              <a:rPr sz="4400" spc="-10" dirty="0"/>
              <a:t>(Chauvenet)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351942" y="1349755"/>
            <a:ext cx="723138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0" marR="17780" indent="-4572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Verdana"/>
                <a:cs typeface="Verdana"/>
              </a:rPr>
              <a:t>Значение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i="1" dirty="0">
                <a:latin typeface="Verdana"/>
                <a:cs typeface="Verdana"/>
              </a:rPr>
              <a:t>p</a:t>
            </a:r>
            <a:r>
              <a:rPr sz="2175" i="1" baseline="-21072" dirty="0">
                <a:latin typeface="Verdana"/>
                <a:cs typeface="Verdana"/>
              </a:rPr>
              <a:t>i</a:t>
            </a:r>
            <a:r>
              <a:rPr sz="2175" i="1" spc="277" baseline="-21072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является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выбросом,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если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выполнено неравенство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4642" y="3026410"/>
            <a:ext cx="4965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25" dirty="0">
                <a:latin typeface="Verdana"/>
                <a:cs typeface="Verdana"/>
              </a:rPr>
              <a:t>где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4642" y="5374030"/>
            <a:ext cx="46951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Verdana"/>
                <a:cs typeface="Verdana"/>
              </a:rPr>
              <a:t>дополнение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к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функции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ошибок.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5525" y="2318563"/>
            <a:ext cx="2914650" cy="8795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95525" y="3942148"/>
            <a:ext cx="3305175" cy="104473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786123" y="3905237"/>
            <a:ext cx="1857375" cy="1238885"/>
          </a:xfrm>
          <a:prstGeom prst="rect">
            <a:avLst/>
          </a:prstGeom>
          <a:solidFill>
            <a:srgbClr val="C0504D"/>
          </a:solidFill>
          <a:ln w="25400">
            <a:solidFill>
              <a:srgbClr val="000000"/>
            </a:solidFill>
          </a:ln>
        </p:spPr>
        <p:txBody>
          <a:bodyPr vert="horz" wrap="square" lIns="0" tIns="1593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5"/>
              </a:spcBef>
            </a:pPr>
            <a:endParaRPr sz="2000">
              <a:latin typeface="Times New Roman"/>
              <a:cs typeface="Times New Roman"/>
            </a:endParaRPr>
          </a:p>
          <a:p>
            <a:pPr marL="234315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18+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censored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8307" rIns="0" bIns="0" rtlCol="0">
            <a:spAutoFit/>
          </a:bodyPr>
          <a:lstStyle/>
          <a:p>
            <a:pPr marL="319405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Критерий</a:t>
            </a:r>
            <a:r>
              <a:rPr sz="4400" spc="-110" dirty="0"/>
              <a:t> </a:t>
            </a:r>
            <a:r>
              <a:rPr sz="4400" dirty="0"/>
              <a:t>Шовене</a:t>
            </a:r>
            <a:r>
              <a:rPr sz="4400" spc="-75" dirty="0"/>
              <a:t> </a:t>
            </a:r>
            <a:r>
              <a:rPr sz="4400" spc="-10" dirty="0"/>
              <a:t>(Chauvenet)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351942" y="1349755"/>
            <a:ext cx="723138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0" marR="17780" indent="-4572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Verdana"/>
                <a:cs typeface="Verdana"/>
              </a:rPr>
              <a:t>Значение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i="1" dirty="0">
                <a:latin typeface="Verdana"/>
                <a:cs typeface="Verdana"/>
              </a:rPr>
              <a:t>p</a:t>
            </a:r>
            <a:r>
              <a:rPr sz="2175" i="1" baseline="-21072" dirty="0">
                <a:latin typeface="Verdana"/>
                <a:cs typeface="Verdana"/>
              </a:rPr>
              <a:t>i</a:t>
            </a:r>
            <a:r>
              <a:rPr sz="2175" i="1" spc="277" baseline="-21072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является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выбросом,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если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выполнено неравенство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4642" y="3026410"/>
            <a:ext cx="4965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25" dirty="0">
                <a:latin typeface="Verdana"/>
                <a:cs typeface="Verdana"/>
              </a:rPr>
              <a:t>где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4642" y="5374030"/>
            <a:ext cx="46939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Verdana"/>
                <a:cs typeface="Verdana"/>
              </a:rPr>
              <a:t>дополнение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к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функции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ошибок.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1119" y="2314955"/>
            <a:ext cx="2914650" cy="10287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5143" y="4043171"/>
            <a:ext cx="3305175" cy="10795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04053" y="1988820"/>
            <a:ext cx="3810000" cy="3556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8307" rIns="0" bIns="0" rtlCol="0">
            <a:spAutoFit/>
          </a:bodyPr>
          <a:lstStyle/>
          <a:p>
            <a:pPr marL="2982595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Пример</a:t>
            </a:r>
            <a:endParaRPr sz="4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1041400" indent="-457200">
              <a:lnSpc>
                <a:spcPct val="100000"/>
              </a:lnSpc>
              <a:spcBef>
                <a:spcPts val="95"/>
              </a:spcBef>
            </a:pPr>
            <a:r>
              <a:rPr dirty="0"/>
              <a:t>Есть</a:t>
            </a:r>
            <a:r>
              <a:rPr spc="-100" dirty="0"/>
              <a:t> </a:t>
            </a:r>
            <a:r>
              <a:rPr i="1" dirty="0">
                <a:latin typeface="Verdana"/>
                <a:cs typeface="Verdana"/>
              </a:rPr>
              <a:t>n=14</a:t>
            </a:r>
            <a:r>
              <a:rPr i="1" spc="-85" dirty="0">
                <a:latin typeface="Verdana"/>
                <a:cs typeface="Verdana"/>
              </a:rPr>
              <a:t> </a:t>
            </a:r>
            <a:r>
              <a:rPr dirty="0"/>
              <a:t>объектов</a:t>
            </a:r>
            <a:r>
              <a:rPr spc="-50" dirty="0"/>
              <a:t> </a:t>
            </a:r>
            <a:r>
              <a:rPr dirty="0"/>
              <a:t>со</a:t>
            </a:r>
            <a:r>
              <a:rPr spc="-75" dirty="0"/>
              <a:t> </a:t>
            </a:r>
            <a:r>
              <a:rPr dirty="0"/>
              <a:t>следующими</a:t>
            </a:r>
            <a:r>
              <a:rPr spc="-60" dirty="0"/>
              <a:t> </a:t>
            </a:r>
            <a:r>
              <a:rPr spc="-10" dirty="0"/>
              <a:t>значениями </a:t>
            </a:r>
            <a:r>
              <a:rPr dirty="0"/>
              <a:t>признака</a:t>
            </a:r>
            <a:r>
              <a:rPr spc="-120" dirty="0"/>
              <a:t> </a:t>
            </a:r>
            <a:r>
              <a:rPr i="1" spc="-50" dirty="0">
                <a:latin typeface="Verdana"/>
                <a:cs typeface="Verdana"/>
              </a:rPr>
              <a:t>Р</a:t>
            </a:r>
          </a:p>
          <a:p>
            <a:pPr marL="12700">
              <a:lnSpc>
                <a:spcPct val="100000"/>
              </a:lnSpc>
            </a:pPr>
            <a:r>
              <a:rPr dirty="0"/>
              <a:t>8.02</a:t>
            </a:r>
            <a:r>
              <a:rPr spc="-55" dirty="0"/>
              <a:t> </a:t>
            </a:r>
            <a:r>
              <a:rPr dirty="0"/>
              <a:t>8.16</a:t>
            </a:r>
            <a:r>
              <a:rPr spc="-45" dirty="0"/>
              <a:t> </a:t>
            </a:r>
            <a:r>
              <a:rPr dirty="0"/>
              <a:t>3.97</a:t>
            </a:r>
            <a:r>
              <a:rPr spc="-35" dirty="0"/>
              <a:t> </a:t>
            </a:r>
            <a:r>
              <a:rPr dirty="0"/>
              <a:t>8.64</a:t>
            </a:r>
            <a:r>
              <a:rPr spc="-45" dirty="0"/>
              <a:t> </a:t>
            </a:r>
            <a:r>
              <a:rPr dirty="0"/>
              <a:t>0.84</a:t>
            </a:r>
            <a:r>
              <a:rPr spc="-45" dirty="0"/>
              <a:t> </a:t>
            </a:r>
            <a:r>
              <a:rPr dirty="0"/>
              <a:t>4.46</a:t>
            </a:r>
            <a:r>
              <a:rPr spc="-35" dirty="0"/>
              <a:t> </a:t>
            </a:r>
            <a:r>
              <a:rPr dirty="0"/>
              <a:t>0.81</a:t>
            </a:r>
            <a:r>
              <a:rPr spc="-45" dirty="0"/>
              <a:t> </a:t>
            </a:r>
            <a:r>
              <a:rPr dirty="0"/>
              <a:t>7.74</a:t>
            </a:r>
            <a:r>
              <a:rPr spc="-45" dirty="0"/>
              <a:t> </a:t>
            </a:r>
            <a:r>
              <a:rPr dirty="0"/>
              <a:t>8.78</a:t>
            </a:r>
            <a:r>
              <a:rPr spc="-45" dirty="0"/>
              <a:t> </a:t>
            </a:r>
            <a:r>
              <a:rPr dirty="0"/>
              <a:t>9.26</a:t>
            </a:r>
            <a:r>
              <a:rPr spc="-35" dirty="0"/>
              <a:t> </a:t>
            </a:r>
            <a:r>
              <a:rPr spc="-10" dirty="0"/>
              <a:t>20.46</a:t>
            </a:r>
          </a:p>
          <a:p>
            <a:pPr marL="469900">
              <a:lnSpc>
                <a:spcPct val="100000"/>
              </a:lnSpc>
            </a:pPr>
            <a:r>
              <a:rPr dirty="0"/>
              <a:t>29.87</a:t>
            </a:r>
            <a:r>
              <a:rPr spc="-65" dirty="0"/>
              <a:t> </a:t>
            </a:r>
            <a:r>
              <a:rPr dirty="0"/>
              <a:t>10.38</a:t>
            </a:r>
            <a:r>
              <a:rPr spc="-55" dirty="0"/>
              <a:t> </a:t>
            </a:r>
            <a:r>
              <a:rPr spc="-10" dirty="0"/>
              <a:t>25.71</a:t>
            </a:r>
          </a:p>
          <a:p>
            <a:pPr marL="12700">
              <a:lnSpc>
                <a:spcPct val="100000"/>
              </a:lnSpc>
              <a:tabLst>
                <a:tab pos="2146935" algn="l"/>
                <a:tab pos="3682365" algn="l"/>
              </a:tabLst>
            </a:pPr>
            <a:r>
              <a:rPr spc="-10" dirty="0"/>
              <a:t>Вычисляем:</a:t>
            </a:r>
            <a:r>
              <a:rPr dirty="0"/>
              <a:t>	</a:t>
            </a:r>
            <a:r>
              <a:rPr spc="-10" dirty="0"/>
              <a:t>=10.51,</a:t>
            </a:r>
            <a:r>
              <a:rPr dirty="0"/>
              <a:t>	</a:t>
            </a:r>
            <a:r>
              <a:rPr spc="-10" dirty="0"/>
              <a:t>=8.77.</a:t>
            </a:r>
          </a:p>
          <a:p>
            <a:pPr marL="12700">
              <a:lnSpc>
                <a:spcPct val="100000"/>
              </a:lnSpc>
            </a:pPr>
            <a:r>
              <a:rPr dirty="0"/>
              <a:t>Проверка</a:t>
            </a:r>
            <a:r>
              <a:rPr spc="-60" dirty="0"/>
              <a:t> </a:t>
            </a:r>
            <a:r>
              <a:rPr dirty="0"/>
              <a:t>для</a:t>
            </a:r>
            <a:r>
              <a:rPr spc="-60" dirty="0"/>
              <a:t> </a:t>
            </a:r>
            <a:r>
              <a:rPr spc="-10" dirty="0"/>
              <a:t>25.71: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83784" y="5374030"/>
            <a:ext cx="30816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Verdana"/>
                <a:cs typeface="Verdana"/>
              </a:rPr>
              <a:t>то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есть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это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выброс!!!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7711" y="2636901"/>
            <a:ext cx="190500" cy="5969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07891" y="2755392"/>
            <a:ext cx="295275" cy="30480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71474" y="4191000"/>
            <a:ext cx="6977380" cy="1270000"/>
            <a:chOff x="571474" y="4191000"/>
            <a:chExt cx="6977380" cy="127000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77050" y="4324350"/>
              <a:ext cx="1171575" cy="9271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1474" y="4191000"/>
              <a:ext cx="5762625" cy="1270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8307" rIns="0" bIns="0" rtlCol="0">
            <a:spAutoFit/>
          </a:bodyPr>
          <a:lstStyle/>
          <a:p>
            <a:pPr marL="2982595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Пример</a:t>
            </a:r>
            <a:endParaRPr sz="4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1041400" indent="-457200">
              <a:lnSpc>
                <a:spcPct val="100000"/>
              </a:lnSpc>
              <a:spcBef>
                <a:spcPts val="95"/>
              </a:spcBef>
            </a:pPr>
            <a:r>
              <a:rPr dirty="0"/>
              <a:t>Есть</a:t>
            </a:r>
            <a:r>
              <a:rPr spc="-100" dirty="0"/>
              <a:t> </a:t>
            </a:r>
            <a:r>
              <a:rPr i="1" dirty="0">
                <a:latin typeface="Verdana"/>
                <a:cs typeface="Verdana"/>
              </a:rPr>
              <a:t>n=14</a:t>
            </a:r>
            <a:r>
              <a:rPr i="1" spc="-85" dirty="0">
                <a:latin typeface="Verdana"/>
                <a:cs typeface="Verdana"/>
              </a:rPr>
              <a:t> </a:t>
            </a:r>
            <a:r>
              <a:rPr dirty="0"/>
              <a:t>объектов</a:t>
            </a:r>
            <a:r>
              <a:rPr spc="-50" dirty="0"/>
              <a:t> </a:t>
            </a:r>
            <a:r>
              <a:rPr dirty="0"/>
              <a:t>со</a:t>
            </a:r>
            <a:r>
              <a:rPr spc="-75" dirty="0"/>
              <a:t> </a:t>
            </a:r>
            <a:r>
              <a:rPr dirty="0"/>
              <a:t>следующими</a:t>
            </a:r>
            <a:r>
              <a:rPr spc="-60" dirty="0"/>
              <a:t> </a:t>
            </a:r>
            <a:r>
              <a:rPr spc="-10" dirty="0"/>
              <a:t>значениями </a:t>
            </a:r>
            <a:r>
              <a:rPr dirty="0"/>
              <a:t>признака</a:t>
            </a:r>
            <a:r>
              <a:rPr spc="-120" dirty="0"/>
              <a:t> </a:t>
            </a:r>
            <a:r>
              <a:rPr i="1" spc="-50" dirty="0">
                <a:latin typeface="Verdana"/>
                <a:cs typeface="Verdana"/>
              </a:rPr>
              <a:t>Р</a:t>
            </a:r>
          </a:p>
          <a:p>
            <a:pPr marL="12700">
              <a:lnSpc>
                <a:spcPct val="100000"/>
              </a:lnSpc>
            </a:pPr>
            <a:r>
              <a:rPr dirty="0"/>
              <a:t>8.02</a:t>
            </a:r>
            <a:r>
              <a:rPr spc="-55" dirty="0"/>
              <a:t> </a:t>
            </a:r>
            <a:r>
              <a:rPr dirty="0"/>
              <a:t>8.16</a:t>
            </a:r>
            <a:r>
              <a:rPr spc="-45" dirty="0"/>
              <a:t> </a:t>
            </a:r>
            <a:r>
              <a:rPr dirty="0"/>
              <a:t>3.97</a:t>
            </a:r>
            <a:r>
              <a:rPr spc="-35" dirty="0"/>
              <a:t> </a:t>
            </a:r>
            <a:r>
              <a:rPr dirty="0"/>
              <a:t>8.64</a:t>
            </a:r>
            <a:r>
              <a:rPr spc="-45" dirty="0"/>
              <a:t> </a:t>
            </a:r>
            <a:r>
              <a:rPr dirty="0"/>
              <a:t>0.84</a:t>
            </a:r>
            <a:r>
              <a:rPr spc="-45" dirty="0"/>
              <a:t> </a:t>
            </a:r>
            <a:r>
              <a:rPr dirty="0"/>
              <a:t>4.46</a:t>
            </a:r>
            <a:r>
              <a:rPr spc="-35" dirty="0"/>
              <a:t> </a:t>
            </a:r>
            <a:r>
              <a:rPr dirty="0"/>
              <a:t>0.81</a:t>
            </a:r>
            <a:r>
              <a:rPr spc="-45" dirty="0"/>
              <a:t> </a:t>
            </a:r>
            <a:r>
              <a:rPr dirty="0"/>
              <a:t>7.74</a:t>
            </a:r>
            <a:r>
              <a:rPr spc="-45" dirty="0"/>
              <a:t> </a:t>
            </a:r>
            <a:r>
              <a:rPr dirty="0"/>
              <a:t>8.78</a:t>
            </a:r>
            <a:r>
              <a:rPr spc="-45" dirty="0"/>
              <a:t> </a:t>
            </a:r>
            <a:r>
              <a:rPr dirty="0"/>
              <a:t>9.26</a:t>
            </a:r>
            <a:r>
              <a:rPr spc="-35" dirty="0"/>
              <a:t> </a:t>
            </a:r>
            <a:r>
              <a:rPr spc="-10" dirty="0"/>
              <a:t>20.46</a:t>
            </a:r>
          </a:p>
          <a:p>
            <a:pPr marL="469900">
              <a:lnSpc>
                <a:spcPct val="100000"/>
              </a:lnSpc>
            </a:pPr>
            <a:r>
              <a:rPr dirty="0"/>
              <a:t>29.87</a:t>
            </a:r>
            <a:r>
              <a:rPr spc="-65" dirty="0"/>
              <a:t> </a:t>
            </a:r>
            <a:r>
              <a:rPr dirty="0"/>
              <a:t>10.38</a:t>
            </a:r>
            <a:r>
              <a:rPr spc="-55" dirty="0"/>
              <a:t> </a:t>
            </a:r>
            <a:r>
              <a:rPr spc="-10" dirty="0"/>
              <a:t>25.71</a:t>
            </a:r>
          </a:p>
          <a:p>
            <a:pPr marL="12700">
              <a:lnSpc>
                <a:spcPct val="100000"/>
              </a:lnSpc>
              <a:tabLst>
                <a:tab pos="2146935" algn="l"/>
                <a:tab pos="3682365" algn="l"/>
              </a:tabLst>
            </a:pPr>
            <a:r>
              <a:rPr spc="-10" dirty="0"/>
              <a:t>Вычисляем:</a:t>
            </a:r>
            <a:r>
              <a:rPr dirty="0"/>
              <a:t>	</a:t>
            </a:r>
            <a:r>
              <a:rPr spc="-10" dirty="0"/>
              <a:t>=10.51,</a:t>
            </a:r>
            <a:r>
              <a:rPr dirty="0"/>
              <a:t>	</a:t>
            </a:r>
            <a:r>
              <a:rPr spc="-10" dirty="0"/>
              <a:t>=8.77.</a:t>
            </a:r>
          </a:p>
          <a:p>
            <a:pPr marL="12700">
              <a:lnSpc>
                <a:spcPct val="100000"/>
              </a:lnSpc>
            </a:pPr>
            <a:r>
              <a:rPr dirty="0"/>
              <a:t>Проверка</a:t>
            </a:r>
            <a:r>
              <a:rPr spc="-70" dirty="0"/>
              <a:t> </a:t>
            </a:r>
            <a:r>
              <a:rPr dirty="0"/>
              <a:t>для</a:t>
            </a:r>
            <a:r>
              <a:rPr spc="-75" dirty="0"/>
              <a:t> </a:t>
            </a:r>
            <a:r>
              <a:rPr dirty="0"/>
              <a:t>29.87</a:t>
            </a:r>
            <a:r>
              <a:rPr spc="-65" dirty="0"/>
              <a:t> </a:t>
            </a:r>
            <a:r>
              <a:rPr dirty="0"/>
              <a:t>также</a:t>
            </a:r>
            <a:r>
              <a:rPr spc="-75" dirty="0"/>
              <a:t> </a:t>
            </a:r>
            <a:r>
              <a:rPr dirty="0"/>
              <a:t>говорит:</a:t>
            </a:r>
            <a:r>
              <a:rPr spc="-45" dirty="0"/>
              <a:t> </a:t>
            </a:r>
            <a:r>
              <a:rPr dirty="0"/>
              <a:t>«выброс».</a:t>
            </a:r>
            <a:r>
              <a:rPr spc="-60" dirty="0"/>
              <a:t> </a:t>
            </a:r>
            <a:r>
              <a:rPr dirty="0"/>
              <a:t>А</a:t>
            </a:r>
            <a:r>
              <a:rPr spc="-75" dirty="0"/>
              <a:t> </a:t>
            </a:r>
            <a:r>
              <a:rPr spc="-25" dirty="0"/>
              <a:t>вот</a:t>
            </a: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dirty="0"/>
              <a:t>20.46</a:t>
            </a:r>
            <a:r>
              <a:rPr spc="-35" dirty="0"/>
              <a:t> </a:t>
            </a:r>
            <a:r>
              <a:rPr dirty="0"/>
              <a:t>уже</a:t>
            </a:r>
            <a:r>
              <a:rPr spc="-40" dirty="0"/>
              <a:t> </a:t>
            </a:r>
            <a:r>
              <a:rPr dirty="0"/>
              <a:t>не</a:t>
            </a:r>
            <a:r>
              <a:rPr spc="-40" dirty="0"/>
              <a:t> </a:t>
            </a:r>
            <a:r>
              <a:rPr spc="-10" dirty="0"/>
              <a:t>выброс: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5702" y="2636901"/>
            <a:ext cx="190500" cy="5969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07891" y="2636901"/>
            <a:ext cx="314325" cy="5969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0999" y="4705362"/>
            <a:ext cx="5553075" cy="11430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34176" y="4800612"/>
            <a:ext cx="1171575" cy="9271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8307" rIns="0" bIns="0" rtlCol="0">
            <a:spAutoFit/>
          </a:bodyPr>
          <a:lstStyle/>
          <a:p>
            <a:pPr marL="77343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Пример</a:t>
            </a:r>
            <a:r>
              <a:rPr sz="4400" spc="-85" dirty="0"/>
              <a:t> </a:t>
            </a:r>
            <a:r>
              <a:rPr sz="4400" dirty="0"/>
              <a:t>(вторая</a:t>
            </a:r>
            <a:r>
              <a:rPr sz="4400" spc="-75" dirty="0"/>
              <a:t> </a:t>
            </a:r>
            <a:r>
              <a:rPr sz="4400" spc="-10" dirty="0"/>
              <a:t>итерация)</a:t>
            </a:r>
            <a:endParaRPr sz="4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335280" indent="-457200">
              <a:lnSpc>
                <a:spcPct val="100000"/>
              </a:lnSpc>
              <a:spcBef>
                <a:spcPts val="95"/>
              </a:spcBef>
            </a:pPr>
            <a:r>
              <a:rPr dirty="0"/>
              <a:t>Осталось</a:t>
            </a:r>
            <a:r>
              <a:rPr spc="-110" dirty="0"/>
              <a:t> </a:t>
            </a:r>
            <a:r>
              <a:rPr i="1" dirty="0">
                <a:latin typeface="Verdana"/>
                <a:cs typeface="Verdana"/>
              </a:rPr>
              <a:t>n=12</a:t>
            </a:r>
            <a:r>
              <a:rPr i="1" spc="-85" dirty="0">
                <a:latin typeface="Verdana"/>
                <a:cs typeface="Verdana"/>
              </a:rPr>
              <a:t> </a:t>
            </a:r>
            <a:r>
              <a:rPr dirty="0"/>
              <a:t>объектов</a:t>
            </a:r>
            <a:r>
              <a:rPr spc="-75" dirty="0"/>
              <a:t> </a:t>
            </a:r>
            <a:r>
              <a:rPr dirty="0"/>
              <a:t>со</a:t>
            </a:r>
            <a:r>
              <a:rPr spc="-90" dirty="0"/>
              <a:t> </a:t>
            </a:r>
            <a:r>
              <a:rPr dirty="0"/>
              <a:t>следующими</a:t>
            </a:r>
            <a:r>
              <a:rPr spc="-65" dirty="0"/>
              <a:t> </a:t>
            </a:r>
            <a:r>
              <a:rPr spc="-10" dirty="0"/>
              <a:t>значениями </a:t>
            </a:r>
            <a:r>
              <a:rPr dirty="0"/>
              <a:t>признака</a:t>
            </a:r>
            <a:r>
              <a:rPr spc="-120" dirty="0"/>
              <a:t> </a:t>
            </a:r>
            <a:r>
              <a:rPr i="1" spc="-50" dirty="0">
                <a:latin typeface="Verdana"/>
                <a:cs typeface="Verdana"/>
              </a:rPr>
              <a:t>Р</a:t>
            </a:r>
          </a:p>
          <a:p>
            <a:pPr marL="12700">
              <a:lnSpc>
                <a:spcPct val="100000"/>
              </a:lnSpc>
            </a:pPr>
            <a:r>
              <a:rPr dirty="0"/>
              <a:t>8.02</a:t>
            </a:r>
            <a:r>
              <a:rPr spc="-55" dirty="0"/>
              <a:t> </a:t>
            </a:r>
            <a:r>
              <a:rPr dirty="0"/>
              <a:t>8.16</a:t>
            </a:r>
            <a:r>
              <a:rPr spc="-45" dirty="0"/>
              <a:t> </a:t>
            </a:r>
            <a:r>
              <a:rPr dirty="0"/>
              <a:t>3.97</a:t>
            </a:r>
            <a:r>
              <a:rPr spc="-35" dirty="0"/>
              <a:t> </a:t>
            </a:r>
            <a:r>
              <a:rPr dirty="0"/>
              <a:t>8.64</a:t>
            </a:r>
            <a:r>
              <a:rPr spc="-45" dirty="0"/>
              <a:t> </a:t>
            </a:r>
            <a:r>
              <a:rPr dirty="0"/>
              <a:t>0.84</a:t>
            </a:r>
            <a:r>
              <a:rPr spc="-45" dirty="0"/>
              <a:t> </a:t>
            </a:r>
            <a:r>
              <a:rPr dirty="0"/>
              <a:t>4.46</a:t>
            </a:r>
            <a:r>
              <a:rPr spc="-35" dirty="0"/>
              <a:t> </a:t>
            </a:r>
            <a:r>
              <a:rPr dirty="0"/>
              <a:t>0.81</a:t>
            </a:r>
            <a:r>
              <a:rPr spc="-45" dirty="0"/>
              <a:t> </a:t>
            </a:r>
            <a:r>
              <a:rPr dirty="0"/>
              <a:t>7.74</a:t>
            </a:r>
            <a:r>
              <a:rPr spc="-45" dirty="0"/>
              <a:t> </a:t>
            </a:r>
            <a:r>
              <a:rPr dirty="0"/>
              <a:t>8.78</a:t>
            </a:r>
            <a:r>
              <a:rPr spc="-45" dirty="0"/>
              <a:t> </a:t>
            </a:r>
            <a:r>
              <a:rPr dirty="0"/>
              <a:t>9.26</a:t>
            </a:r>
            <a:r>
              <a:rPr spc="-35" dirty="0"/>
              <a:t> </a:t>
            </a:r>
            <a:r>
              <a:rPr spc="-10" dirty="0"/>
              <a:t>20.46</a:t>
            </a:r>
          </a:p>
          <a:p>
            <a:pPr marL="469900">
              <a:lnSpc>
                <a:spcPct val="100000"/>
              </a:lnSpc>
            </a:pPr>
            <a:r>
              <a:rPr spc="-10" dirty="0"/>
              <a:t>10.38</a:t>
            </a:r>
          </a:p>
          <a:p>
            <a:pPr marL="12700">
              <a:lnSpc>
                <a:spcPct val="100000"/>
              </a:lnSpc>
              <a:tabLst>
                <a:tab pos="2146935" algn="l"/>
                <a:tab pos="3505200" algn="l"/>
              </a:tabLst>
            </a:pPr>
            <a:r>
              <a:rPr spc="-10" dirty="0"/>
              <a:t>Вычисляем:</a:t>
            </a:r>
            <a:r>
              <a:rPr dirty="0"/>
              <a:t>	</a:t>
            </a:r>
            <a:r>
              <a:rPr spc="-10" dirty="0"/>
              <a:t>=7.63,</a:t>
            </a:r>
            <a:r>
              <a:rPr dirty="0"/>
              <a:t>	</a:t>
            </a:r>
            <a:r>
              <a:rPr spc="-10" dirty="0"/>
              <a:t>=5.17.</a:t>
            </a:r>
          </a:p>
          <a:p>
            <a:pPr marL="12700">
              <a:lnSpc>
                <a:spcPct val="100000"/>
              </a:lnSpc>
            </a:pPr>
            <a:r>
              <a:rPr dirty="0"/>
              <a:t>Проверка</a:t>
            </a:r>
            <a:r>
              <a:rPr spc="-60" dirty="0"/>
              <a:t> </a:t>
            </a:r>
            <a:r>
              <a:rPr dirty="0"/>
              <a:t>для</a:t>
            </a:r>
            <a:r>
              <a:rPr spc="-60" dirty="0"/>
              <a:t> </a:t>
            </a:r>
            <a:r>
              <a:rPr spc="-10" dirty="0"/>
              <a:t>20.46: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24733" y="5709310"/>
            <a:ext cx="57746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Verdana"/>
                <a:cs typeface="Verdana"/>
              </a:rPr>
              <a:t>то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есть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теперь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20.46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стало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выбросом!!!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5702" y="2636901"/>
            <a:ext cx="190500" cy="5969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91865" y="2827401"/>
            <a:ext cx="295275" cy="3048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6687" y="4229100"/>
            <a:ext cx="5905500" cy="11430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77051" y="4324350"/>
            <a:ext cx="1171575" cy="9271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8307" rIns="0" bIns="0" rtlCol="0">
            <a:spAutoFit/>
          </a:bodyPr>
          <a:lstStyle/>
          <a:p>
            <a:pPr marL="77343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Пример</a:t>
            </a:r>
            <a:r>
              <a:rPr sz="4400" spc="-85" dirty="0"/>
              <a:t> </a:t>
            </a:r>
            <a:r>
              <a:rPr sz="4400" dirty="0"/>
              <a:t>(вторая</a:t>
            </a:r>
            <a:r>
              <a:rPr sz="4400" spc="-75" dirty="0"/>
              <a:t> </a:t>
            </a:r>
            <a:r>
              <a:rPr sz="4400" spc="-10" dirty="0"/>
              <a:t>итерация)</a:t>
            </a:r>
            <a:endParaRPr sz="4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335280" indent="-457200">
              <a:lnSpc>
                <a:spcPct val="100000"/>
              </a:lnSpc>
              <a:spcBef>
                <a:spcPts val="95"/>
              </a:spcBef>
            </a:pPr>
            <a:r>
              <a:rPr dirty="0"/>
              <a:t>Осталось</a:t>
            </a:r>
            <a:r>
              <a:rPr spc="-110" dirty="0"/>
              <a:t> </a:t>
            </a:r>
            <a:r>
              <a:rPr i="1" dirty="0">
                <a:latin typeface="Verdana"/>
                <a:cs typeface="Verdana"/>
              </a:rPr>
              <a:t>n=12</a:t>
            </a:r>
            <a:r>
              <a:rPr i="1" spc="-85" dirty="0">
                <a:latin typeface="Verdana"/>
                <a:cs typeface="Verdana"/>
              </a:rPr>
              <a:t> </a:t>
            </a:r>
            <a:r>
              <a:rPr dirty="0"/>
              <a:t>объектов</a:t>
            </a:r>
            <a:r>
              <a:rPr spc="-75" dirty="0"/>
              <a:t> </a:t>
            </a:r>
            <a:r>
              <a:rPr dirty="0"/>
              <a:t>со</a:t>
            </a:r>
            <a:r>
              <a:rPr spc="-90" dirty="0"/>
              <a:t> </a:t>
            </a:r>
            <a:r>
              <a:rPr dirty="0"/>
              <a:t>следующими</a:t>
            </a:r>
            <a:r>
              <a:rPr spc="-65" dirty="0"/>
              <a:t> </a:t>
            </a:r>
            <a:r>
              <a:rPr spc="-10" dirty="0"/>
              <a:t>значениями </a:t>
            </a:r>
            <a:r>
              <a:rPr dirty="0"/>
              <a:t>признака</a:t>
            </a:r>
            <a:r>
              <a:rPr spc="-120" dirty="0"/>
              <a:t> </a:t>
            </a:r>
            <a:r>
              <a:rPr i="1" spc="-50" dirty="0">
                <a:latin typeface="Verdana"/>
                <a:cs typeface="Verdana"/>
              </a:rPr>
              <a:t>Р</a:t>
            </a:r>
          </a:p>
          <a:p>
            <a:pPr marL="12700">
              <a:lnSpc>
                <a:spcPct val="100000"/>
              </a:lnSpc>
            </a:pPr>
            <a:r>
              <a:rPr dirty="0"/>
              <a:t>8.02</a:t>
            </a:r>
            <a:r>
              <a:rPr spc="-55" dirty="0"/>
              <a:t> </a:t>
            </a:r>
            <a:r>
              <a:rPr dirty="0"/>
              <a:t>8.16</a:t>
            </a:r>
            <a:r>
              <a:rPr spc="-45" dirty="0"/>
              <a:t> </a:t>
            </a:r>
            <a:r>
              <a:rPr dirty="0"/>
              <a:t>3.97</a:t>
            </a:r>
            <a:r>
              <a:rPr spc="-35" dirty="0"/>
              <a:t> </a:t>
            </a:r>
            <a:r>
              <a:rPr dirty="0"/>
              <a:t>8.64</a:t>
            </a:r>
            <a:r>
              <a:rPr spc="-45" dirty="0"/>
              <a:t> </a:t>
            </a:r>
            <a:r>
              <a:rPr dirty="0"/>
              <a:t>0.84</a:t>
            </a:r>
            <a:r>
              <a:rPr spc="-45" dirty="0"/>
              <a:t> </a:t>
            </a:r>
            <a:r>
              <a:rPr dirty="0"/>
              <a:t>4.46</a:t>
            </a:r>
            <a:r>
              <a:rPr spc="-35" dirty="0"/>
              <a:t> </a:t>
            </a:r>
            <a:r>
              <a:rPr dirty="0"/>
              <a:t>0.81</a:t>
            </a:r>
            <a:r>
              <a:rPr spc="-45" dirty="0"/>
              <a:t> </a:t>
            </a:r>
            <a:r>
              <a:rPr dirty="0"/>
              <a:t>7.74</a:t>
            </a:r>
            <a:r>
              <a:rPr spc="-45" dirty="0"/>
              <a:t> </a:t>
            </a:r>
            <a:r>
              <a:rPr dirty="0"/>
              <a:t>8.78</a:t>
            </a:r>
            <a:r>
              <a:rPr spc="-45" dirty="0"/>
              <a:t> </a:t>
            </a:r>
            <a:r>
              <a:rPr dirty="0"/>
              <a:t>9.26</a:t>
            </a:r>
            <a:r>
              <a:rPr spc="-35" dirty="0"/>
              <a:t> </a:t>
            </a:r>
            <a:r>
              <a:rPr spc="-10" dirty="0"/>
              <a:t>20.46</a:t>
            </a:r>
          </a:p>
          <a:p>
            <a:pPr marL="469900">
              <a:lnSpc>
                <a:spcPct val="100000"/>
              </a:lnSpc>
            </a:pPr>
            <a:r>
              <a:rPr spc="-10" dirty="0"/>
              <a:t>10.38</a:t>
            </a:r>
          </a:p>
          <a:p>
            <a:pPr marL="12700">
              <a:lnSpc>
                <a:spcPct val="100000"/>
              </a:lnSpc>
              <a:tabLst>
                <a:tab pos="2146935" algn="l"/>
                <a:tab pos="3505200" algn="l"/>
              </a:tabLst>
            </a:pPr>
            <a:r>
              <a:rPr spc="-10" dirty="0"/>
              <a:t>Вычисляем:</a:t>
            </a:r>
            <a:r>
              <a:rPr dirty="0"/>
              <a:t>	</a:t>
            </a:r>
            <a:r>
              <a:rPr spc="-10" dirty="0"/>
              <a:t>=7.63,</a:t>
            </a:r>
            <a:r>
              <a:rPr dirty="0"/>
              <a:t>	</a:t>
            </a:r>
            <a:r>
              <a:rPr spc="-10" dirty="0"/>
              <a:t>=5.17.</a:t>
            </a:r>
          </a:p>
          <a:p>
            <a:pPr marL="12700">
              <a:lnSpc>
                <a:spcPct val="100000"/>
              </a:lnSpc>
            </a:pPr>
            <a:r>
              <a:rPr dirty="0"/>
              <a:t>Проверка</a:t>
            </a:r>
            <a:r>
              <a:rPr spc="-60" dirty="0"/>
              <a:t> </a:t>
            </a:r>
            <a:r>
              <a:rPr dirty="0"/>
              <a:t>для</a:t>
            </a:r>
            <a:r>
              <a:rPr spc="-60" dirty="0"/>
              <a:t> </a:t>
            </a:r>
            <a:r>
              <a:rPr spc="-10" dirty="0"/>
              <a:t>10.38: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64642" y="5038420"/>
            <a:ext cx="722122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Verdana"/>
                <a:cs typeface="Verdana"/>
              </a:rPr>
              <a:t>то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есть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10.38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не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выброс.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Остальные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числа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также</a:t>
            </a:r>
            <a:endParaRPr sz="22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</a:pPr>
            <a:r>
              <a:rPr sz="2200" dirty="0">
                <a:latin typeface="Verdana"/>
                <a:cs typeface="Verdana"/>
              </a:rPr>
              <a:t>проходят</a:t>
            </a:r>
            <a:r>
              <a:rPr sz="2200" spc="-1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проверку.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5702" y="2636901"/>
            <a:ext cx="190500" cy="5969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63873" y="2636901"/>
            <a:ext cx="314325" cy="5969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19265" y="3539109"/>
            <a:ext cx="1171574" cy="9271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3089" y="3539109"/>
            <a:ext cx="554355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8307" rIns="0" bIns="0" rtlCol="0">
            <a:spAutoFit/>
          </a:bodyPr>
          <a:lstStyle/>
          <a:p>
            <a:pPr marL="81026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Пример</a:t>
            </a:r>
            <a:r>
              <a:rPr sz="4400" spc="-50" dirty="0"/>
              <a:t> </a:t>
            </a:r>
            <a:r>
              <a:rPr sz="4400" dirty="0"/>
              <a:t>(третья</a:t>
            </a:r>
            <a:r>
              <a:rPr sz="4400" spc="-20" dirty="0"/>
              <a:t> </a:t>
            </a:r>
            <a:r>
              <a:rPr sz="4400" spc="-10" dirty="0"/>
              <a:t>итерация)</a:t>
            </a:r>
            <a:endParaRPr sz="4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335280" indent="-457200">
              <a:lnSpc>
                <a:spcPct val="100000"/>
              </a:lnSpc>
              <a:spcBef>
                <a:spcPts val="95"/>
              </a:spcBef>
            </a:pPr>
            <a:r>
              <a:rPr dirty="0"/>
              <a:t>Осталось</a:t>
            </a:r>
            <a:r>
              <a:rPr spc="-110" dirty="0"/>
              <a:t> </a:t>
            </a:r>
            <a:r>
              <a:rPr i="1" dirty="0">
                <a:latin typeface="Verdana"/>
                <a:cs typeface="Verdana"/>
              </a:rPr>
              <a:t>n=11</a:t>
            </a:r>
            <a:r>
              <a:rPr i="1" spc="-85" dirty="0">
                <a:latin typeface="Verdana"/>
                <a:cs typeface="Verdana"/>
              </a:rPr>
              <a:t> </a:t>
            </a:r>
            <a:r>
              <a:rPr dirty="0"/>
              <a:t>объектов</a:t>
            </a:r>
            <a:r>
              <a:rPr spc="-75" dirty="0"/>
              <a:t> </a:t>
            </a:r>
            <a:r>
              <a:rPr dirty="0"/>
              <a:t>со</a:t>
            </a:r>
            <a:r>
              <a:rPr spc="-90" dirty="0"/>
              <a:t> </a:t>
            </a:r>
            <a:r>
              <a:rPr dirty="0"/>
              <a:t>следующими</a:t>
            </a:r>
            <a:r>
              <a:rPr spc="-65" dirty="0"/>
              <a:t> </a:t>
            </a:r>
            <a:r>
              <a:rPr spc="-10" dirty="0"/>
              <a:t>значениями </a:t>
            </a:r>
            <a:r>
              <a:rPr dirty="0"/>
              <a:t>признака</a:t>
            </a:r>
            <a:r>
              <a:rPr spc="-120" dirty="0"/>
              <a:t> </a:t>
            </a:r>
            <a:r>
              <a:rPr i="1" spc="-50" dirty="0">
                <a:latin typeface="Verdana"/>
                <a:cs typeface="Verdana"/>
              </a:rPr>
              <a:t>Р</a:t>
            </a:r>
          </a:p>
          <a:p>
            <a:pPr marL="12700">
              <a:lnSpc>
                <a:spcPct val="100000"/>
              </a:lnSpc>
            </a:pPr>
            <a:r>
              <a:rPr dirty="0"/>
              <a:t>8.02</a:t>
            </a:r>
            <a:r>
              <a:rPr spc="-55" dirty="0"/>
              <a:t> </a:t>
            </a:r>
            <a:r>
              <a:rPr dirty="0"/>
              <a:t>8.16</a:t>
            </a:r>
            <a:r>
              <a:rPr spc="-45" dirty="0"/>
              <a:t> </a:t>
            </a:r>
            <a:r>
              <a:rPr dirty="0"/>
              <a:t>3.97</a:t>
            </a:r>
            <a:r>
              <a:rPr spc="-35" dirty="0"/>
              <a:t> </a:t>
            </a:r>
            <a:r>
              <a:rPr dirty="0"/>
              <a:t>8.64</a:t>
            </a:r>
            <a:r>
              <a:rPr spc="-45" dirty="0"/>
              <a:t> </a:t>
            </a:r>
            <a:r>
              <a:rPr dirty="0"/>
              <a:t>0.84</a:t>
            </a:r>
            <a:r>
              <a:rPr spc="-45" dirty="0"/>
              <a:t> </a:t>
            </a:r>
            <a:r>
              <a:rPr dirty="0"/>
              <a:t>4.46</a:t>
            </a:r>
            <a:r>
              <a:rPr spc="-35" dirty="0"/>
              <a:t> </a:t>
            </a:r>
            <a:r>
              <a:rPr dirty="0"/>
              <a:t>0.81</a:t>
            </a:r>
            <a:r>
              <a:rPr spc="-45" dirty="0"/>
              <a:t> </a:t>
            </a:r>
            <a:r>
              <a:rPr dirty="0"/>
              <a:t>7.74</a:t>
            </a:r>
            <a:r>
              <a:rPr spc="-45" dirty="0"/>
              <a:t> </a:t>
            </a:r>
            <a:r>
              <a:rPr dirty="0"/>
              <a:t>8.78</a:t>
            </a:r>
            <a:r>
              <a:rPr spc="-45" dirty="0"/>
              <a:t> </a:t>
            </a:r>
            <a:r>
              <a:rPr dirty="0"/>
              <a:t>9.26</a:t>
            </a:r>
            <a:r>
              <a:rPr spc="-35" dirty="0"/>
              <a:t> </a:t>
            </a:r>
            <a:r>
              <a:rPr spc="-10" dirty="0"/>
              <a:t>10.38</a:t>
            </a:r>
          </a:p>
          <a:p>
            <a:pPr marL="12700">
              <a:lnSpc>
                <a:spcPct val="100000"/>
              </a:lnSpc>
              <a:tabLst>
                <a:tab pos="2146935" algn="l"/>
                <a:tab pos="3505200" algn="l"/>
              </a:tabLst>
            </a:pPr>
            <a:r>
              <a:rPr spc="-10" dirty="0"/>
              <a:t>Вычисляем:</a:t>
            </a:r>
            <a:r>
              <a:rPr dirty="0"/>
              <a:t>	</a:t>
            </a:r>
            <a:r>
              <a:rPr spc="-10" dirty="0"/>
              <a:t>=6.46,</a:t>
            </a:r>
            <a:r>
              <a:rPr dirty="0"/>
              <a:t>	</a:t>
            </a:r>
            <a:r>
              <a:rPr spc="-10" dirty="0"/>
              <a:t>=3.38.</a:t>
            </a:r>
          </a:p>
          <a:p>
            <a:pPr marL="12700">
              <a:lnSpc>
                <a:spcPct val="100000"/>
              </a:lnSpc>
            </a:pPr>
            <a:r>
              <a:rPr dirty="0"/>
              <a:t>Проверка</a:t>
            </a:r>
            <a:r>
              <a:rPr spc="-60" dirty="0"/>
              <a:t> </a:t>
            </a:r>
            <a:r>
              <a:rPr dirty="0"/>
              <a:t>для</a:t>
            </a:r>
            <a:r>
              <a:rPr spc="-60" dirty="0"/>
              <a:t> </a:t>
            </a:r>
            <a:r>
              <a:rPr spc="-10" dirty="0"/>
              <a:t>10.38: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64642" y="4367910"/>
            <a:ext cx="7899400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Verdana"/>
                <a:cs typeface="Verdana"/>
              </a:rPr>
              <a:t>то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есть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10.38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не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выброс.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Остальные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числа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также </a:t>
            </a:r>
            <a:r>
              <a:rPr sz="2200" dirty="0">
                <a:latin typeface="Verdana"/>
                <a:cs typeface="Verdana"/>
              </a:rPr>
              <a:t>проходят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проверку.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КОНЕЦ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работы,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так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как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новые </a:t>
            </a:r>
            <a:r>
              <a:rPr sz="2200" dirty="0">
                <a:latin typeface="Verdana"/>
                <a:cs typeface="Verdana"/>
              </a:rPr>
              <a:t>выбросы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не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появляются.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5702" y="2276855"/>
            <a:ext cx="190500" cy="5969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63873" y="2204847"/>
            <a:ext cx="314325" cy="59690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755573" y="3140964"/>
            <a:ext cx="6375400" cy="1270000"/>
            <a:chOff x="755573" y="3140964"/>
            <a:chExt cx="6375400" cy="127000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5573" y="3140964"/>
              <a:ext cx="5210175" cy="12700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40170" y="3212973"/>
              <a:ext cx="1190625" cy="10668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8307" rIns="0" bIns="0" rtlCol="0">
            <a:spAutoFit/>
          </a:bodyPr>
          <a:lstStyle/>
          <a:p>
            <a:pPr marL="508634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Настройка</a:t>
            </a:r>
            <a:r>
              <a:rPr sz="4400" spc="-125" dirty="0"/>
              <a:t> </a:t>
            </a:r>
            <a:r>
              <a:rPr sz="4400" dirty="0"/>
              <a:t>критерия</a:t>
            </a:r>
            <a:r>
              <a:rPr sz="4400" spc="-120" dirty="0"/>
              <a:t> </a:t>
            </a:r>
            <a:r>
              <a:rPr sz="4400" spc="-10" dirty="0"/>
              <a:t>Шовене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351942" y="1349755"/>
            <a:ext cx="723138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0" marR="17780" indent="-4572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Verdana"/>
                <a:cs typeface="Verdana"/>
              </a:rPr>
              <a:t>Значение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i="1" dirty="0">
                <a:latin typeface="Verdana"/>
                <a:cs typeface="Verdana"/>
              </a:rPr>
              <a:t>p</a:t>
            </a:r>
            <a:r>
              <a:rPr sz="2175" i="1" baseline="-21072" dirty="0">
                <a:latin typeface="Verdana"/>
                <a:cs typeface="Verdana"/>
              </a:rPr>
              <a:t>i</a:t>
            </a:r>
            <a:r>
              <a:rPr sz="2175" i="1" spc="277" baseline="-21072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является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выбросом,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если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выполнено неравенство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4642" y="3361766"/>
            <a:ext cx="7657465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Verdana"/>
                <a:cs typeface="Verdana"/>
              </a:rPr>
              <a:t>Константу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2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(в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формуле)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можно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заменить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на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любую </a:t>
            </a:r>
            <a:r>
              <a:rPr sz="2200" dirty="0">
                <a:latin typeface="Verdana"/>
                <a:cs typeface="Verdana"/>
              </a:rPr>
              <a:t>другую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константу.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Это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сделает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критерий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более </a:t>
            </a:r>
            <a:r>
              <a:rPr sz="2200" dirty="0">
                <a:latin typeface="Verdana"/>
                <a:cs typeface="Verdana"/>
              </a:rPr>
              <a:t>беспощадным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(либо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более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лояльным)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к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выбросам.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0" y="2286000"/>
            <a:ext cx="2924175" cy="1168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6186" y="2770758"/>
            <a:ext cx="8091805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42895" marR="5080" indent="-283083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Calibri"/>
                <a:cs typeface="Calibri"/>
              </a:rPr>
              <a:t>Поиск</a:t>
            </a:r>
            <a:r>
              <a:rPr sz="3200" b="1" spc="-4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выбросов</a:t>
            </a:r>
            <a:r>
              <a:rPr sz="3200" b="1" spc="-3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без</a:t>
            </a:r>
            <a:r>
              <a:rPr sz="3200" b="1" spc="-15" dirty="0">
                <a:latin typeface="Calibri"/>
                <a:cs typeface="Calibri"/>
              </a:rPr>
              <a:t> </a:t>
            </a:r>
            <a:r>
              <a:rPr sz="3200" b="1" spc="-20" dirty="0">
                <a:latin typeface="Calibri"/>
                <a:cs typeface="Calibri"/>
              </a:rPr>
              <a:t>использования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среднего </a:t>
            </a:r>
            <a:r>
              <a:rPr sz="3200" b="1" dirty="0">
                <a:latin typeface="Calibri"/>
                <a:cs typeface="Calibri"/>
              </a:rPr>
              <a:t>и</a:t>
            </a:r>
            <a:r>
              <a:rPr sz="3200" b="1" spc="-3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отклонения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4172" y="461594"/>
            <a:ext cx="63823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Философское</a:t>
            </a:r>
            <a:r>
              <a:rPr sz="4400" spc="-65" dirty="0"/>
              <a:t> </a:t>
            </a:r>
            <a:r>
              <a:rPr sz="4400" spc="-10" dirty="0"/>
              <a:t>затруднение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558797"/>
            <a:ext cx="7689215" cy="422148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631190" indent="-342900">
              <a:lnSpc>
                <a:spcPts val="3460"/>
              </a:lnSpc>
              <a:spcBef>
                <a:spcPts val="535"/>
              </a:spcBef>
            </a:pPr>
            <a:r>
              <a:rPr sz="3200" dirty="0">
                <a:latin typeface="Calibri"/>
                <a:cs typeface="Calibri"/>
              </a:rPr>
              <a:t>Значения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среднего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и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отклонения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сильно чувствительны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к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наличию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выбросов.</a:t>
            </a:r>
            <a:endParaRPr sz="3200">
              <a:latin typeface="Calibri"/>
              <a:cs typeface="Calibri"/>
            </a:endParaRPr>
          </a:p>
          <a:p>
            <a:pPr marL="355600" marR="5080" indent="-342900">
              <a:lnSpc>
                <a:spcPts val="3460"/>
              </a:lnSpc>
              <a:spcBef>
                <a:spcPts val="760"/>
              </a:spcBef>
            </a:pPr>
            <a:r>
              <a:rPr sz="3200" spc="-30" dirty="0">
                <a:latin typeface="Calibri"/>
                <a:cs typeface="Calibri"/>
              </a:rPr>
              <a:t>Таким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образом,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возникает</a:t>
            </a:r>
            <a:r>
              <a:rPr sz="32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замкнутый</a:t>
            </a:r>
            <a:r>
              <a:rPr sz="3200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Calibri"/>
                <a:cs typeface="Calibri"/>
              </a:rPr>
              <a:t>круг</a:t>
            </a:r>
            <a:r>
              <a:rPr sz="3200" spc="-10" dirty="0">
                <a:latin typeface="Calibri"/>
                <a:cs typeface="Calibri"/>
              </a:rPr>
              <a:t>: </a:t>
            </a:r>
            <a:r>
              <a:rPr sz="3200" dirty="0">
                <a:latin typeface="Calibri"/>
                <a:cs typeface="Calibri"/>
              </a:rPr>
              <a:t>мы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ищем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выбросы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с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помощью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среднего</a:t>
            </a:r>
            <a:r>
              <a:rPr sz="3200" spc="-50" dirty="0">
                <a:latin typeface="Calibri"/>
                <a:cs typeface="Calibri"/>
              </a:rPr>
              <a:t> и </a:t>
            </a:r>
            <a:r>
              <a:rPr sz="3200" dirty="0">
                <a:latin typeface="Calibri"/>
                <a:cs typeface="Calibri"/>
              </a:rPr>
              <a:t>отклонения,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чьи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значения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как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раз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50" dirty="0">
                <a:latin typeface="Calibri"/>
                <a:cs typeface="Calibri"/>
              </a:rPr>
              <a:t>и</a:t>
            </a:r>
            <a:endParaRPr sz="3200">
              <a:latin typeface="Calibri"/>
              <a:cs typeface="Calibri"/>
            </a:endParaRPr>
          </a:p>
          <a:p>
            <a:pPr marL="355600">
              <a:lnSpc>
                <a:spcPts val="3400"/>
              </a:lnSpc>
            </a:pPr>
            <a:r>
              <a:rPr sz="3200" dirty="0">
                <a:latin typeface="Calibri"/>
                <a:cs typeface="Calibri"/>
              </a:rPr>
              <a:t>обусловлены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наличием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выбросов.</a:t>
            </a:r>
            <a:endParaRPr sz="3200">
              <a:latin typeface="Calibri"/>
              <a:cs typeface="Calibri"/>
            </a:endParaRPr>
          </a:p>
          <a:p>
            <a:pPr marL="355600" marR="222250" indent="-342900">
              <a:lnSpc>
                <a:spcPct val="90000"/>
              </a:lnSpc>
              <a:spcBef>
                <a:spcPts val="770"/>
              </a:spcBef>
            </a:pPr>
            <a:r>
              <a:rPr sz="3200" dirty="0">
                <a:latin typeface="Calibri"/>
                <a:cs typeface="Calibri"/>
              </a:rPr>
              <a:t>Возникает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идея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искать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выбросы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без </a:t>
            </a:r>
            <a:r>
              <a:rPr sz="3200" dirty="0">
                <a:latin typeface="Calibri"/>
                <a:cs typeface="Calibri"/>
              </a:rPr>
              <a:t>использования</a:t>
            </a:r>
            <a:r>
              <a:rPr sz="3200" spc="-1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величин,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которые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сильно </a:t>
            </a:r>
            <a:r>
              <a:rPr sz="3200" dirty="0">
                <a:latin typeface="Calibri"/>
                <a:cs typeface="Calibri"/>
              </a:rPr>
              <a:t>зависят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от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выбросов.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6653" y="191465"/>
            <a:ext cx="7931784" cy="1245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16885" marR="5080" indent="-300482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Критерий,</a:t>
            </a:r>
            <a:r>
              <a:rPr sz="4000" spc="-135" dirty="0"/>
              <a:t> </a:t>
            </a:r>
            <a:r>
              <a:rPr sz="4000" dirty="0"/>
              <a:t>основанный</a:t>
            </a:r>
            <a:r>
              <a:rPr sz="4000" spc="-150" dirty="0"/>
              <a:t> </a:t>
            </a:r>
            <a:r>
              <a:rPr sz="4000" dirty="0"/>
              <a:t>на</a:t>
            </a:r>
            <a:r>
              <a:rPr sz="4000" spc="-155" dirty="0"/>
              <a:t> </a:t>
            </a:r>
            <a:r>
              <a:rPr sz="4000" spc="-10" dirty="0">
                <a:solidFill>
                  <a:srgbClr val="FF0000"/>
                </a:solidFill>
              </a:rPr>
              <a:t>квартилях </a:t>
            </a:r>
            <a:r>
              <a:rPr sz="4000" spc="-10" dirty="0"/>
              <a:t>выборки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23240" y="1607565"/>
            <a:ext cx="7882255" cy="2562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marR="46990" indent="-333375">
              <a:lnSpc>
                <a:spcPct val="100000"/>
              </a:lnSpc>
              <a:spcBef>
                <a:spcPts val="105"/>
              </a:spcBef>
              <a:buSzPct val="96875"/>
              <a:buAutoNum type="arabicPlain"/>
              <a:tabLst>
                <a:tab pos="368300" algn="l"/>
              </a:tabLst>
            </a:pP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ая</a:t>
            </a:r>
            <a:r>
              <a:rPr sz="32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квартиль</a:t>
            </a:r>
            <a:r>
              <a:rPr sz="32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Q</a:t>
            </a:r>
            <a:r>
              <a:rPr sz="3150" baseline="-21164" dirty="0">
                <a:solidFill>
                  <a:srgbClr val="FF0000"/>
                </a:solidFill>
                <a:latin typeface="Calibri"/>
                <a:cs typeface="Calibri"/>
              </a:rPr>
              <a:t>25</a:t>
            </a:r>
            <a:r>
              <a:rPr sz="3200" dirty="0">
                <a:latin typeface="Calibri"/>
                <a:cs typeface="Calibri"/>
              </a:rPr>
              <a:t>: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это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такое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число,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что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ровно 	</a:t>
            </a:r>
            <a:r>
              <a:rPr sz="3200" dirty="0">
                <a:latin typeface="Calibri"/>
                <a:cs typeface="Calibri"/>
              </a:rPr>
              <a:t>25%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выборки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меньше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его.</a:t>
            </a:r>
            <a:endParaRPr sz="3200">
              <a:latin typeface="Calibri"/>
              <a:cs typeface="Calibri"/>
            </a:endParaRPr>
          </a:p>
          <a:p>
            <a:pPr marL="354965" marR="17780" indent="-333375">
              <a:lnSpc>
                <a:spcPct val="100000"/>
              </a:lnSpc>
              <a:spcBef>
                <a:spcPts val="770"/>
              </a:spcBef>
              <a:buSzPct val="96875"/>
              <a:buAutoNum type="arabicPlain"/>
              <a:tabLst>
                <a:tab pos="368300" algn="l"/>
              </a:tabLst>
            </a:pP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ая</a:t>
            </a:r>
            <a:r>
              <a:rPr sz="32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квартиль</a:t>
            </a:r>
            <a:r>
              <a:rPr sz="32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Q</a:t>
            </a:r>
            <a:r>
              <a:rPr sz="3150" baseline="-21164" dirty="0">
                <a:solidFill>
                  <a:srgbClr val="FF0000"/>
                </a:solidFill>
                <a:latin typeface="Calibri"/>
                <a:cs typeface="Calibri"/>
              </a:rPr>
              <a:t>50</a:t>
            </a:r>
            <a:r>
              <a:rPr sz="3200" dirty="0">
                <a:latin typeface="Calibri"/>
                <a:cs typeface="Calibri"/>
              </a:rPr>
              <a:t>: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это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такое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число,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что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ровно 	</a:t>
            </a:r>
            <a:r>
              <a:rPr sz="3200" dirty="0">
                <a:latin typeface="Calibri"/>
                <a:cs typeface="Calibri"/>
              </a:rPr>
              <a:t>50%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выборки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меньше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его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(фактически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это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50" dirty="0">
                <a:latin typeface="Calibri"/>
                <a:cs typeface="Calibri"/>
              </a:rPr>
              <a:t>-</a:t>
            </a:r>
            <a:endParaRPr sz="3200">
              <a:latin typeface="Calibri"/>
              <a:cs typeface="Calibri"/>
            </a:endParaRPr>
          </a:p>
          <a:p>
            <a:pPr marL="368300">
              <a:lnSpc>
                <a:spcPct val="100000"/>
              </a:lnSpc>
            </a:pPr>
            <a:r>
              <a:rPr sz="3200" spc="-25" dirty="0">
                <a:latin typeface="Calibri"/>
                <a:cs typeface="Calibri"/>
              </a:rPr>
              <a:t>…)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6653" y="191465"/>
            <a:ext cx="7931784" cy="1245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16885" marR="5080" indent="-300482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Критерий,</a:t>
            </a:r>
            <a:r>
              <a:rPr sz="4000" spc="-135" dirty="0"/>
              <a:t> </a:t>
            </a:r>
            <a:r>
              <a:rPr sz="4000" dirty="0"/>
              <a:t>основанный</a:t>
            </a:r>
            <a:r>
              <a:rPr sz="4000" spc="-150" dirty="0"/>
              <a:t> </a:t>
            </a:r>
            <a:r>
              <a:rPr sz="4000" dirty="0"/>
              <a:t>на</a:t>
            </a:r>
            <a:r>
              <a:rPr sz="4000" spc="-155" dirty="0"/>
              <a:t> </a:t>
            </a:r>
            <a:r>
              <a:rPr sz="4000" spc="-10" dirty="0">
                <a:solidFill>
                  <a:srgbClr val="FF0000"/>
                </a:solidFill>
              </a:rPr>
              <a:t>квартилях </a:t>
            </a:r>
            <a:r>
              <a:rPr sz="4000" spc="-10" dirty="0"/>
              <a:t>выборки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23240" y="1607565"/>
            <a:ext cx="7853045" cy="3636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marR="17780" indent="-333375">
              <a:lnSpc>
                <a:spcPct val="100000"/>
              </a:lnSpc>
              <a:spcBef>
                <a:spcPts val="105"/>
              </a:spcBef>
              <a:buSzPct val="96875"/>
              <a:buAutoNum type="arabicPlain"/>
              <a:tabLst>
                <a:tab pos="368300" algn="l"/>
              </a:tabLst>
            </a:pP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ая</a:t>
            </a:r>
            <a:r>
              <a:rPr sz="32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квартиль</a:t>
            </a:r>
            <a:r>
              <a:rPr sz="32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Q</a:t>
            </a:r>
            <a:r>
              <a:rPr sz="3150" baseline="-21164" dirty="0">
                <a:solidFill>
                  <a:srgbClr val="FF0000"/>
                </a:solidFill>
                <a:latin typeface="Calibri"/>
                <a:cs typeface="Calibri"/>
              </a:rPr>
              <a:t>25</a:t>
            </a:r>
            <a:r>
              <a:rPr sz="3200" dirty="0">
                <a:latin typeface="Calibri"/>
                <a:cs typeface="Calibri"/>
              </a:rPr>
              <a:t>: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это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такое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число,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что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ровно 	</a:t>
            </a:r>
            <a:r>
              <a:rPr sz="3200" dirty="0">
                <a:latin typeface="Calibri"/>
                <a:cs typeface="Calibri"/>
              </a:rPr>
              <a:t>25%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выборки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меньше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его.</a:t>
            </a:r>
            <a:endParaRPr sz="3200">
              <a:latin typeface="Calibri"/>
              <a:cs typeface="Calibri"/>
            </a:endParaRPr>
          </a:p>
          <a:p>
            <a:pPr marL="354965" marR="17780" indent="-333375">
              <a:lnSpc>
                <a:spcPct val="100000"/>
              </a:lnSpc>
              <a:spcBef>
                <a:spcPts val="770"/>
              </a:spcBef>
              <a:buSzPct val="96875"/>
              <a:buAutoNum type="arabicPlain"/>
              <a:tabLst>
                <a:tab pos="368300" algn="l"/>
              </a:tabLst>
            </a:pP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ая</a:t>
            </a:r>
            <a:r>
              <a:rPr sz="32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квартиль</a:t>
            </a:r>
            <a:r>
              <a:rPr sz="32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Q</a:t>
            </a:r>
            <a:r>
              <a:rPr sz="3150" baseline="-21164" dirty="0">
                <a:solidFill>
                  <a:srgbClr val="FF0000"/>
                </a:solidFill>
                <a:latin typeface="Calibri"/>
                <a:cs typeface="Calibri"/>
              </a:rPr>
              <a:t>50</a:t>
            </a:r>
            <a:r>
              <a:rPr sz="3200" dirty="0">
                <a:latin typeface="Calibri"/>
                <a:cs typeface="Calibri"/>
              </a:rPr>
              <a:t>: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это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такое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число,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что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ровно 	</a:t>
            </a:r>
            <a:r>
              <a:rPr sz="3200" dirty="0">
                <a:latin typeface="Calibri"/>
                <a:cs typeface="Calibri"/>
              </a:rPr>
              <a:t>50%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выборки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меньше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его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(фактически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это 	</a:t>
            </a:r>
            <a:r>
              <a:rPr sz="3200" spc="-10" dirty="0">
                <a:solidFill>
                  <a:srgbClr val="FF0000"/>
                </a:solidFill>
                <a:latin typeface="Calibri"/>
                <a:cs typeface="Calibri"/>
              </a:rPr>
              <a:t>медиана</a:t>
            </a:r>
            <a:r>
              <a:rPr sz="3200" spc="-10" dirty="0">
                <a:latin typeface="Calibri"/>
                <a:cs typeface="Calibri"/>
              </a:rPr>
              <a:t>).</a:t>
            </a:r>
            <a:endParaRPr sz="3200">
              <a:latin typeface="Calibri"/>
              <a:cs typeface="Calibri"/>
            </a:endParaRPr>
          </a:p>
          <a:p>
            <a:pPr marL="354965" marR="21590" indent="-333375">
              <a:lnSpc>
                <a:spcPct val="100000"/>
              </a:lnSpc>
              <a:spcBef>
                <a:spcPts val="770"/>
              </a:spcBef>
              <a:buSzPct val="96875"/>
              <a:buAutoNum type="arabicPlain"/>
              <a:tabLst>
                <a:tab pos="368300" algn="l"/>
              </a:tabLst>
            </a:pP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ья</a:t>
            </a:r>
            <a:r>
              <a:rPr sz="32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квартиль</a:t>
            </a:r>
            <a:r>
              <a:rPr sz="32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Q</a:t>
            </a:r>
            <a:r>
              <a:rPr sz="3150" baseline="-21164" dirty="0">
                <a:solidFill>
                  <a:srgbClr val="FF0000"/>
                </a:solidFill>
                <a:latin typeface="Calibri"/>
                <a:cs typeface="Calibri"/>
              </a:rPr>
              <a:t>75</a:t>
            </a:r>
            <a:r>
              <a:rPr sz="3200" dirty="0">
                <a:latin typeface="Calibri"/>
                <a:cs typeface="Calibri"/>
              </a:rPr>
              <a:t>: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это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такое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число,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что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ровно 	</a:t>
            </a:r>
            <a:r>
              <a:rPr sz="3200" dirty="0">
                <a:latin typeface="Calibri"/>
                <a:cs typeface="Calibri"/>
              </a:rPr>
              <a:t>75%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выборки меньше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его.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7840" y="259207"/>
            <a:ext cx="7838440" cy="5787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383032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alibri"/>
                <a:cs typeface="Calibri"/>
              </a:rPr>
              <a:t>Например,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для</a:t>
            </a:r>
            <a:r>
              <a:rPr sz="3000" spc="-10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выборки (-10,0,1,2,4,5,5,6,7,100)</a:t>
            </a:r>
            <a:endParaRPr sz="30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</a:pPr>
            <a:r>
              <a:rPr sz="3000" dirty="0">
                <a:latin typeface="Calibri"/>
                <a:cs typeface="Calibri"/>
              </a:rPr>
              <a:t>имеем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Q</a:t>
            </a:r>
            <a:r>
              <a:rPr sz="3000" baseline="-20833" dirty="0">
                <a:latin typeface="Calibri"/>
                <a:cs typeface="Calibri"/>
              </a:rPr>
              <a:t>25</a:t>
            </a:r>
            <a:r>
              <a:rPr sz="3000" dirty="0">
                <a:latin typeface="Calibri"/>
                <a:cs typeface="Calibri"/>
              </a:rPr>
              <a:t>=1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Q</a:t>
            </a:r>
            <a:r>
              <a:rPr sz="3000" baseline="-20833" dirty="0">
                <a:latin typeface="Calibri"/>
                <a:cs typeface="Calibri"/>
              </a:rPr>
              <a:t>50</a:t>
            </a:r>
            <a:r>
              <a:rPr sz="3000" dirty="0">
                <a:latin typeface="Calibri"/>
                <a:cs typeface="Calibri"/>
              </a:rPr>
              <a:t>=4.5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(медиана)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Q</a:t>
            </a:r>
            <a:r>
              <a:rPr sz="3000" spc="-15" baseline="-20833" dirty="0">
                <a:latin typeface="Calibri"/>
                <a:cs typeface="Calibri"/>
              </a:rPr>
              <a:t>75</a:t>
            </a:r>
            <a:r>
              <a:rPr sz="3000" spc="-10" dirty="0">
                <a:latin typeface="Calibri"/>
                <a:cs typeface="Calibri"/>
              </a:rPr>
              <a:t>=6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3000">
              <a:latin typeface="Calibri"/>
              <a:cs typeface="Calibri"/>
            </a:endParaRPr>
          </a:p>
          <a:p>
            <a:pPr marL="50800" marR="368300" algn="ctr">
              <a:lnSpc>
                <a:spcPts val="2880"/>
              </a:lnSpc>
            </a:pP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Как</a:t>
            </a:r>
            <a:r>
              <a:rPr sz="3000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быстро</a:t>
            </a:r>
            <a:r>
              <a:rPr sz="30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найти</a:t>
            </a:r>
            <a:r>
              <a:rPr sz="30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Q</a:t>
            </a:r>
            <a:r>
              <a:rPr sz="3000" baseline="-20833" dirty="0">
                <a:solidFill>
                  <a:srgbClr val="FF0000"/>
                </a:solidFill>
                <a:latin typeface="Calibri"/>
                <a:cs typeface="Calibri"/>
              </a:rPr>
              <a:t>25</a:t>
            </a:r>
            <a:r>
              <a:rPr sz="3000" spc="254" baseline="-2083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(Q</a:t>
            </a:r>
            <a:r>
              <a:rPr sz="3000" baseline="-20833" dirty="0">
                <a:solidFill>
                  <a:srgbClr val="FF0000"/>
                </a:solidFill>
                <a:latin typeface="Calibri"/>
                <a:cs typeface="Calibri"/>
              </a:rPr>
              <a:t>75</a:t>
            </a: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)?</a:t>
            </a:r>
            <a:r>
              <a:rPr sz="30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Нужно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вычислить </a:t>
            </a:r>
            <a:r>
              <a:rPr sz="3000" dirty="0">
                <a:latin typeface="Calibri"/>
                <a:cs typeface="Calibri"/>
              </a:rPr>
              <a:t>медиану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и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разбить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выборку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на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две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части:</a:t>
            </a:r>
            <a:endParaRPr sz="3000">
              <a:latin typeface="Calibri"/>
              <a:cs typeface="Calibri"/>
            </a:endParaRPr>
          </a:p>
          <a:p>
            <a:pPr marR="357505" algn="ctr">
              <a:lnSpc>
                <a:spcPts val="2545"/>
              </a:lnSpc>
            </a:pPr>
            <a:r>
              <a:rPr sz="3000" dirty="0">
                <a:latin typeface="Calibri"/>
                <a:cs typeface="Calibri"/>
              </a:rPr>
              <a:t>А={что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меньше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медианы},</a:t>
            </a:r>
            <a:r>
              <a:rPr sz="3000" spc="-1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В={что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больше</a:t>
            </a:r>
            <a:endParaRPr sz="3000">
              <a:latin typeface="Calibri"/>
              <a:cs typeface="Calibri"/>
            </a:endParaRPr>
          </a:p>
          <a:p>
            <a:pPr marL="393700" marR="43180">
              <a:lnSpc>
                <a:spcPts val="2880"/>
              </a:lnSpc>
              <a:spcBef>
                <a:spcPts val="335"/>
              </a:spcBef>
            </a:pPr>
            <a:r>
              <a:rPr sz="3000" spc="-10" dirty="0">
                <a:latin typeface="Calibri"/>
                <a:cs typeface="Calibri"/>
              </a:rPr>
              <a:t>медианы}.</a:t>
            </a:r>
            <a:r>
              <a:rPr sz="3000" spc="-105" dirty="0">
                <a:latin typeface="Calibri"/>
                <a:cs typeface="Calibri"/>
              </a:rPr>
              <a:t> </a:t>
            </a:r>
            <a:r>
              <a:rPr sz="3000" spc="-85" dirty="0">
                <a:latin typeface="Calibri"/>
                <a:cs typeface="Calibri"/>
              </a:rPr>
              <a:t>Тогда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Q</a:t>
            </a:r>
            <a:r>
              <a:rPr sz="3000" baseline="-20833" dirty="0">
                <a:latin typeface="Calibri"/>
                <a:cs typeface="Calibri"/>
              </a:rPr>
              <a:t>25</a:t>
            </a:r>
            <a:r>
              <a:rPr sz="3000" spc="225" baseline="-20833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(Q</a:t>
            </a:r>
            <a:r>
              <a:rPr sz="3000" baseline="-20833" dirty="0">
                <a:latin typeface="Calibri"/>
                <a:cs typeface="Calibri"/>
              </a:rPr>
              <a:t>75</a:t>
            </a:r>
            <a:r>
              <a:rPr sz="3000" dirty="0">
                <a:latin typeface="Calibri"/>
                <a:cs typeface="Calibri"/>
              </a:rPr>
              <a:t>)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будет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медианой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в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50" dirty="0">
                <a:latin typeface="Calibri"/>
                <a:cs typeface="Calibri"/>
              </a:rPr>
              <a:t>А </a:t>
            </a:r>
            <a:r>
              <a:rPr sz="3000" spc="-20" dirty="0">
                <a:latin typeface="Calibri"/>
                <a:cs typeface="Calibri"/>
              </a:rPr>
              <a:t>(В).</a:t>
            </a:r>
            <a:endParaRPr sz="3000">
              <a:latin typeface="Calibri"/>
              <a:cs typeface="Calibri"/>
            </a:endParaRPr>
          </a:p>
          <a:p>
            <a:pPr marL="393700" marR="596265" indent="-342900">
              <a:lnSpc>
                <a:spcPts val="2880"/>
              </a:lnSpc>
              <a:spcBef>
                <a:spcPts val="720"/>
              </a:spcBef>
            </a:pP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Факт</a:t>
            </a:r>
            <a:r>
              <a:rPr sz="3000" dirty="0">
                <a:latin typeface="Calibri"/>
                <a:cs typeface="Calibri"/>
              </a:rPr>
              <a:t>: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50%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элементов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выборки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принадлежат </a:t>
            </a:r>
            <a:r>
              <a:rPr sz="3000" dirty="0">
                <a:latin typeface="Calibri"/>
                <a:cs typeface="Calibri"/>
              </a:rPr>
              <a:t>интервалу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[Q</a:t>
            </a:r>
            <a:r>
              <a:rPr sz="3000" baseline="-20833" dirty="0">
                <a:latin typeface="Calibri"/>
                <a:cs typeface="Calibri"/>
              </a:rPr>
              <a:t>25</a:t>
            </a:r>
            <a:r>
              <a:rPr sz="3000" spc="292" baseline="-20833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,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Q</a:t>
            </a:r>
            <a:r>
              <a:rPr sz="3000" spc="-30" baseline="-20833" dirty="0">
                <a:latin typeface="Calibri"/>
                <a:cs typeface="Calibri"/>
              </a:rPr>
              <a:t>75</a:t>
            </a:r>
            <a:r>
              <a:rPr sz="3000" spc="-20" dirty="0">
                <a:latin typeface="Calibri"/>
                <a:cs typeface="Calibri"/>
              </a:rPr>
              <a:t>].</a:t>
            </a:r>
            <a:endParaRPr sz="3000">
              <a:latin typeface="Calibri"/>
              <a:cs typeface="Calibri"/>
            </a:endParaRPr>
          </a:p>
          <a:p>
            <a:pPr marL="393700" marR="730885" indent="-342900">
              <a:lnSpc>
                <a:spcPts val="2880"/>
              </a:lnSpc>
              <a:spcBef>
                <a:spcPts val="725"/>
              </a:spcBef>
            </a:pP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Идея</a:t>
            </a:r>
            <a:r>
              <a:rPr sz="3000" dirty="0">
                <a:latin typeface="Calibri"/>
                <a:cs typeface="Calibri"/>
              </a:rPr>
              <a:t>:</a:t>
            </a:r>
            <a:r>
              <a:rPr sz="3000" spc="-10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элементы,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которые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сильно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далеки</a:t>
            </a:r>
            <a:r>
              <a:rPr sz="3000" spc="-10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от </a:t>
            </a:r>
            <a:r>
              <a:rPr sz="3000" dirty="0">
                <a:latin typeface="Calibri"/>
                <a:cs typeface="Calibri"/>
              </a:rPr>
              <a:t>интервала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[Q</a:t>
            </a:r>
            <a:r>
              <a:rPr sz="3000" baseline="-20833" dirty="0">
                <a:latin typeface="Calibri"/>
                <a:cs typeface="Calibri"/>
              </a:rPr>
              <a:t>25</a:t>
            </a:r>
            <a:r>
              <a:rPr sz="3000" spc="254" baseline="-20833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,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Q</a:t>
            </a:r>
            <a:r>
              <a:rPr sz="3000" baseline="-20833" dirty="0">
                <a:latin typeface="Calibri"/>
                <a:cs typeface="Calibri"/>
              </a:rPr>
              <a:t>75</a:t>
            </a:r>
            <a:r>
              <a:rPr sz="3000" dirty="0">
                <a:latin typeface="Calibri"/>
                <a:cs typeface="Calibri"/>
              </a:rPr>
              <a:t>]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можно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объявить выбросами.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9141" y="191465"/>
            <a:ext cx="6132830" cy="1245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39289" marR="5080" indent="-1927225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Поиск</a:t>
            </a:r>
            <a:r>
              <a:rPr sz="4000" spc="-15" dirty="0"/>
              <a:t> </a:t>
            </a:r>
            <a:r>
              <a:rPr sz="4000" dirty="0"/>
              <a:t>выбросов</a:t>
            </a:r>
            <a:r>
              <a:rPr sz="4000" spc="-10" dirty="0"/>
              <a:t> </a:t>
            </a:r>
            <a:r>
              <a:rPr sz="4000" dirty="0"/>
              <a:t>с</a:t>
            </a:r>
            <a:r>
              <a:rPr sz="4000" spc="-30" dirty="0"/>
              <a:t> </a:t>
            </a:r>
            <a:r>
              <a:rPr sz="4000" spc="-10" dirty="0"/>
              <a:t>помощью квартилей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97840" y="1563370"/>
            <a:ext cx="7783830" cy="4918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Правило</a:t>
            </a:r>
            <a:r>
              <a:rPr sz="3000" dirty="0">
                <a:latin typeface="Calibri"/>
                <a:cs typeface="Calibri"/>
              </a:rPr>
              <a:t>: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если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элемент</a:t>
            </a:r>
            <a:r>
              <a:rPr sz="3000" spc="-10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не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попадает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в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интервал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3000">
              <a:latin typeface="Calibri"/>
              <a:cs typeface="Calibri"/>
            </a:endParaRPr>
          </a:p>
          <a:p>
            <a:pPr marL="365125" algn="ctr">
              <a:lnSpc>
                <a:spcPct val="100000"/>
              </a:lnSpc>
            </a:pPr>
            <a:r>
              <a:rPr sz="3000" spc="-10" dirty="0">
                <a:latin typeface="Calibri"/>
                <a:cs typeface="Calibri"/>
              </a:rPr>
              <a:t>(Q</a:t>
            </a:r>
            <a:r>
              <a:rPr sz="3000" spc="-15" baseline="-20833" dirty="0">
                <a:latin typeface="Calibri"/>
                <a:cs typeface="Calibri"/>
              </a:rPr>
              <a:t>25</a:t>
            </a:r>
            <a:r>
              <a:rPr sz="3000" spc="-10" dirty="0">
                <a:latin typeface="Calibri"/>
                <a:cs typeface="Calibri"/>
              </a:rPr>
              <a:t>-1.5*(Q</a:t>
            </a:r>
            <a:r>
              <a:rPr sz="3000" spc="-15" baseline="-20833" dirty="0">
                <a:latin typeface="Calibri"/>
                <a:cs typeface="Calibri"/>
              </a:rPr>
              <a:t>75</a:t>
            </a:r>
            <a:r>
              <a:rPr sz="3000" spc="-10" dirty="0">
                <a:latin typeface="Calibri"/>
                <a:cs typeface="Calibri"/>
              </a:rPr>
              <a:t>-</a:t>
            </a:r>
            <a:r>
              <a:rPr sz="3000" dirty="0">
                <a:latin typeface="Calibri"/>
                <a:cs typeface="Calibri"/>
              </a:rPr>
              <a:t>Q</a:t>
            </a:r>
            <a:r>
              <a:rPr sz="3000" baseline="-20833" dirty="0">
                <a:latin typeface="Calibri"/>
                <a:cs typeface="Calibri"/>
              </a:rPr>
              <a:t>25</a:t>
            </a:r>
            <a:r>
              <a:rPr sz="3000" dirty="0">
                <a:latin typeface="Calibri"/>
                <a:cs typeface="Calibri"/>
              </a:rPr>
              <a:t>),</a:t>
            </a:r>
            <a:r>
              <a:rPr sz="3000" spc="2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Q</a:t>
            </a:r>
            <a:r>
              <a:rPr sz="3000" spc="-15" baseline="-20833" dirty="0">
                <a:latin typeface="Calibri"/>
                <a:cs typeface="Calibri"/>
              </a:rPr>
              <a:t>75</a:t>
            </a:r>
            <a:r>
              <a:rPr sz="3000" spc="-10" dirty="0">
                <a:latin typeface="Calibri"/>
                <a:cs typeface="Calibri"/>
              </a:rPr>
              <a:t>+1.5*(Q</a:t>
            </a:r>
            <a:r>
              <a:rPr sz="3000" spc="-15" baseline="-20833" dirty="0">
                <a:latin typeface="Calibri"/>
                <a:cs typeface="Calibri"/>
              </a:rPr>
              <a:t>75</a:t>
            </a:r>
            <a:r>
              <a:rPr sz="3000" spc="-10" dirty="0">
                <a:latin typeface="Calibri"/>
                <a:cs typeface="Calibri"/>
              </a:rPr>
              <a:t>-Q</a:t>
            </a:r>
            <a:r>
              <a:rPr sz="3000" spc="-15" baseline="-20833" dirty="0">
                <a:latin typeface="Calibri"/>
                <a:cs typeface="Calibri"/>
              </a:rPr>
              <a:t>25</a:t>
            </a:r>
            <a:r>
              <a:rPr sz="3000" spc="-10" dirty="0">
                <a:latin typeface="Calibri"/>
                <a:cs typeface="Calibri"/>
              </a:rPr>
              <a:t>)),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30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</a:pPr>
            <a:r>
              <a:rPr sz="3000" dirty="0">
                <a:latin typeface="Calibri"/>
                <a:cs typeface="Calibri"/>
              </a:rPr>
              <a:t>то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он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объявляется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выбросом.</a:t>
            </a:r>
            <a:endParaRPr sz="3000">
              <a:latin typeface="Calibri"/>
              <a:cs typeface="Calibri"/>
            </a:endParaRPr>
          </a:p>
          <a:p>
            <a:pPr marL="393700" marR="725805" indent="-342900">
              <a:lnSpc>
                <a:spcPts val="3240"/>
              </a:lnSpc>
              <a:spcBef>
                <a:spcPts val="765"/>
              </a:spcBef>
            </a:pPr>
            <a:r>
              <a:rPr sz="3000" dirty="0">
                <a:latin typeface="Calibri"/>
                <a:cs typeface="Calibri"/>
              </a:rPr>
              <a:t>В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примере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(-5,0,1,2,4,5,5,6,7,100)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получаем </a:t>
            </a:r>
            <a:r>
              <a:rPr sz="3000" dirty="0">
                <a:latin typeface="Calibri"/>
                <a:cs typeface="Calibri"/>
              </a:rPr>
              <a:t>Q</a:t>
            </a:r>
            <a:r>
              <a:rPr sz="3000" baseline="-20833" dirty="0">
                <a:latin typeface="Calibri"/>
                <a:cs typeface="Calibri"/>
              </a:rPr>
              <a:t>25</a:t>
            </a:r>
            <a:r>
              <a:rPr sz="3000" dirty="0">
                <a:latin typeface="Calibri"/>
                <a:cs typeface="Calibri"/>
              </a:rPr>
              <a:t>=1,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Q</a:t>
            </a:r>
            <a:r>
              <a:rPr sz="3000" spc="-15" baseline="-20833" dirty="0">
                <a:latin typeface="Calibri"/>
                <a:cs typeface="Calibri"/>
              </a:rPr>
              <a:t>75</a:t>
            </a:r>
            <a:r>
              <a:rPr sz="3000" spc="-10" dirty="0">
                <a:latin typeface="Calibri"/>
                <a:cs typeface="Calibri"/>
              </a:rPr>
              <a:t>=6</a:t>
            </a:r>
            <a:endParaRPr sz="3000">
              <a:latin typeface="Calibri"/>
              <a:cs typeface="Calibri"/>
            </a:endParaRPr>
          </a:p>
          <a:p>
            <a:pPr marL="50800" marR="984885">
              <a:lnSpc>
                <a:spcPts val="3960"/>
              </a:lnSpc>
              <a:spcBef>
                <a:spcPts val="145"/>
              </a:spcBef>
            </a:pPr>
            <a:r>
              <a:rPr sz="3000" dirty="0">
                <a:latin typeface="Calibri"/>
                <a:cs typeface="Calibri"/>
              </a:rPr>
              <a:t>Интервал</a:t>
            </a:r>
            <a:r>
              <a:rPr sz="3000" spc="-114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будет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такой: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(1-1.5*5,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6+1.5*5)= (-6.5,13.5).</a:t>
            </a:r>
            <a:endParaRPr sz="30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170"/>
              </a:spcBef>
            </a:pPr>
            <a:r>
              <a:rPr sz="3000" spc="-30" dirty="0">
                <a:latin typeface="Calibri"/>
                <a:cs typeface="Calibri"/>
              </a:rPr>
              <a:t>Таким</a:t>
            </a:r>
            <a:r>
              <a:rPr sz="3000" spc="-10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образом,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элемент</a:t>
            </a:r>
            <a:r>
              <a:rPr sz="3000" spc="-1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100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–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выброс.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1402" y="2770758"/>
            <a:ext cx="6521450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22830" marR="5080" indent="-2310765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Calibri"/>
                <a:cs typeface="Calibri"/>
              </a:rPr>
              <a:t>Методы,</a:t>
            </a:r>
            <a:r>
              <a:rPr sz="3200" b="1" spc="-114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анализирующие</a:t>
            </a:r>
            <a:r>
              <a:rPr sz="3200" b="1" spc="-130" dirty="0">
                <a:latin typeface="Calibri"/>
                <a:cs typeface="Calibri"/>
              </a:rPr>
              <a:t> </a:t>
            </a:r>
            <a:r>
              <a:rPr sz="3200" b="1" spc="-20" dirty="0">
                <a:latin typeface="Calibri"/>
                <a:cs typeface="Calibri"/>
              </a:rPr>
              <a:t>несколько </a:t>
            </a:r>
            <a:r>
              <a:rPr sz="3200" b="1" spc="-10" dirty="0">
                <a:latin typeface="Calibri"/>
                <a:cs typeface="Calibri"/>
              </a:rPr>
              <a:t>признаков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2395" marR="5080" indent="991869">
              <a:lnSpc>
                <a:spcPct val="100000"/>
              </a:lnSpc>
              <a:spcBef>
                <a:spcPts val="105"/>
              </a:spcBef>
            </a:pPr>
            <a:r>
              <a:rPr sz="3500" dirty="0"/>
              <a:t>Недостатки</a:t>
            </a:r>
            <a:r>
              <a:rPr sz="3500" spc="-165" dirty="0"/>
              <a:t> </a:t>
            </a:r>
            <a:r>
              <a:rPr sz="3500" spc="-10" dirty="0"/>
              <a:t>методов,</a:t>
            </a:r>
            <a:r>
              <a:rPr sz="3500" spc="-145" dirty="0"/>
              <a:t> </a:t>
            </a:r>
            <a:r>
              <a:rPr sz="3500" spc="-10" dirty="0"/>
              <a:t>которые </a:t>
            </a:r>
            <a:r>
              <a:rPr sz="3500" dirty="0"/>
              <a:t>анализируют</a:t>
            </a:r>
            <a:r>
              <a:rPr sz="3500" spc="-65" dirty="0"/>
              <a:t> </a:t>
            </a:r>
            <a:r>
              <a:rPr sz="3500" dirty="0"/>
              <a:t>1</a:t>
            </a:r>
            <a:r>
              <a:rPr sz="3500" spc="-15" dirty="0"/>
              <a:t> </a:t>
            </a:r>
            <a:r>
              <a:rPr sz="3500" dirty="0"/>
              <a:t>признак</a:t>
            </a:r>
            <a:r>
              <a:rPr sz="3500" spc="-30" dirty="0"/>
              <a:t> </a:t>
            </a:r>
            <a:r>
              <a:rPr sz="3500" spc="-20" dirty="0"/>
              <a:t>(1-</a:t>
            </a:r>
            <a:r>
              <a:rPr sz="3500" dirty="0"/>
              <a:t>й</a:t>
            </a:r>
            <a:r>
              <a:rPr sz="3500" spc="-15" dirty="0"/>
              <a:t> </a:t>
            </a:r>
            <a:r>
              <a:rPr sz="3500" spc="-10" dirty="0"/>
              <a:t>недостаток)</a:t>
            </a:r>
            <a:endParaRPr sz="3500"/>
          </a:p>
        </p:txBody>
      </p:sp>
      <p:sp>
        <p:nvSpPr>
          <p:cNvPr id="3" name="object 3"/>
          <p:cNvSpPr txBox="1"/>
          <p:nvPr/>
        </p:nvSpPr>
        <p:spPr>
          <a:xfrm>
            <a:off x="435965" y="1651253"/>
            <a:ext cx="8136255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Verdana"/>
                <a:cs typeface="Verdana"/>
              </a:rPr>
              <a:t>В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выборке (1,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50,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2,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1,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101,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2,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1,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100,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1,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3,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101,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1,</a:t>
            </a:r>
            <a:endParaRPr sz="2400">
              <a:latin typeface="Verdana"/>
              <a:cs typeface="Verdana"/>
            </a:endParaRPr>
          </a:p>
          <a:p>
            <a:pPr marL="527685" marR="447040">
              <a:lnSpc>
                <a:spcPct val="100000"/>
              </a:lnSpc>
            </a:pPr>
            <a:r>
              <a:rPr sz="2400" dirty="0">
                <a:latin typeface="Verdana"/>
                <a:cs typeface="Verdana"/>
              </a:rPr>
              <a:t>3,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100,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101,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100,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100)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число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50,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очевидно, </a:t>
            </a:r>
            <a:r>
              <a:rPr sz="2400" dirty="0">
                <a:latin typeface="Verdana"/>
                <a:cs typeface="Verdana"/>
              </a:rPr>
              <a:t>аномально.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Но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поскольку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50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очень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близко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spc="-50" dirty="0">
                <a:latin typeface="Verdana"/>
                <a:cs typeface="Verdana"/>
              </a:rPr>
              <a:t>к </a:t>
            </a:r>
            <a:r>
              <a:rPr sz="2400" dirty="0">
                <a:latin typeface="Verdana"/>
                <a:cs typeface="Verdana"/>
              </a:rPr>
              <a:t>среднему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значению,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то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все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описанные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выше </a:t>
            </a:r>
            <a:r>
              <a:rPr sz="2400" dirty="0">
                <a:latin typeface="Verdana"/>
                <a:cs typeface="Verdana"/>
              </a:rPr>
              <a:t>методы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его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не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заметят.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57680" marR="5080" indent="-1745614">
              <a:lnSpc>
                <a:spcPts val="4120"/>
              </a:lnSpc>
            </a:pPr>
            <a:r>
              <a:rPr sz="3200" dirty="0"/>
              <a:t>Недостатки</a:t>
            </a:r>
            <a:r>
              <a:rPr sz="3200" spc="-140" dirty="0"/>
              <a:t> </a:t>
            </a:r>
            <a:r>
              <a:rPr sz="3200" spc="-10" dirty="0"/>
              <a:t>методов,</a:t>
            </a:r>
            <a:r>
              <a:rPr sz="3200" spc="-130" dirty="0"/>
              <a:t> </a:t>
            </a:r>
            <a:r>
              <a:rPr sz="3200" dirty="0"/>
              <a:t>которые</a:t>
            </a:r>
            <a:r>
              <a:rPr sz="3200" spc="-110" dirty="0"/>
              <a:t> </a:t>
            </a:r>
            <a:r>
              <a:rPr sz="3200" dirty="0"/>
              <a:t>анализируют</a:t>
            </a:r>
            <a:r>
              <a:rPr sz="3200" spc="-110" dirty="0"/>
              <a:t> </a:t>
            </a:r>
            <a:r>
              <a:rPr sz="3200" spc="-50" dirty="0"/>
              <a:t>1 </a:t>
            </a:r>
            <a:r>
              <a:rPr sz="3200" dirty="0"/>
              <a:t>признак</a:t>
            </a:r>
            <a:r>
              <a:rPr sz="3200" spc="-10" dirty="0"/>
              <a:t> </a:t>
            </a:r>
            <a:r>
              <a:rPr sz="3200" spc="-20" dirty="0"/>
              <a:t>(2-</a:t>
            </a:r>
            <a:r>
              <a:rPr sz="3200" dirty="0"/>
              <a:t>й</a:t>
            </a:r>
            <a:r>
              <a:rPr sz="3200" spc="15" dirty="0"/>
              <a:t> </a:t>
            </a:r>
            <a:r>
              <a:rPr sz="3200" spc="-10" dirty="0"/>
              <a:t>недостаток</a:t>
            </a:r>
            <a:r>
              <a:rPr sz="3500" spc="-10" dirty="0"/>
              <a:t>)</a:t>
            </a:r>
            <a:endParaRPr sz="3500"/>
          </a:p>
        </p:txBody>
      </p:sp>
      <p:sp>
        <p:nvSpPr>
          <p:cNvPr id="3" name="object 3"/>
          <p:cNvSpPr txBox="1"/>
          <p:nvPr/>
        </p:nvSpPr>
        <p:spPr>
          <a:xfrm>
            <a:off x="435965" y="1651254"/>
            <a:ext cx="3973829" cy="3378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Verdana"/>
                <a:cs typeface="Verdana"/>
              </a:rPr>
              <a:t>Аномалия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часто </a:t>
            </a:r>
            <a:r>
              <a:rPr sz="2200" dirty="0">
                <a:latin typeface="Verdana"/>
                <a:cs typeface="Verdana"/>
              </a:rPr>
              <a:t>характеризуется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не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только экстремальными </a:t>
            </a:r>
            <a:r>
              <a:rPr sz="2200" dirty="0">
                <a:latin typeface="Verdana"/>
                <a:cs typeface="Verdana"/>
              </a:rPr>
              <a:t>значениями</a:t>
            </a:r>
            <a:r>
              <a:rPr sz="2200" spc="-1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отдельных </a:t>
            </a:r>
            <a:r>
              <a:rPr sz="2200" dirty="0">
                <a:latin typeface="Verdana"/>
                <a:cs typeface="Verdana"/>
              </a:rPr>
              <a:t>признаков.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На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картинке </a:t>
            </a:r>
            <a:r>
              <a:rPr sz="2200" dirty="0">
                <a:latin typeface="Verdana"/>
                <a:cs typeface="Verdana"/>
              </a:rPr>
              <a:t>каждый</a:t>
            </a:r>
            <a:r>
              <a:rPr sz="2200" spc="-1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выброс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имеет</a:t>
            </a:r>
            <a:endParaRPr sz="2200">
              <a:latin typeface="Verdana"/>
              <a:cs typeface="Verdana"/>
            </a:endParaRPr>
          </a:p>
          <a:p>
            <a:pPr marL="12700" marR="309245">
              <a:lnSpc>
                <a:spcPct val="100000"/>
              </a:lnSpc>
            </a:pPr>
            <a:r>
              <a:rPr sz="2200" dirty="0">
                <a:latin typeface="Verdana"/>
                <a:cs typeface="Verdana"/>
              </a:rPr>
              <a:t>«нормальное»</a:t>
            </a:r>
            <a:r>
              <a:rPr sz="2200" spc="-1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значения </a:t>
            </a:r>
            <a:r>
              <a:rPr sz="2200" dirty="0">
                <a:latin typeface="Verdana"/>
                <a:cs typeface="Verdana"/>
              </a:rPr>
              <a:t>каждого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признака,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но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их </a:t>
            </a:r>
            <a:r>
              <a:rPr sz="2200" dirty="0">
                <a:latin typeface="Verdana"/>
                <a:cs typeface="Verdana"/>
              </a:rPr>
              <a:t>комбинация</a:t>
            </a:r>
            <a:r>
              <a:rPr sz="2200" spc="-11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приводит</a:t>
            </a:r>
            <a:r>
              <a:rPr sz="2200" spc="-130" dirty="0">
                <a:latin typeface="Verdana"/>
                <a:cs typeface="Verdana"/>
              </a:rPr>
              <a:t> </a:t>
            </a:r>
            <a:r>
              <a:rPr sz="2200" spc="-50" dirty="0">
                <a:latin typeface="Verdana"/>
                <a:cs typeface="Verdana"/>
              </a:rPr>
              <a:t>к </a:t>
            </a:r>
            <a:r>
              <a:rPr sz="2200" spc="-10" dirty="0">
                <a:latin typeface="Verdana"/>
                <a:cs typeface="Verdana"/>
              </a:rPr>
              <a:t>аномалии.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0230" y="1827034"/>
            <a:ext cx="3989916" cy="365225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2673" rIns="0" bIns="0" rtlCol="0">
            <a:spAutoFit/>
          </a:bodyPr>
          <a:lstStyle/>
          <a:p>
            <a:pPr marL="2296795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Метрические</a:t>
            </a:r>
            <a:r>
              <a:rPr sz="2800" spc="-50" dirty="0"/>
              <a:t> </a:t>
            </a:r>
            <a:r>
              <a:rPr sz="2800" spc="-10" dirty="0"/>
              <a:t>методы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39242" y="1828545"/>
            <a:ext cx="3775075" cy="2372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Verdana"/>
                <a:cs typeface="Verdana"/>
              </a:rPr>
              <a:t>Представим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объекты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с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i="1" spc="-50" dirty="0">
                <a:latin typeface="Verdana"/>
                <a:cs typeface="Verdana"/>
              </a:rPr>
              <a:t>m </a:t>
            </a:r>
            <a:r>
              <a:rPr sz="2200" dirty="0">
                <a:latin typeface="Verdana"/>
                <a:cs typeface="Verdana"/>
              </a:rPr>
              <a:t>признаками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с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помощью </a:t>
            </a:r>
            <a:r>
              <a:rPr sz="2200" dirty="0">
                <a:latin typeface="Verdana"/>
                <a:cs typeface="Verdana"/>
              </a:rPr>
              <a:t>точек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в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пространстве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i="1" spc="-25" dirty="0">
                <a:latin typeface="Verdana"/>
                <a:cs typeface="Verdana"/>
              </a:rPr>
              <a:t>R</a:t>
            </a:r>
            <a:r>
              <a:rPr sz="2175" i="1" spc="-37" baseline="24904" dirty="0">
                <a:latin typeface="Verdana"/>
                <a:cs typeface="Verdana"/>
              </a:rPr>
              <a:t>m</a:t>
            </a:r>
            <a:r>
              <a:rPr sz="2200" spc="-25" dirty="0">
                <a:latin typeface="Verdana"/>
                <a:cs typeface="Verdana"/>
              </a:rPr>
              <a:t>.</a:t>
            </a:r>
            <a:endParaRPr sz="2200">
              <a:latin typeface="Verdana"/>
              <a:cs typeface="Verdana"/>
            </a:endParaRPr>
          </a:p>
          <a:p>
            <a:pPr marL="495300" marR="499745" indent="-457200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solidFill>
                  <a:srgbClr val="FF0000"/>
                </a:solidFill>
                <a:latin typeface="Verdana"/>
                <a:cs typeface="Verdana"/>
              </a:rPr>
              <a:t>Идея</a:t>
            </a:r>
            <a:r>
              <a:rPr sz="2200" dirty="0">
                <a:latin typeface="Verdana"/>
                <a:cs typeface="Verdana"/>
              </a:rPr>
              <a:t>: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у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выброса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мало </a:t>
            </a:r>
            <a:r>
              <a:rPr sz="2200" dirty="0">
                <a:latin typeface="Verdana"/>
                <a:cs typeface="Verdana"/>
              </a:rPr>
              <a:t>соседей,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а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50" dirty="0">
                <a:latin typeface="Verdana"/>
                <a:cs typeface="Verdana"/>
              </a:rPr>
              <a:t>у </a:t>
            </a:r>
            <a:r>
              <a:rPr sz="2200" dirty="0">
                <a:latin typeface="Verdana"/>
                <a:cs typeface="Verdana"/>
              </a:rPr>
              <a:t>типичного</a:t>
            </a:r>
            <a:r>
              <a:rPr sz="2200" spc="-12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объекта много.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7809" y="1220800"/>
            <a:ext cx="5076190" cy="466026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2673" rIns="0" bIns="0" rtlCol="0">
            <a:spAutoFit/>
          </a:bodyPr>
          <a:lstStyle/>
          <a:p>
            <a:pPr marL="2296795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Метрические</a:t>
            </a:r>
            <a:r>
              <a:rPr sz="2800" spc="-50" dirty="0"/>
              <a:t> </a:t>
            </a:r>
            <a:r>
              <a:rPr sz="2800" spc="-10" dirty="0"/>
              <a:t>методы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64642" y="1444498"/>
            <a:ext cx="3676015" cy="2708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Verdana"/>
                <a:cs typeface="Verdana"/>
              </a:rPr>
              <a:t>Можно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найти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расстояние </a:t>
            </a:r>
            <a:r>
              <a:rPr sz="2200" dirty="0">
                <a:latin typeface="Verdana"/>
                <a:cs typeface="Verdana"/>
              </a:rPr>
              <a:t>от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каждого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объекта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до </a:t>
            </a:r>
            <a:r>
              <a:rPr sz="2200" dirty="0">
                <a:latin typeface="Verdana"/>
                <a:cs typeface="Verdana"/>
              </a:rPr>
              <a:t>его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ближайшего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соседа. </a:t>
            </a:r>
            <a:r>
              <a:rPr sz="2200" dirty="0">
                <a:latin typeface="Verdana"/>
                <a:cs typeface="Verdana"/>
              </a:rPr>
              <a:t>У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выбросов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такое </a:t>
            </a:r>
            <a:r>
              <a:rPr sz="2200" dirty="0">
                <a:latin typeface="Verdana"/>
                <a:cs typeface="Verdana"/>
              </a:rPr>
              <a:t>расстояние</a:t>
            </a:r>
            <a:r>
              <a:rPr sz="2200" spc="-1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будет </a:t>
            </a:r>
            <a:r>
              <a:rPr sz="2200" dirty="0">
                <a:latin typeface="Verdana"/>
                <a:cs typeface="Verdana"/>
              </a:rPr>
              <a:t>большим</a:t>
            </a:r>
            <a:r>
              <a:rPr sz="2200" spc="-12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(можно </a:t>
            </a:r>
            <a:r>
              <a:rPr sz="2200" dirty="0">
                <a:latin typeface="Verdana"/>
                <a:cs typeface="Verdana"/>
              </a:rPr>
              <a:t>предложить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и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другие </a:t>
            </a:r>
            <a:r>
              <a:rPr sz="2200" dirty="0">
                <a:latin typeface="Verdana"/>
                <a:cs typeface="Verdana"/>
              </a:rPr>
              <a:t>варианты</a:t>
            </a:r>
            <a:r>
              <a:rPr sz="2200" spc="-12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алгоритма).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63048" y="1360481"/>
            <a:ext cx="4952380" cy="452058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2673" rIns="0" bIns="0" rtlCol="0">
            <a:spAutoFit/>
          </a:bodyPr>
          <a:lstStyle/>
          <a:p>
            <a:pPr marL="2089150">
              <a:lnSpc>
                <a:spcPct val="100000"/>
              </a:lnSpc>
              <a:spcBef>
                <a:spcPts val="95"/>
              </a:spcBef>
            </a:pPr>
            <a:r>
              <a:rPr sz="2800" spc="-25" dirty="0"/>
              <a:t>Геометрические</a:t>
            </a:r>
            <a:r>
              <a:rPr sz="2800" spc="-70" dirty="0"/>
              <a:t> </a:t>
            </a:r>
            <a:r>
              <a:rPr sz="2800" spc="-10" dirty="0"/>
              <a:t>методы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64642" y="1444498"/>
            <a:ext cx="3745229" cy="1701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Verdana"/>
                <a:cs typeface="Verdana"/>
              </a:rPr>
              <a:t>Можно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вычислить </a:t>
            </a:r>
            <a:r>
              <a:rPr sz="2200" dirty="0">
                <a:latin typeface="Verdana"/>
                <a:cs typeface="Verdana"/>
              </a:rPr>
              <a:t>выпуклую</a:t>
            </a:r>
            <a:r>
              <a:rPr sz="2200" spc="-12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оболочку </a:t>
            </a:r>
            <a:r>
              <a:rPr sz="2200" dirty="0">
                <a:latin typeface="Verdana"/>
                <a:cs typeface="Verdana"/>
              </a:rPr>
              <a:t>объектов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(как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точек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в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m- </a:t>
            </a:r>
            <a:r>
              <a:rPr sz="2200" dirty="0">
                <a:latin typeface="Verdana"/>
                <a:cs typeface="Verdana"/>
              </a:rPr>
              <a:t>мерном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пространстве).</a:t>
            </a:r>
            <a:endParaRPr sz="2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latin typeface="Verdana"/>
                <a:cs typeface="Verdana"/>
              </a:rPr>
              <a:t>Выбросами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будут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spc="-50" dirty="0">
                <a:latin typeface="Verdana"/>
                <a:cs typeface="Verdana"/>
              </a:rPr>
              <a:t>…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52146" y="1706423"/>
            <a:ext cx="4953747" cy="453451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2673" rIns="0" bIns="0" rtlCol="0">
            <a:spAutoFit/>
          </a:bodyPr>
          <a:lstStyle/>
          <a:p>
            <a:pPr marL="2089150">
              <a:lnSpc>
                <a:spcPct val="100000"/>
              </a:lnSpc>
              <a:spcBef>
                <a:spcPts val="95"/>
              </a:spcBef>
            </a:pPr>
            <a:r>
              <a:rPr sz="2800" spc="-25" dirty="0"/>
              <a:t>Геометрические</a:t>
            </a:r>
            <a:r>
              <a:rPr sz="2800" spc="-70" dirty="0"/>
              <a:t> </a:t>
            </a:r>
            <a:r>
              <a:rPr sz="2800" spc="-10" dirty="0"/>
              <a:t>методы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64642" y="1444498"/>
            <a:ext cx="3745229" cy="3043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Verdana"/>
                <a:cs typeface="Verdana"/>
              </a:rPr>
              <a:t>Можно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вычислить </a:t>
            </a:r>
            <a:r>
              <a:rPr sz="2200" dirty="0">
                <a:latin typeface="Verdana"/>
                <a:cs typeface="Verdana"/>
              </a:rPr>
              <a:t>выпуклую</a:t>
            </a:r>
            <a:r>
              <a:rPr sz="2200" spc="-12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оболочку </a:t>
            </a:r>
            <a:r>
              <a:rPr sz="2200" dirty="0">
                <a:latin typeface="Verdana"/>
                <a:cs typeface="Verdana"/>
              </a:rPr>
              <a:t>объектов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(как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точек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в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m- </a:t>
            </a:r>
            <a:r>
              <a:rPr sz="2200" dirty="0">
                <a:latin typeface="Verdana"/>
                <a:cs typeface="Verdana"/>
              </a:rPr>
              <a:t>мерном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пространстве).</a:t>
            </a:r>
            <a:endParaRPr sz="2200">
              <a:latin typeface="Verdana"/>
              <a:cs typeface="Verdana"/>
            </a:endParaRPr>
          </a:p>
          <a:p>
            <a:pPr marL="12700" marR="91440">
              <a:lnSpc>
                <a:spcPct val="100000"/>
              </a:lnSpc>
            </a:pPr>
            <a:r>
              <a:rPr sz="2200" dirty="0">
                <a:latin typeface="Verdana"/>
                <a:cs typeface="Verdana"/>
              </a:rPr>
              <a:t>Выбросами</a:t>
            </a:r>
            <a:r>
              <a:rPr sz="2200" spc="-1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будут </a:t>
            </a:r>
            <a:r>
              <a:rPr sz="2200" dirty="0">
                <a:latin typeface="Verdana"/>
                <a:cs typeface="Verdana"/>
              </a:rPr>
              <a:t>объекты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на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границе.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(Их </a:t>
            </a:r>
            <a:r>
              <a:rPr sz="2200" dirty="0">
                <a:latin typeface="Verdana"/>
                <a:cs typeface="Verdana"/>
              </a:rPr>
              <a:t>можно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удалить,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spc="-50" dirty="0">
                <a:latin typeface="Verdana"/>
                <a:cs typeface="Verdana"/>
              </a:rPr>
              <a:t>а </a:t>
            </a:r>
            <a:r>
              <a:rPr sz="2200" dirty="0">
                <a:latin typeface="Verdana"/>
                <a:cs typeface="Verdana"/>
              </a:rPr>
              <a:t>процедуру</a:t>
            </a:r>
            <a:r>
              <a:rPr sz="2200" spc="-12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повторить </a:t>
            </a:r>
            <a:r>
              <a:rPr sz="2200" dirty="0">
                <a:latin typeface="Verdana"/>
                <a:cs typeface="Verdana"/>
              </a:rPr>
              <a:t>еще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несколько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раз).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52146" y="1706423"/>
            <a:ext cx="4953747" cy="453451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4642" y="649350"/>
            <a:ext cx="6812915" cy="2832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10995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Calibri"/>
                <a:cs typeface="Calibri"/>
              </a:rPr>
              <a:t>Поиск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выбросов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с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помощью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кластеризации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2200">
              <a:latin typeface="Calibri"/>
              <a:cs typeface="Calibri"/>
            </a:endParaRPr>
          </a:p>
          <a:p>
            <a:pPr marL="12700" marR="3204845">
              <a:lnSpc>
                <a:spcPct val="100000"/>
              </a:lnSpc>
            </a:pPr>
            <a:r>
              <a:rPr sz="2200" dirty="0">
                <a:latin typeface="Verdana"/>
                <a:cs typeface="Verdana"/>
              </a:rPr>
              <a:t>Можно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запустить </a:t>
            </a:r>
            <a:r>
              <a:rPr sz="2200" dirty="0">
                <a:latin typeface="Verdana"/>
                <a:cs typeface="Verdana"/>
              </a:rPr>
              <a:t>алгоритм</a:t>
            </a:r>
            <a:r>
              <a:rPr sz="2200" spc="-13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кластеризации (подробности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в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след. </a:t>
            </a:r>
            <a:r>
              <a:rPr sz="2200" dirty="0">
                <a:latin typeface="Verdana"/>
                <a:cs typeface="Verdana"/>
              </a:rPr>
              <a:t>лекции).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Он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разобьет </a:t>
            </a:r>
            <a:r>
              <a:rPr sz="2200" dirty="0">
                <a:latin typeface="Verdana"/>
                <a:cs typeface="Verdana"/>
              </a:rPr>
              <a:t>объекты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на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группы.</a:t>
            </a:r>
            <a:endParaRPr sz="2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Verdana"/>
                <a:cs typeface="Verdana"/>
              </a:rPr>
              <a:t>Выбросы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–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это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...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3850" y="1264450"/>
            <a:ext cx="4914900" cy="45339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4642" y="649350"/>
            <a:ext cx="6812915" cy="35032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10995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Calibri"/>
                <a:cs typeface="Calibri"/>
              </a:rPr>
              <a:t>Поиск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выбросов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с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помощью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кластеризации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2200">
              <a:latin typeface="Calibri"/>
              <a:cs typeface="Calibri"/>
            </a:endParaRPr>
          </a:p>
          <a:p>
            <a:pPr marL="12700" marR="3204845">
              <a:lnSpc>
                <a:spcPct val="100000"/>
              </a:lnSpc>
            </a:pPr>
            <a:r>
              <a:rPr sz="2200" dirty="0">
                <a:latin typeface="Verdana"/>
                <a:cs typeface="Verdana"/>
              </a:rPr>
              <a:t>Можно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запустить </a:t>
            </a:r>
            <a:r>
              <a:rPr sz="2200" dirty="0">
                <a:latin typeface="Verdana"/>
                <a:cs typeface="Verdana"/>
              </a:rPr>
              <a:t>алгоритм</a:t>
            </a:r>
            <a:r>
              <a:rPr sz="2200" spc="-13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кластеризации (подробности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в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след. </a:t>
            </a:r>
            <a:r>
              <a:rPr sz="2200" dirty="0">
                <a:latin typeface="Verdana"/>
                <a:cs typeface="Verdana"/>
              </a:rPr>
              <a:t>лекции).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Он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разобьет </a:t>
            </a:r>
            <a:r>
              <a:rPr sz="2200" dirty="0">
                <a:latin typeface="Verdana"/>
                <a:cs typeface="Verdana"/>
              </a:rPr>
              <a:t>объекты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на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группы.</a:t>
            </a:r>
            <a:endParaRPr sz="2200">
              <a:latin typeface="Verdana"/>
              <a:cs typeface="Verdana"/>
            </a:endParaRPr>
          </a:p>
          <a:p>
            <a:pPr marL="12700" marR="3169285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Verdana"/>
                <a:cs typeface="Verdana"/>
              </a:rPr>
              <a:t>Выбросы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–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это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элементы </a:t>
            </a:r>
            <a:r>
              <a:rPr sz="2200" dirty="0">
                <a:latin typeface="Verdana"/>
                <a:cs typeface="Verdana"/>
              </a:rPr>
              <a:t>малых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(в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том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числе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50" dirty="0">
                <a:latin typeface="Verdana"/>
                <a:cs typeface="Verdana"/>
              </a:rPr>
              <a:t>и </a:t>
            </a:r>
            <a:r>
              <a:rPr sz="2200" spc="-10" dirty="0">
                <a:latin typeface="Verdana"/>
                <a:cs typeface="Verdana"/>
              </a:rPr>
              <a:t>одноэлементных)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групп.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3850" y="1264450"/>
            <a:ext cx="4914900" cy="45339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4794" rIns="0" bIns="0" rtlCol="0">
            <a:spAutoFit/>
          </a:bodyPr>
          <a:lstStyle/>
          <a:p>
            <a:pPr marL="840740">
              <a:lnSpc>
                <a:spcPct val="100000"/>
              </a:lnSpc>
              <a:spcBef>
                <a:spcPts val="95"/>
              </a:spcBef>
            </a:pPr>
            <a:r>
              <a:rPr dirty="0"/>
              <a:t>Поиск</a:t>
            </a:r>
            <a:r>
              <a:rPr spc="-70" dirty="0"/>
              <a:t> </a:t>
            </a:r>
            <a:r>
              <a:rPr dirty="0"/>
              <a:t>выбросов</a:t>
            </a:r>
            <a:r>
              <a:rPr spc="-70" dirty="0"/>
              <a:t> </a:t>
            </a:r>
            <a:r>
              <a:rPr dirty="0"/>
              <a:t>с</a:t>
            </a:r>
            <a:r>
              <a:rPr spc="-75" dirty="0"/>
              <a:t> </a:t>
            </a:r>
            <a:r>
              <a:rPr dirty="0"/>
              <a:t>помощью</a:t>
            </a:r>
            <a:r>
              <a:rPr spc="-35" dirty="0"/>
              <a:t> </a:t>
            </a:r>
            <a:r>
              <a:rPr spc="-10" dirty="0"/>
              <a:t>моделей</a:t>
            </a:r>
            <a:r>
              <a:rPr spc="-40" dirty="0"/>
              <a:t> </a:t>
            </a:r>
            <a:r>
              <a:rPr spc="-10" dirty="0"/>
              <a:t>предсказания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4642" y="1732533"/>
            <a:ext cx="8028940" cy="2708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AutoNum type="arabicParenR"/>
              <a:tabLst>
                <a:tab pos="469265" algn="l"/>
              </a:tabLst>
            </a:pPr>
            <a:r>
              <a:rPr sz="2200" dirty="0">
                <a:latin typeface="Verdana"/>
                <a:cs typeface="Verdana"/>
              </a:rPr>
              <a:t>Некоторые</a:t>
            </a:r>
            <a:r>
              <a:rPr sz="2200" spc="-1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вариации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метода</a:t>
            </a:r>
            <a:r>
              <a:rPr sz="2200" spc="-1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опорных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векторов</a:t>
            </a:r>
            <a:endParaRPr sz="22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</a:pPr>
            <a:r>
              <a:rPr sz="2200" dirty="0">
                <a:latin typeface="Verdana"/>
                <a:cs typeface="Verdana"/>
              </a:rPr>
              <a:t>(SVM)</a:t>
            </a:r>
            <a:r>
              <a:rPr sz="2200" spc="-11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позволяют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находить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выбросы.</a:t>
            </a:r>
            <a:endParaRPr sz="2200">
              <a:latin typeface="Verdana"/>
              <a:cs typeface="Verdana"/>
            </a:endParaRPr>
          </a:p>
          <a:p>
            <a:pPr marL="469900" marR="113664" indent="-457200">
              <a:lnSpc>
                <a:spcPct val="100000"/>
              </a:lnSpc>
              <a:buAutoNum type="arabicParenR" startAt="2"/>
              <a:tabLst>
                <a:tab pos="469900" algn="l"/>
              </a:tabLst>
            </a:pPr>
            <a:r>
              <a:rPr sz="2200" dirty="0">
                <a:latin typeface="Verdana"/>
                <a:cs typeface="Verdana"/>
              </a:rPr>
              <a:t>Вариация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решающих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деревьев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(decision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trees)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под </a:t>
            </a:r>
            <a:r>
              <a:rPr sz="2200" dirty="0">
                <a:latin typeface="Verdana"/>
                <a:cs typeface="Verdana"/>
              </a:rPr>
              <a:t>названием</a:t>
            </a:r>
            <a:r>
              <a:rPr sz="2200" spc="-1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«изолирующий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лес»</a:t>
            </a:r>
            <a:r>
              <a:rPr sz="2200" spc="-1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может</a:t>
            </a:r>
            <a:r>
              <a:rPr sz="2200" spc="-114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искать выбросы.</a:t>
            </a:r>
            <a:endParaRPr sz="2200">
              <a:latin typeface="Verdana"/>
              <a:cs typeface="Verdana"/>
            </a:endParaRPr>
          </a:p>
          <a:p>
            <a:pPr marL="469900" marR="5080" indent="-457200">
              <a:lnSpc>
                <a:spcPct val="100000"/>
              </a:lnSpc>
              <a:spcBef>
                <a:spcPts val="2645"/>
              </a:spcBef>
            </a:pPr>
            <a:r>
              <a:rPr sz="2200" dirty="0">
                <a:latin typeface="Verdana"/>
                <a:cs typeface="Verdana"/>
              </a:rPr>
              <a:t>Подробнее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об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этом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мы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поговорим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на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соответствующих лекциях.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4794" rIns="0" bIns="0" rtlCol="0">
            <a:spAutoFit/>
          </a:bodyPr>
          <a:lstStyle/>
          <a:p>
            <a:pPr marL="840740">
              <a:lnSpc>
                <a:spcPct val="100000"/>
              </a:lnSpc>
              <a:spcBef>
                <a:spcPts val="95"/>
              </a:spcBef>
            </a:pPr>
            <a:r>
              <a:rPr dirty="0"/>
              <a:t>Поиск</a:t>
            </a:r>
            <a:r>
              <a:rPr spc="-70" dirty="0"/>
              <a:t> </a:t>
            </a:r>
            <a:r>
              <a:rPr dirty="0"/>
              <a:t>выбросов</a:t>
            </a:r>
            <a:r>
              <a:rPr spc="-70" dirty="0"/>
              <a:t> </a:t>
            </a:r>
            <a:r>
              <a:rPr dirty="0"/>
              <a:t>с</a:t>
            </a:r>
            <a:r>
              <a:rPr spc="-75" dirty="0"/>
              <a:t> </a:t>
            </a:r>
            <a:r>
              <a:rPr dirty="0"/>
              <a:t>помощью</a:t>
            </a:r>
            <a:r>
              <a:rPr spc="-35" dirty="0"/>
              <a:t> </a:t>
            </a:r>
            <a:r>
              <a:rPr spc="-10" dirty="0"/>
              <a:t>моделей</a:t>
            </a:r>
            <a:r>
              <a:rPr spc="-40" dirty="0"/>
              <a:t> </a:t>
            </a:r>
            <a:r>
              <a:rPr spc="-10" dirty="0"/>
              <a:t>предсказания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4642" y="1732533"/>
            <a:ext cx="7889240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Verdana"/>
                <a:cs typeface="Verdana"/>
              </a:rPr>
              <a:t>3)</a:t>
            </a:r>
            <a:r>
              <a:rPr sz="2200" spc="-1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Можно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запустить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модель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предсказания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признака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spc="-50" dirty="0">
                <a:latin typeface="Verdana"/>
                <a:cs typeface="Verdana"/>
              </a:rPr>
              <a:t>Р </a:t>
            </a:r>
            <a:r>
              <a:rPr sz="2200" dirty="0">
                <a:latin typeface="Verdana"/>
                <a:cs typeface="Verdana"/>
              </a:rPr>
              <a:t>по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другим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признакам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таблицы.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Объекты,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для </a:t>
            </a:r>
            <a:r>
              <a:rPr sz="2200" dirty="0">
                <a:latin typeface="Verdana"/>
                <a:cs typeface="Verdana"/>
              </a:rPr>
              <a:t>которых</a:t>
            </a:r>
            <a:r>
              <a:rPr sz="2200" spc="-120" dirty="0">
                <a:latin typeface="Verdana"/>
                <a:cs typeface="Verdana"/>
              </a:rPr>
              <a:t> </a:t>
            </a:r>
            <a:r>
              <a:rPr sz="2200" spc="-50" dirty="0">
                <a:latin typeface="Verdana"/>
                <a:cs typeface="Verdana"/>
              </a:rPr>
              <a:t>…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4794" rIns="0" bIns="0" rtlCol="0">
            <a:spAutoFit/>
          </a:bodyPr>
          <a:lstStyle/>
          <a:p>
            <a:pPr marL="840740">
              <a:lnSpc>
                <a:spcPct val="100000"/>
              </a:lnSpc>
              <a:spcBef>
                <a:spcPts val="95"/>
              </a:spcBef>
            </a:pPr>
            <a:r>
              <a:rPr dirty="0"/>
              <a:t>Поиск</a:t>
            </a:r>
            <a:r>
              <a:rPr spc="-70" dirty="0"/>
              <a:t> </a:t>
            </a:r>
            <a:r>
              <a:rPr dirty="0"/>
              <a:t>выбросов</a:t>
            </a:r>
            <a:r>
              <a:rPr spc="-70" dirty="0"/>
              <a:t> </a:t>
            </a:r>
            <a:r>
              <a:rPr dirty="0"/>
              <a:t>с</a:t>
            </a:r>
            <a:r>
              <a:rPr spc="-75" dirty="0"/>
              <a:t> </a:t>
            </a:r>
            <a:r>
              <a:rPr dirty="0"/>
              <a:t>помощью</a:t>
            </a:r>
            <a:r>
              <a:rPr spc="-35" dirty="0"/>
              <a:t> </a:t>
            </a:r>
            <a:r>
              <a:rPr spc="-10" dirty="0"/>
              <a:t>моделей</a:t>
            </a:r>
            <a:r>
              <a:rPr spc="-40" dirty="0"/>
              <a:t> </a:t>
            </a:r>
            <a:r>
              <a:rPr spc="-10" dirty="0"/>
              <a:t>предсказания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4642" y="1732533"/>
            <a:ext cx="7889240" cy="1701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Verdana"/>
                <a:cs typeface="Verdana"/>
              </a:rPr>
              <a:t>3)</a:t>
            </a:r>
            <a:r>
              <a:rPr sz="2200" spc="-1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Можно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запустить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модель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предсказания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признака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spc="-50" dirty="0">
                <a:latin typeface="Verdana"/>
                <a:cs typeface="Verdana"/>
              </a:rPr>
              <a:t>Р </a:t>
            </a:r>
            <a:r>
              <a:rPr sz="2200" dirty="0">
                <a:latin typeface="Verdana"/>
                <a:cs typeface="Verdana"/>
              </a:rPr>
              <a:t>по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другим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признакам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таблицы.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Объекты,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для </a:t>
            </a:r>
            <a:r>
              <a:rPr sz="2200" dirty="0">
                <a:latin typeface="Verdana"/>
                <a:cs typeface="Verdana"/>
              </a:rPr>
              <a:t>которых</a:t>
            </a:r>
            <a:r>
              <a:rPr sz="2200" spc="-1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предсказанное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и</a:t>
            </a:r>
            <a:r>
              <a:rPr sz="2200" spc="-1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истинное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значение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spc="-50" dirty="0">
                <a:latin typeface="Verdana"/>
                <a:cs typeface="Verdana"/>
              </a:rPr>
              <a:t>Р </a:t>
            </a:r>
            <a:r>
              <a:rPr sz="2200" dirty="0">
                <a:solidFill>
                  <a:srgbClr val="FF0000"/>
                </a:solidFill>
                <a:latin typeface="Verdana"/>
                <a:cs typeface="Verdana"/>
              </a:rPr>
              <a:t>различаются</a:t>
            </a:r>
            <a:r>
              <a:rPr sz="2200" spc="-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0000"/>
                </a:solidFill>
                <a:latin typeface="Verdana"/>
                <a:cs typeface="Verdana"/>
              </a:rPr>
              <a:t>очень</a:t>
            </a:r>
            <a:r>
              <a:rPr sz="2200" spc="-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0000"/>
                </a:solidFill>
                <a:latin typeface="Verdana"/>
                <a:cs typeface="Verdana"/>
              </a:rPr>
              <a:t>сильно</a:t>
            </a:r>
            <a:r>
              <a:rPr sz="2200" dirty="0">
                <a:latin typeface="Verdana"/>
                <a:cs typeface="Verdana"/>
              </a:rPr>
              <a:t>,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можно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объявить выбросами.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3776" y="2981071"/>
            <a:ext cx="30784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Calibri"/>
                <a:cs typeface="Calibri"/>
              </a:rPr>
              <a:t>Поиск</a:t>
            </a:r>
            <a:r>
              <a:rPr sz="3600" b="1" spc="-25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новизны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4794" rIns="0" bIns="0" rtlCol="0">
            <a:spAutoFit/>
          </a:bodyPr>
          <a:lstStyle/>
          <a:p>
            <a:pPr marL="1012825">
              <a:lnSpc>
                <a:spcPct val="100000"/>
              </a:lnSpc>
              <a:spcBef>
                <a:spcPts val="95"/>
              </a:spcBef>
            </a:pPr>
            <a:r>
              <a:rPr dirty="0"/>
              <a:t>Поиск</a:t>
            </a:r>
            <a:r>
              <a:rPr spc="-45" dirty="0"/>
              <a:t> </a:t>
            </a:r>
            <a:r>
              <a:rPr dirty="0"/>
              <a:t>новизны</a:t>
            </a:r>
            <a:r>
              <a:rPr spc="-55" dirty="0"/>
              <a:t> </a:t>
            </a:r>
            <a:r>
              <a:rPr dirty="0"/>
              <a:t>можно</a:t>
            </a:r>
            <a:r>
              <a:rPr spc="-25" dirty="0"/>
              <a:t> </a:t>
            </a:r>
            <a:r>
              <a:rPr dirty="0"/>
              <a:t>свести</a:t>
            </a:r>
            <a:r>
              <a:rPr spc="-35" dirty="0"/>
              <a:t> </a:t>
            </a:r>
            <a:r>
              <a:rPr dirty="0"/>
              <a:t>к</a:t>
            </a:r>
            <a:r>
              <a:rPr spc="-35" dirty="0"/>
              <a:t> </a:t>
            </a:r>
            <a:r>
              <a:rPr dirty="0"/>
              <a:t>поиску</a:t>
            </a:r>
            <a:r>
              <a:rPr spc="-20" dirty="0"/>
              <a:t> </a:t>
            </a:r>
            <a:r>
              <a:rPr spc="-10" dirty="0"/>
              <a:t>выбросов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4370" y="1444498"/>
            <a:ext cx="7796530" cy="370141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465455">
              <a:lnSpc>
                <a:spcPct val="97800"/>
              </a:lnSpc>
              <a:spcBef>
                <a:spcPts val="155"/>
              </a:spcBef>
            </a:pPr>
            <a:r>
              <a:rPr sz="2200" dirty="0">
                <a:latin typeface="Verdana"/>
                <a:cs typeface="Verdana"/>
              </a:rPr>
              <a:t>(Поиск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новизны)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Есть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множество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объектов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i="1" spc="-25" dirty="0">
                <a:latin typeface="Verdana"/>
                <a:cs typeface="Verdana"/>
              </a:rPr>
              <a:t>М</a:t>
            </a:r>
            <a:r>
              <a:rPr sz="2200" spc="-25" dirty="0">
                <a:latin typeface="Verdana"/>
                <a:cs typeface="Verdana"/>
              </a:rPr>
              <a:t>. </a:t>
            </a:r>
            <a:r>
              <a:rPr sz="2200" dirty="0">
                <a:latin typeface="Verdana"/>
                <a:cs typeface="Verdana"/>
              </a:rPr>
              <a:t>Определить,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является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ли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объект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i="1" dirty="0">
                <a:latin typeface="Verdana"/>
                <a:cs typeface="Verdana"/>
              </a:rPr>
              <a:t>А</a:t>
            </a:r>
            <a:r>
              <a:rPr sz="2300" dirty="0">
                <a:latin typeface="Symbol"/>
                <a:cs typeface="Symbol"/>
              </a:rPr>
              <a:t></a:t>
            </a:r>
            <a:r>
              <a:rPr sz="2200" i="1" dirty="0">
                <a:latin typeface="Verdana"/>
                <a:cs typeface="Verdana"/>
              </a:rPr>
              <a:t>М</a:t>
            </a:r>
            <a:r>
              <a:rPr sz="2200" i="1" spc="-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похожим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на </a:t>
            </a:r>
            <a:r>
              <a:rPr sz="2200" dirty="0">
                <a:latin typeface="Verdana"/>
                <a:cs typeface="Verdana"/>
              </a:rPr>
              <a:t>объекты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из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i="1" dirty="0">
                <a:latin typeface="Verdana"/>
                <a:cs typeface="Verdana"/>
              </a:rPr>
              <a:t>М</a:t>
            </a:r>
            <a:r>
              <a:rPr sz="2200" i="1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или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нет?</a:t>
            </a:r>
            <a:endParaRPr sz="22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2640"/>
              </a:spcBef>
            </a:pPr>
            <a:r>
              <a:rPr sz="2200" dirty="0">
                <a:solidFill>
                  <a:srgbClr val="FF0000"/>
                </a:solidFill>
                <a:latin typeface="Verdana"/>
                <a:cs typeface="Verdana"/>
              </a:rPr>
              <a:t>Переход</a:t>
            </a:r>
            <a:r>
              <a:rPr sz="2200" spc="-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0000"/>
                </a:solidFill>
                <a:latin typeface="Verdana"/>
                <a:cs typeface="Verdana"/>
              </a:rPr>
              <a:t>к</a:t>
            </a:r>
            <a:r>
              <a:rPr sz="2200" spc="-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0000"/>
                </a:solidFill>
                <a:latin typeface="Verdana"/>
                <a:cs typeface="Verdana"/>
              </a:rPr>
              <a:t>поиску</a:t>
            </a:r>
            <a:r>
              <a:rPr sz="2200" spc="-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FF0000"/>
                </a:solidFill>
                <a:latin typeface="Verdana"/>
                <a:cs typeface="Verdana"/>
              </a:rPr>
              <a:t>выбросов</a:t>
            </a:r>
            <a:r>
              <a:rPr sz="2200" dirty="0">
                <a:latin typeface="Verdana"/>
                <a:cs typeface="Verdana"/>
              </a:rPr>
              <a:t>: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добавляем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объект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i="1" dirty="0">
                <a:latin typeface="Verdana"/>
                <a:cs typeface="Verdana"/>
              </a:rPr>
              <a:t>А</a:t>
            </a:r>
            <a:r>
              <a:rPr sz="2200" i="1" spc="-70" dirty="0">
                <a:latin typeface="Verdana"/>
                <a:cs typeface="Verdana"/>
              </a:rPr>
              <a:t> </a:t>
            </a:r>
            <a:r>
              <a:rPr sz="2200" spc="-50" dirty="0">
                <a:latin typeface="Verdana"/>
                <a:cs typeface="Verdana"/>
              </a:rPr>
              <a:t>в </a:t>
            </a:r>
            <a:r>
              <a:rPr sz="2200" dirty="0">
                <a:latin typeface="Verdana"/>
                <a:cs typeface="Verdana"/>
              </a:rPr>
              <a:t>множество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i="1" dirty="0">
                <a:latin typeface="Verdana"/>
                <a:cs typeface="Verdana"/>
              </a:rPr>
              <a:t>М</a:t>
            </a:r>
            <a:r>
              <a:rPr sz="2200" i="1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и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запускаем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алгоритм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поиска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выброса. </a:t>
            </a:r>
            <a:r>
              <a:rPr sz="2200" dirty="0">
                <a:latin typeface="Verdana"/>
                <a:cs typeface="Verdana"/>
              </a:rPr>
              <a:t>Если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i="1" dirty="0">
                <a:latin typeface="Verdana"/>
                <a:cs typeface="Verdana"/>
              </a:rPr>
              <a:t>А</a:t>
            </a:r>
            <a:r>
              <a:rPr sz="2200" i="1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будет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детектирован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как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выброс,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то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i="1" dirty="0">
                <a:latin typeface="Verdana"/>
                <a:cs typeface="Verdana"/>
              </a:rPr>
              <a:t>А</a:t>
            </a:r>
            <a:r>
              <a:rPr sz="2200" i="1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являлся новизной.</a:t>
            </a:r>
            <a:endParaRPr sz="2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2200">
              <a:latin typeface="Verdana"/>
              <a:cs typeface="Verdana"/>
            </a:endParaRPr>
          </a:p>
          <a:p>
            <a:pPr marL="12700" marR="698500">
              <a:lnSpc>
                <a:spcPts val="2540"/>
              </a:lnSpc>
            </a:pPr>
            <a:r>
              <a:rPr sz="2200" dirty="0">
                <a:latin typeface="Verdana"/>
                <a:cs typeface="Verdana"/>
              </a:rPr>
              <a:t>Но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есть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и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алгоритмы,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которые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ищут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новизну,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не </a:t>
            </a:r>
            <a:r>
              <a:rPr sz="2200" dirty="0">
                <a:latin typeface="Verdana"/>
                <a:cs typeface="Verdana"/>
              </a:rPr>
              <a:t>используя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поиск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выбросов.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4370" y="649350"/>
            <a:ext cx="6309995" cy="2820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0555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Calibri"/>
                <a:cs typeface="Calibri"/>
              </a:rPr>
              <a:t>Поиск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новизны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без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поиска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выбросов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2200">
              <a:latin typeface="Calibri"/>
              <a:cs typeface="Calibri"/>
            </a:endParaRPr>
          </a:p>
          <a:p>
            <a:pPr marL="12700" marR="3671570">
              <a:lnSpc>
                <a:spcPct val="99300"/>
              </a:lnSpc>
              <a:spcBef>
                <a:spcPts val="5"/>
              </a:spcBef>
            </a:pPr>
            <a:r>
              <a:rPr sz="2200" dirty="0">
                <a:latin typeface="Verdana"/>
                <a:cs typeface="Verdana"/>
              </a:rPr>
              <a:t>Строим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выпуклую </a:t>
            </a:r>
            <a:r>
              <a:rPr sz="2200" dirty="0">
                <a:latin typeface="Verdana"/>
                <a:cs typeface="Verdana"/>
              </a:rPr>
              <a:t>оболочку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всех </a:t>
            </a:r>
            <a:r>
              <a:rPr sz="2200" dirty="0">
                <a:latin typeface="Verdana"/>
                <a:cs typeface="Verdana"/>
              </a:rPr>
              <a:t>объектов</a:t>
            </a:r>
            <a:r>
              <a:rPr sz="2200" spc="-12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из </a:t>
            </a:r>
            <a:r>
              <a:rPr sz="2200" dirty="0">
                <a:latin typeface="Verdana"/>
                <a:cs typeface="Verdana"/>
              </a:rPr>
              <a:t>выборки.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Объект </a:t>
            </a:r>
            <a:r>
              <a:rPr sz="2200" dirty="0">
                <a:latin typeface="Verdana"/>
                <a:cs typeface="Verdana"/>
              </a:rPr>
              <a:t>А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будет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считаться </a:t>
            </a:r>
            <a:r>
              <a:rPr sz="2200" dirty="0">
                <a:latin typeface="Verdana"/>
                <a:cs typeface="Verdana"/>
              </a:rPr>
              <a:t>новизной,</a:t>
            </a:r>
            <a:r>
              <a:rPr sz="2200" spc="-1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если…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4370" y="649350"/>
            <a:ext cx="6309995" cy="3826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0555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Calibri"/>
                <a:cs typeface="Calibri"/>
              </a:rPr>
              <a:t>Поиск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новизны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без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поиска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выбросов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2200">
              <a:latin typeface="Calibri"/>
              <a:cs typeface="Calibri"/>
            </a:endParaRPr>
          </a:p>
          <a:p>
            <a:pPr marL="12700" marR="3510915">
              <a:lnSpc>
                <a:spcPct val="99600"/>
              </a:lnSpc>
            </a:pPr>
            <a:r>
              <a:rPr sz="2200" dirty="0">
                <a:latin typeface="Verdana"/>
                <a:cs typeface="Verdana"/>
              </a:rPr>
              <a:t>Строим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выпуклую </a:t>
            </a:r>
            <a:r>
              <a:rPr sz="2200" dirty="0">
                <a:latin typeface="Verdana"/>
                <a:cs typeface="Verdana"/>
              </a:rPr>
              <a:t>оболочку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всех </a:t>
            </a:r>
            <a:r>
              <a:rPr sz="2200" dirty="0">
                <a:latin typeface="Verdana"/>
                <a:cs typeface="Verdana"/>
              </a:rPr>
              <a:t>объектов</a:t>
            </a:r>
            <a:r>
              <a:rPr sz="2200" spc="-12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из </a:t>
            </a:r>
            <a:r>
              <a:rPr sz="2200" dirty="0">
                <a:latin typeface="Verdana"/>
                <a:cs typeface="Verdana"/>
              </a:rPr>
              <a:t>выборки.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Объект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spc="-50" dirty="0">
                <a:latin typeface="Verdana"/>
                <a:cs typeface="Verdana"/>
              </a:rPr>
              <a:t>А </a:t>
            </a:r>
            <a:r>
              <a:rPr sz="2200" dirty="0">
                <a:latin typeface="Verdana"/>
                <a:cs typeface="Verdana"/>
              </a:rPr>
              <a:t>будет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считаться </a:t>
            </a:r>
            <a:r>
              <a:rPr sz="2200" dirty="0">
                <a:latin typeface="Verdana"/>
                <a:cs typeface="Verdana"/>
              </a:rPr>
              <a:t>новизной,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если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он </a:t>
            </a:r>
            <a:r>
              <a:rPr sz="2200" dirty="0">
                <a:latin typeface="Verdana"/>
                <a:cs typeface="Verdana"/>
              </a:rPr>
              <a:t>НЕ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попадает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в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эту </a:t>
            </a:r>
            <a:r>
              <a:rPr sz="2200" spc="-10" dirty="0">
                <a:latin typeface="Verdana"/>
                <a:cs typeface="Verdana"/>
              </a:rPr>
              <a:t>выпуклую оболочку.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2083" y="1417851"/>
            <a:ext cx="5002730" cy="4547904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4370" y="649350"/>
            <a:ext cx="7888605" cy="2204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6705" algn="ctr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Calibri"/>
                <a:cs typeface="Calibri"/>
              </a:rPr>
              <a:t>Источники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картинок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и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идей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15"/>
              </a:spcBef>
            </a:pPr>
            <a:endParaRPr sz="2200">
              <a:latin typeface="Calibri"/>
              <a:cs typeface="Calibri"/>
            </a:endParaRPr>
          </a:p>
          <a:p>
            <a:pPr marL="469900" marR="232410" indent="-457200">
              <a:lnSpc>
                <a:spcPct val="100000"/>
              </a:lnSpc>
              <a:buClr>
                <a:srgbClr val="000000"/>
              </a:buClr>
              <a:buAutoNum type="arabicPeriod"/>
              <a:tabLst>
                <a:tab pos="469900" algn="l"/>
              </a:tabLst>
            </a:pPr>
            <a:r>
              <a:rPr sz="22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https://alexanderdyakonov.wordpress.com/2017/04/19/поиск-</a:t>
            </a:r>
            <a:r>
              <a:rPr sz="2200" spc="-2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2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аномалий-</a:t>
            </a:r>
            <a:r>
              <a:rPr sz="22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anomaly-</a:t>
            </a:r>
            <a:r>
              <a:rPr sz="22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detection/</a:t>
            </a:r>
            <a:r>
              <a:rPr sz="22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(отсюда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же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взяты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и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картинки)</a:t>
            </a:r>
            <a:endParaRPr sz="2200">
              <a:latin typeface="Calibri"/>
              <a:cs typeface="Calibri"/>
            </a:endParaRPr>
          </a:p>
          <a:p>
            <a:pPr marL="469265" indent="-456565">
              <a:lnSpc>
                <a:spcPts val="2865"/>
              </a:lnSpc>
              <a:buAutoNum type="arabicPeriod"/>
              <a:tabLst>
                <a:tab pos="469265" algn="l"/>
                <a:tab pos="7346950" algn="l"/>
              </a:tabLst>
            </a:pPr>
            <a:r>
              <a:rPr sz="2400" dirty="0">
                <a:latin typeface="Calibri"/>
                <a:cs typeface="Calibri"/>
              </a:rPr>
              <a:t>Статья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«Cleaning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Chauvenet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Way»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Lily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Lin,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0" dirty="0">
                <a:latin typeface="Calibri"/>
                <a:cs typeface="Calibri"/>
              </a:rPr>
              <a:t>Paul</a:t>
            </a:r>
            <a:endParaRPr sz="24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Sherman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1774</Words>
  <Application>Microsoft Office PowerPoint</Application>
  <PresentationFormat>Экран (4:3)</PresentationFormat>
  <Paragraphs>194</Paragraphs>
  <Slides>45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45</vt:i4>
      </vt:variant>
    </vt:vector>
  </HeadingPairs>
  <TitlesOfParts>
    <vt:vector size="50" baseType="lpstr">
      <vt:lpstr>Calibri</vt:lpstr>
      <vt:lpstr>Symbol</vt:lpstr>
      <vt:lpstr>Times New Roman</vt:lpstr>
      <vt:lpstr>Verdana</vt:lpstr>
      <vt:lpstr>Office Theme</vt:lpstr>
      <vt:lpstr>Поиск выбросов и аномалий</vt:lpstr>
      <vt:lpstr>Напоминаю определения</vt:lpstr>
      <vt:lpstr>Отличие выбросов от новизны и пропусков</vt:lpstr>
      <vt:lpstr>Примеры выбросов</vt:lpstr>
      <vt:lpstr>Примеры выбросов</vt:lpstr>
      <vt:lpstr>Зачем нужно искать и уничтожать выбросы?</vt:lpstr>
      <vt:lpstr>Идеальных методов обнаружения выбросов не бывает потому, что</vt:lpstr>
      <vt:lpstr>Методы обнаружения выбросов</vt:lpstr>
      <vt:lpstr>Методы обнаружения выбросов</vt:lpstr>
      <vt:lpstr>Методы, анализирующие признаки по отдельности</vt:lpstr>
      <vt:lpstr>Методы, анализирующие один признак</vt:lpstr>
      <vt:lpstr>Простейшие методы</vt:lpstr>
      <vt:lpstr>Пожалуй, самое простое правило для определения выброса</vt:lpstr>
      <vt:lpstr>Критерий Шовене (Chauvenet)</vt:lpstr>
      <vt:lpstr>Критерий Шовене (Chauvenet)</vt:lpstr>
      <vt:lpstr>Критерий Шовене (Chauvenet)</vt:lpstr>
      <vt:lpstr>Пример</vt:lpstr>
      <vt:lpstr>Пример</vt:lpstr>
      <vt:lpstr>Пример (вторая итерация)</vt:lpstr>
      <vt:lpstr>Пример (вторая итерация)</vt:lpstr>
      <vt:lpstr>Пример (третья итерация)</vt:lpstr>
      <vt:lpstr>Настройка критерия Шовене</vt:lpstr>
      <vt:lpstr>Поиск выбросов без использования среднего и отклонения</vt:lpstr>
      <vt:lpstr>Философское затруднение</vt:lpstr>
      <vt:lpstr>Критерий, основанный на квартилях выборки</vt:lpstr>
      <vt:lpstr>Критерий, основанный на квартилях выборки</vt:lpstr>
      <vt:lpstr>Презентация PowerPoint</vt:lpstr>
      <vt:lpstr>Поиск выбросов с помощью квартилей</vt:lpstr>
      <vt:lpstr>Методы, анализирующие несколько признаков</vt:lpstr>
      <vt:lpstr>Недостатки методов, которые анализируют 1 признак (1-й недостаток)</vt:lpstr>
      <vt:lpstr>Недостатки методов, которые анализируют 1 признак (2-й недостаток)</vt:lpstr>
      <vt:lpstr>Метрические методы</vt:lpstr>
      <vt:lpstr>Метрические методы</vt:lpstr>
      <vt:lpstr>Геометрические методы</vt:lpstr>
      <vt:lpstr>Геометрические методы</vt:lpstr>
      <vt:lpstr>Презентация PowerPoint</vt:lpstr>
      <vt:lpstr>Презентация PowerPoint</vt:lpstr>
      <vt:lpstr>Поиск выбросов с помощью моделей предсказания</vt:lpstr>
      <vt:lpstr>Поиск выбросов с помощью моделей предсказания</vt:lpstr>
      <vt:lpstr>Поиск выбросов с помощью моделей предсказания</vt:lpstr>
      <vt:lpstr>Поиск новизны</vt:lpstr>
      <vt:lpstr>Поиск новизны можно свести к поиску выбросов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Представление данных и восстановление пропущенных значений</dc:title>
  <dc:creator>DIPLODOK</dc:creator>
  <cp:lastModifiedBy>Екатерина Сырых</cp:lastModifiedBy>
  <cp:revision>1</cp:revision>
  <dcterms:created xsi:type="dcterms:W3CDTF">2025-09-02T10:01:24Z</dcterms:created>
  <dcterms:modified xsi:type="dcterms:W3CDTF">2025-09-02T10:06:06Z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2018-04-03T00:00:00Z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2025-09-02T00:00:00Z</vt:filetime>
  </property>
  <property fmtid="{D5CDD505-2E9C-101B-9397-08002B2CF9AE}" pid="5" name="Producer">
    <vt:lpwstr>Microsoft® Office PowerPoint® 2007</vt:lpwstr>
  </property>
</Properties>
</file>