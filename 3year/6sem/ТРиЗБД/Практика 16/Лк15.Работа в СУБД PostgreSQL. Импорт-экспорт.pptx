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39"/>
  </p:notesMasterIdLst>
  <p:sldIdLst>
    <p:sldId id="256" r:id="rId2"/>
    <p:sldId id="470" r:id="rId3"/>
    <p:sldId id="471" r:id="rId4"/>
    <p:sldId id="472" r:id="rId5"/>
    <p:sldId id="473" r:id="rId6"/>
    <p:sldId id="484" r:id="rId7"/>
    <p:sldId id="474" r:id="rId8"/>
    <p:sldId id="475" r:id="rId9"/>
    <p:sldId id="476" r:id="rId10"/>
    <p:sldId id="478" r:id="rId11"/>
    <p:sldId id="477" r:id="rId12"/>
    <p:sldId id="479" r:id="rId13"/>
    <p:sldId id="480" r:id="rId14"/>
    <p:sldId id="481" r:id="rId15"/>
    <p:sldId id="482" r:id="rId16"/>
    <p:sldId id="483" r:id="rId17"/>
    <p:sldId id="485" r:id="rId18"/>
    <p:sldId id="486" r:id="rId19"/>
    <p:sldId id="487" r:id="rId20"/>
    <p:sldId id="488" r:id="rId21"/>
    <p:sldId id="489" r:id="rId22"/>
    <p:sldId id="490" r:id="rId23"/>
    <p:sldId id="491" r:id="rId24"/>
    <p:sldId id="492" r:id="rId25"/>
    <p:sldId id="493" r:id="rId26"/>
    <p:sldId id="494" r:id="rId27"/>
    <p:sldId id="495" r:id="rId28"/>
    <p:sldId id="496" r:id="rId29"/>
    <p:sldId id="497" r:id="rId30"/>
    <p:sldId id="498" r:id="rId31"/>
    <p:sldId id="499" r:id="rId32"/>
    <p:sldId id="500" r:id="rId33"/>
    <p:sldId id="501" r:id="rId34"/>
    <p:sldId id="502" r:id="rId35"/>
    <p:sldId id="503" r:id="rId36"/>
    <p:sldId id="504" r:id="rId37"/>
    <p:sldId id="505" r:id="rId3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61F56C04-1E6A-499F-8FC6-37EF0242BEAC}">
          <p14:sldIdLst>
            <p14:sldId id="256"/>
            <p14:sldId id="470"/>
            <p14:sldId id="471"/>
            <p14:sldId id="472"/>
            <p14:sldId id="473"/>
            <p14:sldId id="484"/>
            <p14:sldId id="474"/>
            <p14:sldId id="475"/>
            <p14:sldId id="476"/>
            <p14:sldId id="478"/>
            <p14:sldId id="477"/>
            <p14:sldId id="479"/>
            <p14:sldId id="480"/>
            <p14:sldId id="481"/>
            <p14:sldId id="482"/>
            <p14:sldId id="483"/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95226" autoAdjust="0"/>
  </p:normalViewPr>
  <p:slideViewPr>
    <p:cSldViewPr snapToGrid="0">
      <p:cViewPr varScale="1">
        <p:scale>
          <a:sx n="38" d="100"/>
          <a:sy n="38" d="100"/>
        </p:scale>
        <p:origin x="68" y="7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E378E-659C-4EB9-8642-6C4EA1063688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10A4D-D053-4DAC-8743-2FCCBDE19D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78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https://www.firststeps.ru/sql/PostgreSQL/r.php?51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10A4D-D053-4DAC-8743-2FCCBDE19D6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246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1/18/2026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724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545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1/18/2026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1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664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04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5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1/18/2026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980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1/18/2026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55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1/18/2026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519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707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53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323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55" r:id="rId6"/>
    <p:sldLayoutId id="2147483751" r:id="rId7"/>
    <p:sldLayoutId id="2147483752" r:id="rId8"/>
    <p:sldLayoutId id="2147483753" r:id="rId9"/>
    <p:sldLayoutId id="2147483754" r:id="rId10"/>
    <p:sldLayoutId id="2147483756" r:id="rId1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yandex.ru/video/preview/15558037340406767576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yandex.ru/video/preview/10501225829521293027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13CD7F-736E-4AF7-AB2B-473CAA9E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2088" y="-2732"/>
            <a:ext cx="4626864" cy="157678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263F21-FD5C-49D9-B5D3-5B94A4C99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16941"/>
            <a:ext cx="1000102" cy="357283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Изображение выглядит как снег&#10;&#10;Автоматически созданное описание">
            <a:extLst>
              <a:ext uri="{FF2B5EF4-FFF2-40B4-BE49-F238E27FC236}">
                <a16:creationId xmlns:a16="http://schemas.microsoft.com/office/drawing/2014/main" id="{EB2936F1-C52B-444F-AC75-364A0007C1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30" r="-2" b="-2"/>
          <a:stretch/>
        </p:blipFill>
        <p:spPr>
          <a:xfrm>
            <a:off x="7541111" y="1637130"/>
            <a:ext cx="4650889" cy="354787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75FEE01-7E1C-48BD-8FD4-2790F781F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0102" y="1616941"/>
            <a:ext cx="6547110" cy="35728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B1D86C-018D-45B8-A8B0-5D8108B71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5103" y="1936224"/>
            <a:ext cx="5516324" cy="2934270"/>
          </a:xfrm>
        </p:spPr>
        <p:txBody>
          <a:bodyPr>
            <a:normAutofit fontScale="90000"/>
          </a:bodyPr>
          <a:lstStyle/>
          <a:p>
            <a:r>
              <a:rPr lang="ru-RU" sz="5000" b="1" dirty="0">
                <a:solidFill>
                  <a:schemeClr val="bg1"/>
                </a:solidFill>
              </a:rPr>
              <a:t>Работа в СУБД </a:t>
            </a:r>
            <a:r>
              <a:rPr lang="en-US" sz="5000" b="1" dirty="0">
                <a:solidFill>
                  <a:schemeClr val="bg1"/>
                </a:solidFill>
              </a:rPr>
              <a:t>PostgreSQL</a:t>
            </a:r>
            <a:endParaRPr lang="ru-RU" sz="5000" b="1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598E82-FBBE-4514-AC7D-75D1347F8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254388"/>
            <a:ext cx="7498081" cy="159725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60334A-DA67-4A93-AC25-1D648CB26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548" y="5232667"/>
            <a:ext cx="7086008" cy="1618977"/>
          </a:xfrm>
        </p:spPr>
        <p:txBody>
          <a:bodyPr anchor="t">
            <a:normAutofit/>
          </a:bodyPr>
          <a:lstStyle/>
          <a:p>
            <a:pPr>
              <a:tabLst>
                <a:tab pos="6819900" algn="r"/>
              </a:tabLst>
            </a:pPr>
            <a:r>
              <a:rPr lang="ru-RU" sz="2000" dirty="0"/>
              <a:t>Импорт и экспорт данных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D36EA07-E1C7-4DE1-B196-FBCA4D1A0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57405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C17599-20C8-4B64-8853-7E2891FC7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9808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2B342F4-B533-4771-B828-654C36158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517705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C7860A0-DE58-4AD6-B7A0-6A1F8ED67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4374" y="125963"/>
            <a:ext cx="120015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54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6FB6E2-EB14-616F-AFBE-681CF9E6D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42E828-8FF2-28E7-390F-2E21EC847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Импорт и экспорт данных базы данных PostgreSQL</a:t>
            </a:r>
            <a:r>
              <a:rPr lang="ru-RU" b="0" dirty="0"/>
              <a:t> — это операции, которые позволяют переносить данные между разными средами, например, из одной базы данных в другую или из одной среды в другую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6533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557494-94DC-7672-4DE1-31C880F0D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CA4B63-2880-3A38-24B4-78A04CD6E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dirty="0"/>
              <a:t>В PostgreSQL используются специализированные инструменты, такие как </a:t>
            </a:r>
            <a:r>
              <a:rPr lang="ru-RU" dirty="0"/>
              <a:t>COPY-команда</a:t>
            </a:r>
            <a:r>
              <a:rPr lang="ru-RU" b="0" dirty="0"/>
              <a:t> для импорта данных и </a:t>
            </a:r>
            <a:r>
              <a:rPr lang="ru-RU" dirty="0" err="1"/>
              <a:t>pg_dump</a:t>
            </a:r>
            <a:r>
              <a:rPr lang="ru-RU" b="0" dirty="0"/>
              <a:t> для экспорта</a:t>
            </a:r>
          </a:p>
          <a:p>
            <a:endParaRPr lang="ru-RU" b="0" dirty="0"/>
          </a:p>
          <a:p>
            <a:r>
              <a:rPr lang="en-US" b="0" dirty="0" err="1"/>
              <a:t>psql</a:t>
            </a:r>
            <a:r>
              <a:rPr lang="en-US" b="0" dirty="0"/>
              <a:t> -U username -d </a:t>
            </a:r>
            <a:r>
              <a:rPr lang="en-US" b="0" dirty="0" err="1"/>
              <a:t>dbname</a:t>
            </a:r>
            <a:r>
              <a:rPr lang="en-US" b="0" dirty="0"/>
              <a:t> -f </a:t>
            </a:r>
            <a:r>
              <a:rPr lang="en-US" b="0" dirty="0" err="1"/>
              <a:t>backup.sql</a:t>
            </a:r>
            <a:endParaRPr lang="en-US" b="0" dirty="0"/>
          </a:p>
          <a:p>
            <a:endParaRPr lang="ru-RU" b="0" dirty="0"/>
          </a:p>
          <a:p>
            <a:r>
              <a:rPr lang="en-US" b="0" dirty="0" err="1"/>
              <a:t>pg_dump</a:t>
            </a:r>
            <a:r>
              <a:rPr lang="en-US" b="0" dirty="0"/>
              <a:t> -U username -d </a:t>
            </a:r>
            <a:r>
              <a:rPr lang="en-US" b="0" dirty="0" err="1"/>
              <a:t>dbname</a:t>
            </a:r>
            <a:r>
              <a:rPr lang="en-US" b="0" dirty="0"/>
              <a:t> -f </a:t>
            </a:r>
            <a:r>
              <a:rPr lang="en-US" b="0" dirty="0" err="1"/>
              <a:t>backup.sql</a:t>
            </a:r>
            <a:endParaRPr lang="en-US" b="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616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15C0C-D655-CA0B-9516-A1603FE37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Импорт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162431-812F-0B73-5041-590BC0027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663" y="705113"/>
            <a:ext cx="6248420" cy="556710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Импорт данных в базу данных PostgreSQL</a:t>
            </a:r>
            <a:r>
              <a:rPr lang="ru-RU" b="0" dirty="0"/>
              <a:t> может осуществляться из разных форматов, например:</a:t>
            </a:r>
          </a:p>
          <a:p>
            <a:r>
              <a:rPr lang="ru-RU" dirty="0"/>
              <a:t>SQL-скриптов</a:t>
            </a:r>
            <a:r>
              <a:rPr lang="ru-RU" b="0" dirty="0"/>
              <a:t> — содержат последовательность команд на языке SQL, которые выполняются в PostgreSQL для воссоздания структуры базы данных и заполнения таблиц.</a:t>
            </a:r>
          </a:p>
          <a:p>
            <a:r>
              <a:rPr lang="ru-RU" dirty="0"/>
              <a:t>CSV-файлов</a:t>
            </a:r>
            <a:r>
              <a:rPr lang="ru-RU" b="0" dirty="0"/>
              <a:t> — часто используются при миграции данных из других СУБД или при интеграции с внешними источниками данных. Для импорта CSV-файла используется команда </a:t>
            </a:r>
            <a:r>
              <a:rPr lang="ru-RU" dirty="0"/>
              <a:t>COPY</a:t>
            </a:r>
            <a:r>
              <a:rPr lang="ru-RU" b="0" dirty="0"/>
              <a:t>, которая работает напрямую с сервером PostgreSQL.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469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B7ED67-E163-49E6-7C21-8510B55E2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771920" cy="5197498"/>
          </a:xfrm>
        </p:spPr>
        <p:txBody>
          <a:bodyPr/>
          <a:lstStyle/>
          <a:p>
            <a:r>
              <a:rPr lang="ru-RU" dirty="0"/>
              <a:t>Особенности импорта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EAF7EF-E209-93F7-9103-D1B17180F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3488" y="705113"/>
            <a:ext cx="6505595" cy="5197497"/>
          </a:xfrm>
        </p:spPr>
        <p:txBody>
          <a:bodyPr/>
          <a:lstStyle/>
          <a:p>
            <a:r>
              <a:rPr lang="ru-RU" b="0" dirty="0"/>
              <a:t>Важно убедиться, что файл соответствует требованиям: корректный разделитель полей (по умолчанию запятая), правильная кодировка (обычно UTF-8) и согласованность формата данных в каждом столбце.</a:t>
            </a:r>
          </a:p>
          <a:p>
            <a:r>
              <a:rPr lang="ru-RU" b="0" dirty="0"/>
              <a:t>Команда COPY требует, чтобы файл находился на сервере базы данных, что может быть проблематично в некоторых конфигурациях.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A0A6B-A6D9-66AF-A637-2C407C878062}"/>
              </a:ext>
            </a:extLst>
          </p:cNvPr>
          <p:cNvSpPr txBox="1"/>
          <p:nvPr/>
        </p:nvSpPr>
        <p:spPr>
          <a:xfrm>
            <a:off x="5561410" y="5440945"/>
            <a:ext cx="60936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2"/>
              </a:rPr>
              <a:t>Импорт базы данных в PostgreSQL. Изучение структуры базы данных - смотреть онлайн в поиске Яндекса по Видео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682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5C480-E785-66BC-710F-C96CC2A2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/>
              <a:t>Импорт CSV через /</a:t>
            </a:r>
            <a:r>
              <a:rPr lang="ru-RU" b="0" dirty="0" err="1"/>
              <a:t>copy</a:t>
            </a:r>
            <a:r>
              <a:rPr lang="ru-RU" b="0" dirty="0"/>
              <a:t> в </a:t>
            </a:r>
            <a:r>
              <a:rPr lang="ru-RU" b="0" dirty="0" err="1"/>
              <a:t>psql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D37AAB-18A3-ECD9-A918-520CB6EB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\copy </a:t>
            </a:r>
            <a:r>
              <a:rPr lang="en-US" b="0" dirty="0" err="1"/>
              <a:t>table_name</a:t>
            </a:r>
            <a:r>
              <a:rPr lang="en-US" b="0" dirty="0"/>
              <a:t> FROM '/path/to/file.csv' DELIMITER ',' CSV HEADER;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8651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1B1965-8BC0-FE05-A210-CECCA2881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Экспорт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1E76E4-CFA3-C663-EBF1-5A559A5B4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Экспорт данных из базы данных </a:t>
            </a:r>
            <a:r>
              <a:rPr lang="en-US" dirty="0"/>
              <a:t>PostgreSQL</a:t>
            </a:r>
            <a:r>
              <a:rPr lang="en-US" b="0" dirty="0"/>
              <a:t> </a:t>
            </a:r>
            <a:r>
              <a:rPr lang="ru-RU" b="0" dirty="0"/>
              <a:t>может осуществляться в разные форматы, например:</a:t>
            </a:r>
          </a:p>
          <a:p>
            <a:r>
              <a:rPr lang="en-US" dirty="0"/>
              <a:t>CSV</a:t>
            </a:r>
            <a:r>
              <a:rPr lang="en-US" b="0" dirty="0"/>
              <a:t> — </a:t>
            </a:r>
            <a:r>
              <a:rPr lang="ru-RU" b="0" dirty="0"/>
              <a:t>для полной таблицы используется команда </a:t>
            </a:r>
            <a:r>
              <a:rPr lang="en-US" dirty="0"/>
              <a:t>COPY [Table Name] TO '[File Name]' DELIMITER ',' CSV HEADER</a:t>
            </a:r>
            <a:r>
              <a:rPr lang="en-US" b="0" dirty="0"/>
              <a:t>.</a:t>
            </a:r>
          </a:p>
          <a:p>
            <a:r>
              <a:rPr lang="ru-RU" dirty="0"/>
              <a:t>Результаты запроса</a:t>
            </a:r>
            <a:r>
              <a:rPr lang="ru-RU" b="0" dirty="0"/>
              <a:t> — для экспорта результатов запроса используется формат </a:t>
            </a:r>
            <a:r>
              <a:rPr lang="en-US" dirty="0"/>
              <a:t>COPY ([Query]) TO '[File Name]' DELIMITER ',' CSV HEADER</a:t>
            </a:r>
            <a:endParaRPr lang="en-US" b="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5163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F7B50A-F6E0-13DD-D732-2A87C25F8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757632" cy="5197498"/>
          </a:xfrm>
        </p:spPr>
        <p:txBody>
          <a:bodyPr/>
          <a:lstStyle/>
          <a:p>
            <a:r>
              <a:rPr lang="ru-RU" dirty="0"/>
              <a:t>Особенности экспорта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D75560-03AC-FFA4-8B90-E847EED43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dirty="0"/>
              <a:t>Можно экспортировать не полностью всю таблицу, а лишь некоторые данные, соответствующие условию.</a:t>
            </a:r>
          </a:p>
          <a:p>
            <a:r>
              <a:rPr lang="ru-RU" b="0" dirty="0"/>
              <a:t>Есть возможность контролировать выход: например, экспортировать только данные, но исключить DDL (заявления SQL, которые определяют схему базы данных).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738C92-DCA9-E1D0-5802-1EACB5FD8916}"/>
              </a:ext>
            </a:extLst>
          </p:cNvPr>
          <p:cNvSpPr txBox="1"/>
          <p:nvPr/>
        </p:nvSpPr>
        <p:spPr>
          <a:xfrm>
            <a:off x="5319521" y="5440945"/>
            <a:ext cx="60936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2"/>
              </a:rPr>
              <a:t>Экспорт данных из базы </a:t>
            </a:r>
            <a:r>
              <a:rPr lang="ru-RU" dirty="0" err="1">
                <a:hlinkClick r:id="rId2"/>
              </a:rPr>
              <a:t>postgreSQL</a:t>
            </a:r>
            <a:r>
              <a:rPr lang="ru-RU" dirty="0">
                <a:hlinkClick r:id="rId2"/>
              </a:rPr>
              <a:t> в виде SQL-команд и дампа - смотреть онлайн в поиске Яндекса по Видео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7463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233004-F398-4FEB-10A9-17E1A050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2552437"/>
          </a:xfrm>
        </p:spPr>
        <p:txBody>
          <a:bodyPr>
            <a:normAutofit fontScale="90000"/>
          </a:bodyPr>
          <a:lstStyle/>
          <a:p>
            <a:r>
              <a:rPr lang="ru-RU" dirty="0"/>
              <a:t>Получить список всех таблиц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E5B064-92BB-43DE-A585-3123DE413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02" y="3429000"/>
            <a:ext cx="4511004" cy="3323963"/>
          </a:xfrm>
        </p:spPr>
        <p:txBody>
          <a:bodyPr>
            <a:normAutofit fontScale="92500"/>
          </a:bodyPr>
          <a:lstStyle/>
          <a:p>
            <a:r>
              <a:rPr lang="en-US" dirty="0"/>
              <a:t>SELECT </a:t>
            </a:r>
            <a:r>
              <a:rPr lang="en-US" dirty="0" err="1"/>
              <a:t>table_name</a:t>
            </a:r>
            <a:r>
              <a:rPr lang="en-US" dirty="0"/>
              <a:t> </a:t>
            </a:r>
          </a:p>
          <a:p>
            <a:r>
              <a:rPr lang="en-US" dirty="0"/>
              <a:t>FROM </a:t>
            </a:r>
            <a:r>
              <a:rPr lang="en-US" dirty="0" err="1"/>
              <a:t>information_schema.tables</a:t>
            </a:r>
            <a:r>
              <a:rPr lang="en-US" dirty="0"/>
              <a:t> </a:t>
            </a:r>
          </a:p>
          <a:p>
            <a:r>
              <a:rPr lang="en-US" dirty="0"/>
              <a:t>WHERE </a:t>
            </a:r>
            <a:r>
              <a:rPr lang="en-US" dirty="0" err="1"/>
              <a:t>table_schema</a:t>
            </a:r>
            <a:r>
              <a:rPr lang="en-US" dirty="0"/>
              <a:t> = 'stud1' </a:t>
            </a:r>
          </a:p>
          <a:p>
            <a:r>
              <a:rPr lang="en-US" dirty="0"/>
              <a:t>AND </a:t>
            </a:r>
            <a:r>
              <a:rPr lang="en-US" dirty="0" err="1"/>
              <a:t>table_type</a:t>
            </a:r>
            <a:r>
              <a:rPr lang="en-US" dirty="0"/>
              <a:t> = 'BASE TABLE'</a:t>
            </a:r>
          </a:p>
          <a:p>
            <a:r>
              <a:rPr lang="en-US" dirty="0"/>
              <a:t>ORDER BY </a:t>
            </a:r>
            <a:r>
              <a:rPr lang="en-US" dirty="0" err="1"/>
              <a:t>table_name</a:t>
            </a:r>
            <a:r>
              <a:rPr lang="en-US" dirty="0"/>
              <a:t>;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01F073-A6F9-5CCD-C3EF-EF7310BF5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905" y="149929"/>
            <a:ext cx="6172412" cy="263613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088A8C9-4E12-59DA-C24B-FFD0406A6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920" y="3257550"/>
            <a:ext cx="4372585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817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7882E9-9797-559D-037E-5FE85873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для генерации CREATE TABLE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0D69110-5E35-804E-C559-2B9A9C9C8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131"/>
          <a:stretch>
            <a:fillRect/>
          </a:stretch>
        </p:blipFill>
        <p:spPr>
          <a:xfrm>
            <a:off x="5051011" y="139981"/>
            <a:ext cx="5978939" cy="281248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CF151E-F541-87BA-542C-9BCE21A93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837" y="2952467"/>
            <a:ext cx="5338763" cy="368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502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13CD7F-736E-4AF7-AB2B-473CAA9E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EDA2F5-6B28-478B-9AC4-43FE41E2B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916907"/>
            <a:ext cx="12192000" cy="23740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E27046-3262-AF96-8E46-4AF89A5B0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02" y="4153113"/>
            <a:ext cx="9180747" cy="1248431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15000"/>
              </a:lnSpc>
            </a:pPr>
            <a:r>
              <a:rPr lang="en-US" sz="2600" b="0" cap="all">
                <a:solidFill>
                  <a:schemeClr val="bg1"/>
                </a:solidFill>
              </a:rPr>
              <a:t>Для конкретной таблицы получить DDL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1D712E-ABB9-4258-877D-9349C8577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979202"/>
            <a:ext cx="1006766" cy="2249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528E56-1447-4C98-882B-CE2627950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Объект 4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FCF327-23BC-D393-38FC-7EFF30C87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5102" y="1048835"/>
            <a:ext cx="10072264" cy="18633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A84859-147D-AB9F-AA8B-7BAD089E0DD7}"/>
              </a:ext>
            </a:extLst>
          </p:cNvPr>
          <p:cNvSpPr txBox="1"/>
          <p:nvPr/>
        </p:nvSpPr>
        <p:spPr>
          <a:xfrm>
            <a:off x="3046810" y="3244334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get_table_ddl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'stud1'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'orders'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7142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C4532C-FB1D-F39C-C57D-B0FCD0E23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для генерации вставки записей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418381-1E14-97EA-5D9A-5C9248BA5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9FCA77-0E44-9158-6970-BF6003CB3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777" y="1371600"/>
            <a:ext cx="7330918" cy="426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918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EBABBE-C96B-1812-F1FF-AA52BBDFE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каждой таблицы: структура + данные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209C3CA-0CF5-F144-1270-ED15F74D6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52828" y="1212558"/>
            <a:ext cx="4620270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255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C4D98-DCBF-7AC5-2277-8E47A303D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8D2E2-AF65-BE19-97E4-CB8322DF6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каждой таблицы: структура + данные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B2DA004-17D9-9C58-801B-BF3CD642C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6863" y="775655"/>
            <a:ext cx="6172200" cy="505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943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0A543-0E67-57EE-DA7F-B0A9C9C9A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0A3818-2834-A0D7-3999-4246BC928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каждой таблицы: структура + данные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532365A-593F-255E-EFB5-2FFB4D3AFE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6863" y="810825"/>
            <a:ext cx="6172200" cy="498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874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0531BC-8D38-2FE5-998B-745AF29C8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4" y="705113"/>
            <a:ext cx="3726278" cy="5197498"/>
          </a:xfrm>
        </p:spPr>
        <p:txBody>
          <a:bodyPr/>
          <a:lstStyle/>
          <a:p>
            <a:r>
              <a:rPr lang="ru-RU" dirty="0"/>
              <a:t>Полученный результат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91E30E-6E73-906C-6C90-A7A696C30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15C4AB0B-8E75-A6FA-14CC-9F723FC8F7A8}"/>
              </a:ext>
            </a:extLst>
          </p:cNvPr>
          <p:cNvGrpSpPr/>
          <p:nvPr/>
        </p:nvGrpSpPr>
        <p:grpSpPr>
          <a:xfrm>
            <a:off x="0" y="0"/>
            <a:ext cx="12192000" cy="6792556"/>
            <a:chOff x="0" y="0"/>
            <a:chExt cx="12192000" cy="6792556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34FFF2F7-7FA2-C03C-F6F3-2859F959F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005739" cy="5867137"/>
            </a:xfrm>
            <a:prstGeom prst="rect">
              <a:avLst/>
            </a:prstGeom>
          </p:spPr>
        </p:pic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FA8F5D64-7D74-422F-220D-E6255A4A9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877483"/>
              <a:ext cx="12192000" cy="9150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7164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0E4BA-2B6B-9948-18D5-830FD5432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4" y="705113"/>
            <a:ext cx="4470400" cy="5197498"/>
          </a:xfrm>
        </p:spPr>
        <p:txBody>
          <a:bodyPr>
            <a:normAutofit/>
          </a:bodyPr>
          <a:lstStyle/>
          <a:p>
            <a:r>
              <a:rPr lang="ru-RU" dirty="0"/>
              <a:t>Проблемы с кодировками и спецсимволами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E3F881-071D-3199-4E5E-70FB5C533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Основные причины проблем:</a:t>
            </a:r>
          </a:p>
          <a:p>
            <a:r>
              <a:rPr lang="ru-RU" dirty="0"/>
              <a:t>Несовпадение кодировок</a:t>
            </a:r>
            <a:r>
              <a:rPr lang="ru-RU" b="0" dirty="0"/>
              <a:t> между источником данных и БД</a:t>
            </a:r>
          </a:p>
          <a:p>
            <a:r>
              <a:rPr lang="ru-RU" dirty="0"/>
              <a:t>Неправильные настройки клиента</a:t>
            </a:r>
            <a:r>
              <a:rPr lang="ru-RU" b="0" dirty="0"/>
              <a:t> (</a:t>
            </a:r>
            <a:r>
              <a:rPr lang="ru-RU" b="0" dirty="0" err="1"/>
              <a:t>psql</a:t>
            </a:r>
            <a:r>
              <a:rPr lang="ru-RU" b="0" dirty="0"/>
              <a:t>, </a:t>
            </a:r>
            <a:r>
              <a:rPr lang="ru-RU" b="0" dirty="0" err="1"/>
              <a:t>pgAdmin</a:t>
            </a:r>
            <a:r>
              <a:rPr lang="ru-RU" b="0" dirty="0"/>
              <a:t>, приложение)</a:t>
            </a:r>
          </a:p>
          <a:p>
            <a:r>
              <a:rPr lang="ru-RU" dirty="0"/>
              <a:t>Ошибки при импорте/экспорте</a:t>
            </a:r>
            <a:r>
              <a:rPr lang="ru-RU" b="0" dirty="0"/>
              <a:t> файлов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9939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9042C-EE57-5315-74D7-2F34EC63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текущих настроек кодировки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EE2AB0-5126-2235-1B5B-4EAB7F214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600" y="705113"/>
            <a:ext cx="6621483" cy="5197498"/>
          </a:xfrm>
        </p:spPr>
        <p:txBody>
          <a:bodyPr>
            <a:normAutofit/>
          </a:bodyPr>
          <a:lstStyle/>
          <a:p>
            <a:pPr latinLnBrk="1"/>
            <a:r>
              <a:rPr lang="ru-RU" b="0" i="1" dirty="0"/>
              <a:t>-- Показать кодировку текущей БД</a:t>
            </a:r>
            <a:endParaRPr lang="ru-RU" b="0" dirty="0"/>
          </a:p>
          <a:p>
            <a:pPr latinLnBrk="1"/>
            <a:r>
              <a:rPr lang="en-US" b="0" dirty="0"/>
              <a:t>SELECT </a:t>
            </a:r>
            <a:r>
              <a:rPr lang="en-US" b="0" dirty="0" err="1"/>
              <a:t>datname</a:t>
            </a:r>
            <a:r>
              <a:rPr lang="en-US" b="0" dirty="0"/>
              <a:t>, </a:t>
            </a:r>
            <a:r>
              <a:rPr lang="en-US" b="0" dirty="0" err="1"/>
              <a:t>datcollate</a:t>
            </a:r>
            <a:r>
              <a:rPr lang="en-US" b="0" dirty="0"/>
              <a:t>, </a:t>
            </a:r>
            <a:r>
              <a:rPr lang="en-US" b="0" dirty="0" err="1"/>
              <a:t>datctype</a:t>
            </a:r>
            <a:r>
              <a:rPr lang="en-US" b="0" dirty="0"/>
              <a:t>, encoding</a:t>
            </a:r>
          </a:p>
          <a:p>
            <a:pPr latinLnBrk="1"/>
            <a:r>
              <a:rPr lang="en-US" b="0" dirty="0"/>
              <a:t>FROM </a:t>
            </a:r>
            <a:r>
              <a:rPr lang="en-US" b="0" dirty="0" err="1"/>
              <a:t>pg_database</a:t>
            </a:r>
            <a:r>
              <a:rPr lang="en-US" b="0" dirty="0"/>
              <a:t> </a:t>
            </a:r>
          </a:p>
          <a:p>
            <a:pPr latinLnBrk="1"/>
            <a:r>
              <a:rPr lang="en-US" b="0" dirty="0"/>
              <a:t>WHERE </a:t>
            </a:r>
            <a:r>
              <a:rPr lang="en-US" b="0" dirty="0" err="1"/>
              <a:t>datname</a:t>
            </a:r>
            <a:r>
              <a:rPr lang="en-US" b="0" dirty="0"/>
              <a:t> = </a:t>
            </a:r>
            <a:r>
              <a:rPr lang="en-US" b="0" dirty="0" err="1"/>
              <a:t>current_database</a:t>
            </a:r>
            <a:r>
              <a:rPr lang="en-US" b="0" dirty="0"/>
              <a:t>();</a:t>
            </a:r>
          </a:p>
          <a:p>
            <a:pPr latinLnBrk="1"/>
            <a:endParaRPr lang="en-US" b="0" dirty="0"/>
          </a:p>
          <a:p>
            <a:pPr latinLnBrk="1"/>
            <a:r>
              <a:rPr lang="en-US" b="0" i="1" dirty="0"/>
              <a:t>-- </a:t>
            </a:r>
            <a:r>
              <a:rPr lang="ru-RU" b="0" i="1" dirty="0"/>
              <a:t>Показать кодировку клиента</a:t>
            </a:r>
            <a:endParaRPr lang="ru-RU" b="0" dirty="0"/>
          </a:p>
          <a:p>
            <a:pPr latinLnBrk="1"/>
            <a:r>
              <a:rPr lang="ru-RU" b="0" dirty="0"/>
              <a:t>\</a:t>
            </a:r>
            <a:r>
              <a:rPr lang="en-US" b="0" dirty="0"/>
              <a:t>encoding</a:t>
            </a:r>
          </a:p>
          <a:p>
            <a:pPr latinLnBrk="1"/>
            <a:endParaRPr lang="en-US" b="0" dirty="0"/>
          </a:p>
          <a:p>
            <a:pPr latinLnBrk="1"/>
            <a:r>
              <a:rPr lang="en-US" b="0" i="1" dirty="0"/>
              <a:t>-- </a:t>
            </a:r>
            <a:r>
              <a:rPr lang="ru-RU" b="0" i="1" dirty="0"/>
              <a:t>Установить кодировку клиента (в </a:t>
            </a:r>
            <a:r>
              <a:rPr lang="en-US" b="0" i="1" dirty="0" err="1"/>
              <a:t>psql</a:t>
            </a:r>
            <a:r>
              <a:rPr lang="en-US" b="0" i="1" dirty="0"/>
              <a:t>)</a:t>
            </a:r>
            <a:endParaRPr lang="en-US" b="0" dirty="0"/>
          </a:p>
          <a:p>
            <a:pPr latinLnBrk="1"/>
            <a:r>
              <a:rPr lang="en-US" b="0" dirty="0"/>
              <a:t>\encoding UTF8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4396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FBD909-D637-797F-8DC0-5A3861016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кодировки при создании БД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B2E809-6D1A-4BA7-A331-80F78623B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b="0" dirty="0"/>
              <a:t>CREATE DATABASE </a:t>
            </a:r>
            <a:r>
              <a:rPr lang="en-US" b="0" dirty="0" err="1"/>
              <a:t>mydb</a:t>
            </a:r>
            <a:r>
              <a:rPr lang="en-US" b="0" dirty="0"/>
              <a:t> </a:t>
            </a:r>
          </a:p>
          <a:p>
            <a:pPr latinLnBrk="1"/>
            <a:r>
              <a:rPr lang="en-US" b="0" dirty="0"/>
              <a:t>WITH ENCODING = 'UTF8' </a:t>
            </a:r>
          </a:p>
          <a:p>
            <a:pPr latinLnBrk="1"/>
            <a:r>
              <a:rPr lang="en-US" b="0" dirty="0"/>
              <a:t>LC_COLLATE = 'ru_RU.UTF-8' </a:t>
            </a:r>
          </a:p>
          <a:p>
            <a:pPr latinLnBrk="1"/>
            <a:r>
              <a:rPr lang="en-US" b="0" dirty="0"/>
              <a:t>LC_CTYPE = 'ru_RU.UTF-8' </a:t>
            </a:r>
          </a:p>
          <a:p>
            <a:pPr latinLnBrk="1"/>
            <a:r>
              <a:rPr lang="en-US" b="0" dirty="0"/>
              <a:t>TEMPLATE = template0;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4252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D307F-55CC-96DD-C6EC-CBDA31CE5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776682" cy="5197498"/>
          </a:xfrm>
        </p:spPr>
        <p:txBody>
          <a:bodyPr/>
          <a:lstStyle/>
          <a:p>
            <a:r>
              <a:rPr lang="ru-RU" dirty="0"/>
              <a:t>Импорт </a:t>
            </a:r>
            <a:r>
              <a:rPr lang="en-US" dirty="0"/>
              <a:t>CSV </a:t>
            </a:r>
            <a:r>
              <a:rPr lang="ru-RU" dirty="0"/>
              <a:t>с кириллицей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FFEAEF-F903-D8D6-E1DC-F16ADE033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atinLnBrk="1"/>
            <a:r>
              <a:rPr lang="ru-RU" b="0" i="1" dirty="0"/>
              <a:t>-- Способ 1: Через </a:t>
            </a:r>
            <a:r>
              <a:rPr lang="en-US" b="0" i="1" dirty="0"/>
              <a:t>COPY (</a:t>
            </a:r>
            <a:r>
              <a:rPr lang="ru-RU" b="0" i="1" dirty="0"/>
              <a:t>файл на сервере)</a:t>
            </a:r>
            <a:endParaRPr lang="ru-RU" b="0" dirty="0"/>
          </a:p>
          <a:p>
            <a:pPr latinLnBrk="1"/>
            <a:r>
              <a:rPr lang="en-US" b="0" dirty="0"/>
              <a:t>COPY </a:t>
            </a:r>
            <a:r>
              <a:rPr lang="en-US" b="0" dirty="0" err="1"/>
              <a:t>table_name</a:t>
            </a:r>
            <a:r>
              <a:rPr lang="en-US" b="0" dirty="0"/>
              <a:t> FROM '/path/to/file.csv' </a:t>
            </a:r>
          </a:p>
          <a:p>
            <a:pPr latinLnBrk="1"/>
            <a:r>
              <a:rPr lang="en-US" b="0" dirty="0"/>
              <a:t>WITH (FORMAT CSV, HEADER true, ENCODING 'UTF8');</a:t>
            </a:r>
          </a:p>
          <a:p>
            <a:pPr latinLnBrk="1"/>
            <a:endParaRPr lang="en-US" b="0" dirty="0"/>
          </a:p>
          <a:p>
            <a:pPr latinLnBrk="1"/>
            <a:r>
              <a:rPr lang="en-US" b="0" i="1" dirty="0"/>
              <a:t>-- </a:t>
            </a:r>
            <a:r>
              <a:rPr lang="ru-RU" b="0" i="1" dirty="0"/>
              <a:t>Способ 2: Через \</a:t>
            </a:r>
            <a:r>
              <a:rPr lang="en-US" b="0" i="1" dirty="0"/>
              <a:t>copy </a:t>
            </a:r>
            <a:r>
              <a:rPr lang="ru-RU" b="0" i="1" dirty="0"/>
              <a:t>в </a:t>
            </a:r>
            <a:r>
              <a:rPr lang="en-US" b="0" i="1" dirty="0" err="1"/>
              <a:t>psql</a:t>
            </a:r>
            <a:r>
              <a:rPr lang="en-US" b="0" i="1" dirty="0"/>
              <a:t> (</a:t>
            </a:r>
            <a:r>
              <a:rPr lang="ru-RU" b="0" i="1" dirty="0"/>
              <a:t>файл на клиенте)</a:t>
            </a:r>
            <a:endParaRPr lang="ru-RU" b="0" dirty="0"/>
          </a:p>
          <a:p>
            <a:pPr latinLnBrk="1"/>
            <a:r>
              <a:rPr lang="ru-RU" b="0" dirty="0"/>
              <a:t>\</a:t>
            </a:r>
            <a:r>
              <a:rPr lang="en-US" b="0" dirty="0"/>
              <a:t>copy </a:t>
            </a:r>
            <a:r>
              <a:rPr lang="en-US" b="0" dirty="0" err="1"/>
              <a:t>table_name</a:t>
            </a:r>
            <a:r>
              <a:rPr lang="en-US" b="0" dirty="0"/>
              <a:t> FROM 'C:\data\file.csv' </a:t>
            </a:r>
          </a:p>
          <a:p>
            <a:pPr latinLnBrk="1"/>
            <a:r>
              <a:rPr lang="en-US" b="0" dirty="0"/>
              <a:t>WITH (FORMAT CSV, HEADER true, ENCODING 'UTF8')</a:t>
            </a:r>
          </a:p>
          <a:p>
            <a:pPr latinLnBrk="1"/>
            <a:endParaRPr lang="en-US" b="0" dirty="0"/>
          </a:p>
          <a:p>
            <a:pPr latinLnBrk="1"/>
            <a:r>
              <a:rPr lang="en-US" b="0" i="1" dirty="0"/>
              <a:t>-- </a:t>
            </a:r>
            <a:r>
              <a:rPr lang="ru-RU" b="0" i="1" dirty="0"/>
              <a:t>Способ 3: С указанием разделителя и экранирования</a:t>
            </a:r>
            <a:endParaRPr lang="ru-RU" b="0" dirty="0"/>
          </a:p>
          <a:p>
            <a:pPr latinLnBrk="1"/>
            <a:r>
              <a:rPr lang="en-US" b="0" dirty="0"/>
              <a:t>COPY </a:t>
            </a:r>
            <a:r>
              <a:rPr lang="en-US" b="0" dirty="0" err="1"/>
              <a:t>table_name</a:t>
            </a:r>
            <a:r>
              <a:rPr lang="en-US" b="0" dirty="0"/>
              <a:t> FROM '/path/to/file.csv' </a:t>
            </a:r>
          </a:p>
          <a:p>
            <a:pPr latinLnBrk="1"/>
            <a:r>
              <a:rPr lang="en-US" b="0" dirty="0"/>
              <a:t>WITH (FORMAT CSV, HEADER true, DELIMITER ';', QUOTE '"', ESCAPE '\', ENCODING 'UTF8');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8945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B9D450-B9AD-3AB6-6775-4ADF0B6B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34" y="705113"/>
            <a:ext cx="3783958" cy="5197498"/>
          </a:xfrm>
        </p:spPr>
        <p:txBody>
          <a:bodyPr/>
          <a:lstStyle/>
          <a:p>
            <a:r>
              <a:rPr lang="ru-RU" dirty="0"/>
              <a:t>Экспорт с сохранением кириллицы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9E9AE2-3446-8146-B954-FC900B8D8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atinLnBrk="1"/>
            <a:r>
              <a:rPr lang="ru-RU" b="0" i="1" dirty="0"/>
              <a:t>-- Экспорт в </a:t>
            </a:r>
            <a:r>
              <a:rPr lang="en-US" b="0" i="1" dirty="0"/>
              <a:t>CSV </a:t>
            </a:r>
            <a:r>
              <a:rPr lang="ru-RU" b="0" i="1" dirty="0"/>
              <a:t>с </a:t>
            </a:r>
            <a:r>
              <a:rPr lang="en-US" b="0" i="1" dirty="0"/>
              <a:t>UTF-8</a:t>
            </a:r>
            <a:endParaRPr lang="en-US" b="0" dirty="0"/>
          </a:p>
          <a:p>
            <a:pPr latinLnBrk="1"/>
            <a:r>
              <a:rPr lang="en-US" b="0" dirty="0"/>
              <a:t>COPY </a:t>
            </a:r>
            <a:r>
              <a:rPr lang="en-US" b="0" dirty="0" err="1"/>
              <a:t>table_name</a:t>
            </a:r>
            <a:r>
              <a:rPr lang="en-US" b="0" dirty="0"/>
              <a:t> TO '/path/to/output.csv' </a:t>
            </a:r>
          </a:p>
          <a:p>
            <a:pPr latinLnBrk="1"/>
            <a:r>
              <a:rPr lang="en-US" b="0" dirty="0"/>
              <a:t>WITH (FORMAT CSV, HEADER true, ENCODING 'UTF8');</a:t>
            </a:r>
          </a:p>
          <a:p>
            <a:pPr latinLnBrk="1"/>
            <a:endParaRPr lang="en-US" b="0" dirty="0"/>
          </a:p>
          <a:p>
            <a:pPr latinLnBrk="1"/>
            <a:r>
              <a:rPr lang="en-US" b="0" i="1" dirty="0"/>
              <a:t>-- </a:t>
            </a:r>
            <a:r>
              <a:rPr lang="ru-RU" b="0" i="1" dirty="0"/>
              <a:t>Экспорт через </a:t>
            </a:r>
            <a:r>
              <a:rPr lang="en-US" b="0" i="1" dirty="0" err="1"/>
              <a:t>psql</a:t>
            </a:r>
            <a:r>
              <a:rPr lang="en-US" b="0" i="1" dirty="0"/>
              <a:t> </a:t>
            </a:r>
            <a:r>
              <a:rPr lang="ru-RU" b="0" i="1" dirty="0"/>
              <a:t>с перенаправлением</a:t>
            </a:r>
            <a:endParaRPr lang="ru-RU" b="0" dirty="0"/>
          </a:p>
          <a:p>
            <a:pPr latinLnBrk="1"/>
            <a:r>
              <a:rPr lang="ru-RU" b="0" dirty="0"/>
              <a:t>\</a:t>
            </a:r>
            <a:r>
              <a:rPr lang="en-US" b="0" dirty="0" err="1"/>
              <a:t>pset</a:t>
            </a:r>
            <a:r>
              <a:rPr lang="en-US" b="0" dirty="0"/>
              <a:t> footer off</a:t>
            </a:r>
          </a:p>
          <a:p>
            <a:pPr latinLnBrk="1"/>
            <a:r>
              <a:rPr lang="en-US" b="0" dirty="0"/>
              <a:t>\</a:t>
            </a:r>
            <a:r>
              <a:rPr lang="en-US" b="0" dirty="0" err="1"/>
              <a:t>pset</a:t>
            </a:r>
            <a:r>
              <a:rPr lang="en-US" b="0" dirty="0"/>
              <a:t> format unaligned</a:t>
            </a:r>
          </a:p>
          <a:p>
            <a:pPr latinLnBrk="1"/>
            <a:r>
              <a:rPr lang="en-US" b="0" dirty="0"/>
              <a:t>\</a:t>
            </a:r>
            <a:r>
              <a:rPr lang="en-US" b="0" dirty="0" err="1"/>
              <a:t>pset</a:t>
            </a:r>
            <a:r>
              <a:rPr lang="en-US" b="0" dirty="0"/>
              <a:t> </a:t>
            </a:r>
            <a:r>
              <a:rPr lang="en-US" b="0" dirty="0" err="1"/>
              <a:t>fieldsep</a:t>
            </a:r>
            <a:r>
              <a:rPr lang="en-US" b="0" dirty="0"/>
              <a:t> ','</a:t>
            </a:r>
          </a:p>
          <a:p>
            <a:pPr latinLnBrk="1"/>
            <a:r>
              <a:rPr lang="en-US" b="0" dirty="0"/>
              <a:t>\encoding UTF8</a:t>
            </a:r>
          </a:p>
          <a:p>
            <a:pPr latinLnBrk="1"/>
            <a:r>
              <a:rPr lang="en-US" b="0" dirty="0"/>
              <a:t>\copy (SELECT * FROM </a:t>
            </a:r>
            <a:r>
              <a:rPr lang="en-US" b="0" dirty="0" err="1"/>
              <a:t>table_name</a:t>
            </a:r>
            <a:r>
              <a:rPr lang="en-US" b="0" dirty="0"/>
              <a:t>) TO 'output.csv' CSV HEADER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6017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02A354-0BFE-AA51-0DFC-3E409D2DB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проблем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F94C82-70CB-FBBF-938C-64F3CBC9E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atinLnBrk="1"/>
            <a:r>
              <a:rPr lang="ru-RU" b="0" i="1" dirty="0"/>
              <a:t>-- Конвертация данных при импорте (если файл в </a:t>
            </a:r>
            <a:r>
              <a:rPr lang="en-US" b="0" i="1" dirty="0"/>
              <a:t>WIN1251)</a:t>
            </a:r>
            <a:endParaRPr lang="en-US" b="0" dirty="0"/>
          </a:p>
          <a:p>
            <a:pPr latinLnBrk="1"/>
            <a:r>
              <a:rPr lang="en-US" b="0" dirty="0"/>
              <a:t>COPY </a:t>
            </a:r>
            <a:r>
              <a:rPr lang="en-US" b="0" dirty="0" err="1"/>
              <a:t>table_name</a:t>
            </a:r>
            <a:r>
              <a:rPr lang="en-US" b="0" dirty="0"/>
              <a:t> FROM PROGRAM '</a:t>
            </a:r>
            <a:r>
              <a:rPr lang="en-US" b="0" dirty="0" err="1"/>
              <a:t>iconv</a:t>
            </a:r>
            <a:r>
              <a:rPr lang="en-US" b="0" dirty="0"/>
              <a:t> -f WINDOWS-1251 -t UTF-8 /path/to/file.csv' </a:t>
            </a:r>
          </a:p>
          <a:p>
            <a:pPr latinLnBrk="1"/>
            <a:r>
              <a:rPr lang="en-US" b="0" dirty="0"/>
              <a:t>WITH (FORMAT CSV, HEADER true);</a:t>
            </a:r>
          </a:p>
          <a:p>
            <a:pPr latinLnBrk="1"/>
            <a:endParaRPr lang="en-US" b="0" dirty="0"/>
          </a:p>
          <a:p>
            <a:pPr latinLnBrk="1"/>
            <a:r>
              <a:rPr lang="en-US" b="0" i="1" dirty="0"/>
              <a:t>-- </a:t>
            </a:r>
            <a:r>
              <a:rPr lang="ru-RU" b="0" i="1" dirty="0"/>
              <a:t>Исправление уже импортированных данных</a:t>
            </a:r>
            <a:endParaRPr lang="ru-RU" b="0" dirty="0"/>
          </a:p>
          <a:p>
            <a:pPr latinLnBrk="1"/>
            <a:r>
              <a:rPr lang="en-US" b="0" dirty="0"/>
              <a:t>UPDATE </a:t>
            </a:r>
            <a:r>
              <a:rPr lang="en-US" b="0" dirty="0" err="1"/>
              <a:t>table_name</a:t>
            </a:r>
            <a:r>
              <a:rPr lang="en-US" b="0" dirty="0"/>
              <a:t> </a:t>
            </a:r>
          </a:p>
          <a:p>
            <a:pPr latinLnBrk="1"/>
            <a:r>
              <a:rPr lang="en-US" b="0" dirty="0"/>
              <a:t>SET </a:t>
            </a:r>
            <a:r>
              <a:rPr lang="en-US" b="0" dirty="0" err="1"/>
              <a:t>column_name</a:t>
            </a:r>
            <a:r>
              <a:rPr lang="en-US" b="0" dirty="0"/>
              <a:t> = </a:t>
            </a:r>
            <a:r>
              <a:rPr lang="en-US" b="0" dirty="0" err="1"/>
              <a:t>convert_from</a:t>
            </a:r>
            <a:r>
              <a:rPr lang="en-US" b="0" dirty="0"/>
              <a:t>(</a:t>
            </a:r>
            <a:r>
              <a:rPr lang="en-US" b="0" dirty="0" err="1"/>
              <a:t>convert_to</a:t>
            </a:r>
            <a:r>
              <a:rPr lang="en-US" b="0" dirty="0"/>
              <a:t>(</a:t>
            </a:r>
            <a:r>
              <a:rPr lang="en-US" b="0" dirty="0" err="1"/>
              <a:t>column_name</a:t>
            </a:r>
            <a:r>
              <a:rPr lang="en-US" b="0" dirty="0"/>
              <a:t>, 'WIN1251'), 'UTF8')</a:t>
            </a:r>
          </a:p>
          <a:p>
            <a:pPr latinLnBrk="1"/>
            <a:r>
              <a:rPr lang="en-US" b="0" dirty="0"/>
              <a:t>WHERE </a:t>
            </a:r>
            <a:r>
              <a:rPr lang="en-US" b="0" dirty="0" err="1"/>
              <a:t>column_name</a:t>
            </a:r>
            <a:r>
              <a:rPr lang="en-US" b="0" dirty="0"/>
              <a:t> ~ '[^\u0000-\u007F]';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6315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C8202-9D1F-EB10-D8D2-BEABA75B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Экспорт в </a:t>
            </a:r>
            <a:r>
              <a:rPr lang="en-US" dirty="0"/>
              <a:t>JSON</a:t>
            </a:r>
            <a:br>
              <a:rPr lang="en-US" dirty="0"/>
            </a:br>
            <a:r>
              <a:rPr lang="ru-RU" dirty="0"/>
              <a:t>Встроенные функции для работы с JSON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E1C7EC-83FF-222C-1313-2C9E15770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031" y="705113"/>
            <a:ext cx="6570683" cy="5648610"/>
          </a:xfrm>
        </p:spPr>
        <p:txBody>
          <a:bodyPr>
            <a:normAutofit fontScale="85000" lnSpcReduction="20000"/>
          </a:bodyPr>
          <a:lstStyle/>
          <a:p>
            <a:pPr latinLnBrk="1"/>
            <a:r>
              <a:rPr lang="ru-RU" b="0" i="1" dirty="0"/>
              <a:t>-- Экспорт всей таблицы в </a:t>
            </a:r>
            <a:r>
              <a:rPr lang="en-US" b="0" i="1" dirty="0"/>
              <a:t>JSON</a:t>
            </a:r>
            <a:endParaRPr lang="en-US" b="0" dirty="0"/>
          </a:p>
          <a:p>
            <a:pPr latinLnBrk="1"/>
            <a:r>
              <a:rPr lang="en-US" b="0" dirty="0"/>
              <a:t>SELECT </a:t>
            </a:r>
            <a:r>
              <a:rPr lang="en-US" b="0" dirty="0" err="1"/>
              <a:t>row_to_json</a:t>
            </a:r>
            <a:r>
              <a:rPr lang="en-US" b="0" dirty="0"/>
              <a:t>(t) </a:t>
            </a:r>
          </a:p>
          <a:p>
            <a:pPr latinLnBrk="1"/>
            <a:r>
              <a:rPr lang="en-US" b="0" dirty="0"/>
              <a:t>FROM </a:t>
            </a:r>
            <a:r>
              <a:rPr lang="en-US" b="0" dirty="0" err="1"/>
              <a:t>table_name</a:t>
            </a:r>
            <a:r>
              <a:rPr lang="en-US" b="0" dirty="0"/>
              <a:t> AS t;</a:t>
            </a:r>
          </a:p>
          <a:p>
            <a:pPr latinLnBrk="1"/>
            <a:endParaRPr lang="en-US" b="0" dirty="0"/>
          </a:p>
          <a:p>
            <a:pPr latinLnBrk="1"/>
            <a:r>
              <a:rPr lang="en-US" b="0" i="1" dirty="0"/>
              <a:t>-- </a:t>
            </a:r>
            <a:r>
              <a:rPr lang="ru-RU" b="0" i="1" dirty="0"/>
              <a:t>Экспорт с красивым форматированием</a:t>
            </a:r>
            <a:endParaRPr lang="ru-RU" b="0" dirty="0"/>
          </a:p>
          <a:p>
            <a:pPr latinLnBrk="1"/>
            <a:r>
              <a:rPr lang="en-US" b="0" dirty="0"/>
              <a:t>SELECT </a:t>
            </a:r>
            <a:r>
              <a:rPr lang="en-US" b="0" dirty="0" err="1"/>
              <a:t>json_agg</a:t>
            </a:r>
            <a:r>
              <a:rPr lang="en-US" b="0" dirty="0"/>
              <a:t>(</a:t>
            </a:r>
            <a:r>
              <a:rPr lang="en-US" b="0" dirty="0" err="1"/>
              <a:t>row_to_json</a:t>
            </a:r>
            <a:r>
              <a:rPr lang="en-US" b="0" dirty="0"/>
              <a:t>(t)) </a:t>
            </a:r>
          </a:p>
          <a:p>
            <a:pPr latinLnBrk="1"/>
            <a:r>
              <a:rPr lang="en-US" b="0" dirty="0"/>
              <a:t>FROM </a:t>
            </a:r>
            <a:r>
              <a:rPr lang="en-US" b="0" dirty="0" err="1"/>
              <a:t>table_name</a:t>
            </a:r>
            <a:r>
              <a:rPr lang="en-US" b="0" dirty="0"/>
              <a:t> AS t;</a:t>
            </a:r>
          </a:p>
          <a:p>
            <a:pPr latinLnBrk="1"/>
            <a:endParaRPr lang="en-US" b="0" dirty="0"/>
          </a:p>
          <a:p>
            <a:pPr latinLnBrk="1"/>
            <a:r>
              <a:rPr lang="en-US" b="0" i="1" dirty="0"/>
              <a:t>-- </a:t>
            </a:r>
            <a:r>
              <a:rPr lang="ru-RU" b="0" i="1" dirty="0"/>
              <a:t>Экспорт с определенными полями</a:t>
            </a:r>
            <a:endParaRPr lang="ru-RU" b="0" dirty="0"/>
          </a:p>
          <a:p>
            <a:pPr latinLnBrk="1"/>
            <a:r>
              <a:rPr lang="en-US" b="0" dirty="0"/>
              <a:t>SELECT </a:t>
            </a:r>
            <a:r>
              <a:rPr lang="en-US" b="0" dirty="0" err="1"/>
              <a:t>json_build_object</a:t>
            </a:r>
            <a:r>
              <a:rPr lang="en-US" b="0" dirty="0"/>
              <a:t>(</a:t>
            </a:r>
          </a:p>
          <a:p>
            <a:pPr latinLnBrk="1"/>
            <a:r>
              <a:rPr lang="en-US" b="0" dirty="0"/>
              <a:t>  'id', id,</a:t>
            </a:r>
          </a:p>
          <a:p>
            <a:pPr latinLnBrk="1"/>
            <a:r>
              <a:rPr lang="en-US" b="0" dirty="0"/>
              <a:t>  'name', name,</a:t>
            </a:r>
          </a:p>
          <a:p>
            <a:pPr latinLnBrk="1"/>
            <a:r>
              <a:rPr lang="en-US" b="0" dirty="0"/>
              <a:t>  'created', </a:t>
            </a:r>
            <a:r>
              <a:rPr lang="en-US" b="0" dirty="0" err="1"/>
              <a:t>created_at</a:t>
            </a:r>
            <a:endParaRPr lang="en-US" b="0" dirty="0"/>
          </a:p>
          <a:p>
            <a:pPr latinLnBrk="1"/>
            <a:r>
              <a:rPr lang="en-US" b="0" dirty="0"/>
              <a:t>) FROM </a:t>
            </a:r>
            <a:r>
              <a:rPr lang="en-US" b="0" dirty="0" err="1"/>
              <a:t>table_name</a:t>
            </a:r>
            <a:r>
              <a:rPr lang="en-US" b="0" dirty="0"/>
              <a:t>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4598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0EEF8-9CED-2186-0BBB-E5D9429F2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Экспорт результатов запроса в JSON-файл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B06A84-D3EA-0F21-EB62-8E61451F7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atinLnBrk="1"/>
            <a:r>
              <a:rPr lang="ru-RU" b="0" i="1" dirty="0"/>
              <a:t>-- Через </a:t>
            </a:r>
            <a:r>
              <a:rPr lang="en-US" b="0" i="1" dirty="0"/>
              <a:t>COPY (PostgreSQL 12+)</a:t>
            </a:r>
            <a:endParaRPr lang="en-US" b="0" dirty="0"/>
          </a:p>
          <a:p>
            <a:pPr latinLnBrk="1"/>
            <a:r>
              <a:rPr lang="en-US" b="0" dirty="0"/>
              <a:t>COPY (</a:t>
            </a:r>
          </a:p>
          <a:p>
            <a:pPr latinLnBrk="1"/>
            <a:r>
              <a:rPr lang="en-US" b="0" dirty="0"/>
              <a:t>  SELECT </a:t>
            </a:r>
            <a:r>
              <a:rPr lang="en-US" b="0" dirty="0" err="1"/>
              <a:t>json_agg</a:t>
            </a:r>
            <a:r>
              <a:rPr lang="en-US" b="0" dirty="0"/>
              <a:t>(</a:t>
            </a:r>
            <a:r>
              <a:rPr lang="en-US" b="0" dirty="0" err="1"/>
              <a:t>row_to_json</a:t>
            </a:r>
            <a:r>
              <a:rPr lang="en-US" b="0" dirty="0"/>
              <a:t>(t)) </a:t>
            </a:r>
          </a:p>
          <a:p>
            <a:pPr latinLnBrk="1"/>
            <a:r>
              <a:rPr lang="en-US" b="0" dirty="0"/>
              <a:t>  FROM (</a:t>
            </a:r>
          </a:p>
          <a:p>
            <a:pPr latinLnBrk="1"/>
            <a:r>
              <a:rPr lang="en-US" b="0" dirty="0"/>
              <a:t>    SELECT * FROM </a:t>
            </a:r>
            <a:r>
              <a:rPr lang="en-US" b="0" dirty="0" err="1"/>
              <a:t>table_name</a:t>
            </a:r>
            <a:r>
              <a:rPr lang="en-US" b="0" dirty="0"/>
              <a:t> </a:t>
            </a:r>
          </a:p>
          <a:p>
            <a:pPr latinLnBrk="1"/>
            <a:r>
              <a:rPr lang="en-US" b="0" dirty="0"/>
              <a:t>    WHERE condition</a:t>
            </a:r>
          </a:p>
          <a:p>
            <a:pPr latinLnBrk="1"/>
            <a:r>
              <a:rPr lang="en-US" b="0" dirty="0"/>
              <a:t>  ) t</a:t>
            </a:r>
          </a:p>
          <a:p>
            <a:pPr latinLnBrk="1"/>
            <a:r>
              <a:rPr lang="en-US" b="0" dirty="0"/>
              <a:t>) TO '/path/to/</a:t>
            </a:r>
            <a:r>
              <a:rPr lang="en-US" b="0" dirty="0" err="1"/>
              <a:t>output.json</a:t>
            </a:r>
            <a:r>
              <a:rPr lang="en-US" b="0" dirty="0"/>
              <a:t>';</a:t>
            </a:r>
          </a:p>
          <a:p>
            <a:pPr latinLnBrk="1"/>
            <a:endParaRPr lang="en-US" b="0" dirty="0"/>
          </a:p>
          <a:p>
            <a:pPr latinLnBrk="1"/>
            <a:r>
              <a:rPr lang="en-US" b="0" i="1" dirty="0"/>
              <a:t>-- </a:t>
            </a:r>
            <a:r>
              <a:rPr lang="ru-RU" b="0" i="1" dirty="0"/>
              <a:t>Альтернативный способ</a:t>
            </a:r>
            <a:endParaRPr lang="ru-RU" b="0" dirty="0"/>
          </a:p>
          <a:p>
            <a:pPr latinLnBrk="1"/>
            <a:r>
              <a:rPr lang="en-US" b="0" dirty="0"/>
              <a:t>COPY (</a:t>
            </a:r>
          </a:p>
          <a:p>
            <a:pPr latinLnBrk="1"/>
            <a:r>
              <a:rPr lang="en-US" b="0" dirty="0"/>
              <a:t>  SELECT </a:t>
            </a:r>
            <a:r>
              <a:rPr lang="en-US" b="0" dirty="0" err="1"/>
              <a:t>row_to_json</a:t>
            </a:r>
            <a:r>
              <a:rPr lang="en-US" b="0" dirty="0"/>
              <a:t>(t) </a:t>
            </a:r>
          </a:p>
          <a:p>
            <a:pPr latinLnBrk="1"/>
            <a:r>
              <a:rPr lang="en-US" b="0" dirty="0"/>
              <a:t>  FROM </a:t>
            </a:r>
            <a:r>
              <a:rPr lang="en-US" b="0" dirty="0" err="1"/>
              <a:t>table_name</a:t>
            </a:r>
            <a:r>
              <a:rPr lang="en-US" b="0" dirty="0"/>
              <a:t> t</a:t>
            </a:r>
          </a:p>
          <a:p>
            <a:pPr latinLnBrk="1"/>
            <a:r>
              <a:rPr lang="en-US" b="0" dirty="0"/>
              <a:t>) TO '/path/to/</a:t>
            </a:r>
            <a:r>
              <a:rPr lang="en-US" b="0" dirty="0" err="1"/>
              <a:t>output.json</a:t>
            </a:r>
            <a:r>
              <a:rPr lang="en-US" b="0" dirty="0"/>
              <a:t>' WITH (FORMAT text);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60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C5A65A-4CC1-D39E-4647-AEB88B68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Экспорт сложных структур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4BDCB7-B64F-BEC1-1373-0A172FDC5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6933" y="186267"/>
            <a:ext cx="6452149" cy="6671733"/>
          </a:xfrm>
        </p:spPr>
        <p:txBody>
          <a:bodyPr>
            <a:normAutofit fontScale="92500" lnSpcReduction="20000"/>
          </a:bodyPr>
          <a:lstStyle/>
          <a:p>
            <a:pPr latinLnBrk="1"/>
            <a:r>
              <a:rPr lang="ru-RU" b="0" i="1" dirty="0"/>
              <a:t>-- Экспорт с вложенными объектами</a:t>
            </a:r>
            <a:endParaRPr lang="ru-RU" b="0" dirty="0"/>
          </a:p>
          <a:p>
            <a:pPr latinLnBrk="1"/>
            <a:r>
              <a:rPr lang="en-US" b="0" dirty="0"/>
              <a:t>SELECT </a:t>
            </a:r>
            <a:r>
              <a:rPr lang="en-US" b="0" dirty="0" err="1"/>
              <a:t>json_build_object</a:t>
            </a:r>
            <a:r>
              <a:rPr lang="en-US" b="0" dirty="0"/>
              <a:t>(</a:t>
            </a:r>
          </a:p>
          <a:p>
            <a:pPr latinLnBrk="1"/>
            <a:r>
              <a:rPr lang="en-US" b="0" dirty="0"/>
              <a:t>  'user', </a:t>
            </a:r>
            <a:r>
              <a:rPr lang="en-US" b="0" dirty="0" err="1"/>
              <a:t>json_build_object</a:t>
            </a:r>
            <a:r>
              <a:rPr lang="en-US" b="0" dirty="0"/>
              <a:t>(</a:t>
            </a:r>
          </a:p>
          <a:p>
            <a:pPr latinLnBrk="1"/>
            <a:r>
              <a:rPr lang="en-US" b="0" dirty="0"/>
              <a:t>    'id', u.id,</a:t>
            </a:r>
          </a:p>
          <a:p>
            <a:pPr latinLnBrk="1"/>
            <a:r>
              <a:rPr lang="en-US" b="0" dirty="0"/>
              <a:t>    'name', u.name</a:t>
            </a:r>
          </a:p>
          <a:p>
            <a:pPr latinLnBrk="1"/>
            <a:r>
              <a:rPr lang="en-US" b="0" dirty="0"/>
              <a:t>  ),</a:t>
            </a:r>
          </a:p>
          <a:p>
            <a:pPr latinLnBrk="1"/>
            <a:r>
              <a:rPr lang="en-US" b="0" dirty="0"/>
              <a:t>  'orders', (</a:t>
            </a:r>
          </a:p>
          <a:p>
            <a:pPr latinLnBrk="1"/>
            <a:r>
              <a:rPr lang="en-US" b="0" dirty="0"/>
              <a:t>    SELECT </a:t>
            </a:r>
            <a:r>
              <a:rPr lang="en-US" b="0" dirty="0" err="1"/>
              <a:t>json_agg</a:t>
            </a:r>
            <a:r>
              <a:rPr lang="en-US" b="0" dirty="0"/>
              <a:t>(</a:t>
            </a:r>
            <a:r>
              <a:rPr lang="en-US" b="0" dirty="0" err="1"/>
              <a:t>json_build_object</a:t>
            </a:r>
            <a:r>
              <a:rPr lang="en-US" b="0" dirty="0"/>
              <a:t>(</a:t>
            </a:r>
          </a:p>
          <a:p>
            <a:pPr latinLnBrk="1"/>
            <a:r>
              <a:rPr lang="en-US" b="0" dirty="0"/>
              <a:t>      '</a:t>
            </a:r>
            <a:r>
              <a:rPr lang="en-US" b="0" dirty="0" err="1"/>
              <a:t>order_id</a:t>
            </a:r>
            <a:r>
              <a:rPr lang="en-US" b="0" dirty="0"/>
              <a:t>', o.id,</a:t>
            </a:r>
          </a:p>
          <a:p>
            <a:pPr latinLnBrk="1"/>
            <a:r>
              <a:rPr lang="en-US" b="0" dirty="0"/>
              <a:t>      'amount', </a:t>
            </a:r>
            <a:r>
              <a:rPr lang="en-US" b="0" dirty="0" err="1"/>
              <a:t>o.amount</a:t>
            </a:r>
            <a:endParaRPr lang="en-US" b="0" dirty="0"/>
          </a:p>
          <a:p>
            <a:pPr latinLnBrk="1"/>
            <a:r>
              <a:rPr lang="en-US" b="0" dirty="0"/>
              <a:t>    ))</a:t>
            </a:r>
          </a:p>
          <a:p>
            <a:pPr latinLnBrk="1"/>
            <a:r>
              <a:rPr lang="en-US" b="0" dirty="0"/>
              <a:t>    FROM orders o </a:t>
            </a:r>
          </a:p>
          <a:p>
            <a:pPr latinLnBrk="1"/>
            <a:r>
              <a:rPr lang="en-US" b="0" dirty="0"/>
              <a:t>    WHERE </a:t>
            </a:r>
            <a:r>
              <a:rPr lang="en-US" b="0" dirty="0" err="1"/>
              <a:t>o.user_id</a:t>
            </a:r>
            <a:r>
              <a:rPr lang="en-US" b="0" dirty="0"/>
              <a:t> = u.id</a:t>
            </a:r>
          </a:p>
          <a:p>
            <a:pPr latinLnBrk="1"/>
            <a:r>
              <a:rPr lang="en-US" b="0" dirty="0"/>
              <a:t>  )</a:t>
            </a:r>
          </a:p>
          <a:p>
            <a:pPr latinLnBrk="1"/>
            <a:r>
              <a:rPr lang="en-US" b="0" dirty="0"/>
              <a:t>) FROM users u;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7240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8BD49-F41E-8A9C-4750-C281FCFFD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Экспорт в </a:t>
            </a:r>
            <a:r>
              <a:rPr lang="en-US" dirty="0"/>
              <a:t>XML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4E969-2840-86F0-1F4D-FEF038C75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2133" y="705113"/>
            <a:ext cx="7128934" cy="5197497"/>
          </a:xfrm>
        </p:spPr>
        <p:txBody>
          <a:bodyPr/>
          <a:lstStyle/>
          <a:p>
            <a:r>
              <a:rPr lang="ru-RU" dirty="0"/>
              <a:t>Включение </a:t>
            </a:r>
            <a:r>
              <a:rPr lang="en-US" dirty="0"/>
              <a:t>XML-</a:t>
            </a:r>
            <a:r>
              <a:rPr lang="ru-RU" dirty="0"/>
              <a:t>поддержки:</a:t>
            </a:r>
          </a:p>
          <a:p>
            <a:pPr latinLnBrk="1"/>
            <a:r>
              <a:rPr lang="en-US" b="0" i="1" dirty="0"/>
              <a:t>-- </a:t>
            </a:r>
            <a:r>
              <a:rPr lang="ru-RU" b="0" i="1" dirty="0"/>
              <a:t>Проверка доступности </a:t>
            </a:r>
            <a:r>
              <a:rPr lang="en-US" b="0" i="1" dirty="0"/>
              <a:t>XML</a:t>
            </a:r>
            <a:endParaRPr lang="en-US" b="0" dirty="0"/>
          </a:p>
          <a:p>
            <a:pPr latinLnBrk="1"/>
            <a:r>
              <a:rPr lang="en-US" b="0" dirty="0"/>
              <a:t>SELECT </a:t>
            </a:r>
            <a:r>
              <a:rPr lang="en-US" b="0" dirty="0" err="1"/>
              <a:t>xmlcomment</a:t>
            </a:r>
            <a:r>
              <a:rPr lang="en-US" b="0" dirty="0"/>
              <a:t>('</a:t>
            </a:r>
            <a:r>
              <a:rPr lang="ru-RU" b="0" dirty="0"/>
              <a:t>Проверка </a:t>
            </a:r>
            <a:r>
              <a:rPr lang="en-US" b="0" dirty="0"/>
              <a:t>XML </a:t>
            </a:r>
            <a:r>
              <a:rPr lang="ru-RU" b="0" dirty="0"/>
              <a:t>поддержки');</a:t>
            </a:r>
          </a:p>
          <a:p>
            <a:pPr latinLnBrk="1"/>
            <a:endParaRPr lang="ru-RU" b="0" dirty="0"/>
          </a:p>
          <a:p>
            <a:pPr latinLnBrk="1"/>
            <a:r>
              <a:rPr lang="ru-RU" b="0" i="1" dirty="0"/>
              <a:t>-- Создание </a:t>
            </a:r>
            <a:r>
              <a:rPr lang="en-US" b="0" i="1" dirty="0"/>
              <a:t>XML </a:t>
            </a:r>
            <a:r>
              <a:rPr lang="ru-RU" b="0" i="1" dirty="0"/>
              <a:t>из данных</a:t>
            </a:r>
            <a:endParaRPr lang="ru-RU" b="0" dirty="0"/>
          </a:p>
          <a:p>
            <a:pPr latinLnBrk="1"/>
            <a:r>
              <a:rPr lang="en-US" b="0" dirty="0"/>
              <a:t>SELECT </a:t>
            </a:r>
            <a:r>
              <a:rPr lang="en-US" b="0" dirty="0" err="1"/>
              <a:t>table_to_xml</a:t>
            </a:r>
            <a:r>
              <a:rPr lang="en-US" b="0" dirty="0"/>
              <a:t>('</a:t>
            </a:r>
            <a:r>
              <a:rPr lang="en-US" b="0" dirty="0" err="1"/>
              <a:t>table_name</a:t>
            </a:r>
            <a:r>
              <a:rPr lang="en-US" b="0" dirty="0"/>
              <a:t>', true, true, '');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8388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AD4A0C-CD00-95B4-4748-5AEC5FFE4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Экспорт таблицы в </a:t>
            </a:r>
            <a:r>
              <a:rPr lang="en-US" dirty="0"/>
              <a:t>XML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3F0C3D-48D4-C854-9A34-4E8BCFA78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atinLnBrk="1"/>
            <a:r>
              <a:rPr lang="ru-RU" b="0" i="1" dirty="0"/>
              <a:t>-- Простой экспорт</a:t>
            </a:r>
            <a:endParaRPr lang="ru-RU" b="0" dirty="0"/>
          </a:p>
          <a:p>
            <a:pPr latinLnBrk="1"/>
            <a:r>
              <a:rPr lang="en-US" b="0" dirty="0"/>
              <a:t>SELECT </a:t>
            </a:r>
            <a:r>
              <a:rPr lang="en-US" b="0" dirty="0" err="1"/>
              <a:t>query_to_xml</a:t>
            </a:r>
            <a:r>
              <a:rPr lang="en-US" b="0" dirty="0"/>
              <a:t>(</a:t>
            </a:r>
          </a:p>
          <a:p>
            <a:pPr latinLnBrk="1"/>
            <a:r>
              <a:rPr lang="en-US" b="0" dirty="0"/>
              <a:t>  'SELECT * FROM </a:t>
            </a:r>
            <a:r>
              <a:rPr lang="en-US" b="0" dirty="0" err="1"/>
              <a:t>table_name</a:t>
            </a:r>
            <a:r>
              <a:rPr lang="en-US" b="0" dirty="0"/>
              <a:t>', </a:t>
            </a:r>
          </a:p>
          <a:p>
            <a:pPr latinLnBrk="1"/>
            <a:r>
              <a:rPr lang="en-US" b="0" dirty="0"/>
              <a:t>  true, true, '</a:t>
            </a:r>
            <a:r>
              <a:rPr lang="en-US" b="0" dirty="0" err="1"/>
              <a:t>myns</a:t>
            </a:r>
            <a:r>
              <a:rPr lang="en-US" b="0" dirty="0"/>
              <a:t>'</a:t>
            </a:r>
          </a:p>
          <a:p>
            <a:pPr latinLnBrk="1"/>
            <a:r>
              <a:rPr lang="en-US" b="0" dirty="0"/>
              <a:t>);</a:t>
            </a:r>
          </a:p>
          <a:p>
            <a:pPr latinLnBrk="1"/>
            <a:endParaRPr lang="en-US" b="0" dirty="0"/>
          </a:p>
          <a:p>
            <a:pPr latinLnBrk="1"/>
            <a:r>
              <a:rPr lang="en-US" b="0" i="1" dirty="0"/>
              <a:t>-- </a:t>
            </a:r>
            <a:r>
              <a:rPr lang="ru-RU" b="0" i="1" dirty="0"/>
              <a:t>Экспорт с схемой</a:t>
            </a:r>
            <a:endParaRPr lang="ru-RU" b="0" dirty="0"/>
          </a:p>
          <a:p>
            <a:pPr latinLnBrk="1"/>
            <a:r>
              <a:rPr lang="en-US" b="0" dirty="0"/>
              <a:t>SELECT </a:t>
            </a:r>
            <a:r>
              <a:rPr lang="en-US" b="0" dirty="0" err="1"/>
              <a:t>table_to_xmlschema</a:t>
            </a:r>
            <a:r>
              <a:rPr lang="en-US" b="0" dirty="0"/>
              <a:t>('</a:t>
            </a:r>
            <a:r>
              <a:rPr lang="en-US" b="0" dirty="0" err="1"/>
              <a:t>table_name</a:t>
            </a:r>
            <a:r>
              <a:rPr lang="en-US" b="0" dirty="0"/>
              <a:t>', true, true, '');</a:t>
            </a:r>
          </a:p>
          <a:p>
            <a:pPr latinLnBrk="1"/>
            <a:r>
              <a:rPr lang="en-US" b="0" dirty="0"/>
              <a:t>SELECT </a:t>
            </a:r>
            <a:r>
              <a:rPr lang="en-US" b="0" dirty="0" err="1"/>
              <a:t>table_to_xml_and_xmlschema</a:t>
            </a:r>
            <a:r>
              <a:rPr lang="en-US" b="0" dirty="0"/>
              <a:t>('</a:t>
            </a:r>
            <a:r>
              <a:rPr lang="en-US" b="0" dirty="0" err="1"/>
              <a:t>table_name</a:t>
            </a:r>
            <a:r>
              <a:rPr lang="en-US" b="0" dirty="0"/>
              <a:t>', true, true, '');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6259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0DC97-D278-04B8-2ACA-71ACA8151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941363"/>
            <a:ext cx="3411973" cy="4724998"/>
          </a:xfrm>
        </p:spPr>
        <p:txBody>
          <a:bodyPr/>
          <a:lstStyle/>
          <a:p>
            <a:r>
              <a:rPr lang="ru-RU" dirty="0"/>
              <a:t>Экспорт в </a:t>
            </a:r>
            <a:r>
              <a:rPr lang="en-US" dirty="0"/>
              <a:t>XML-</a:t>
            </a:r>
            <a:r>
              <a:rPr lang="ru-RU" dirty="0"/>
              <a:t>файл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C22CEC-FE17-0BBE-397C-4EB198BE9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532" y="152400"/>
            <a:ext cx="6942667" cy="6959599"/>
          </a:xfrm>
        </p:spPr>
        <p:txBody>
          <a:bodyPr>
            <a:normAutofit/>
          </a:bodyPr>
          <a:lstStyle/>
          <a:p>
            <a:pPr latinLnBrk="1"/>
            <a:r>
              <a:rPr lang="ru-RU" b="0" i="1" dirty="0"/>
              <a:t>-- Способ 1: Через </a:t>
            </a:r>
            <a:r>
              <a:rPr lang="en-US" b="0" i="1" dirty="0"/>
              <a:t>COPY</a:t>
            </a:r>
            <a:endParaRPr lang="en-US" b="0" dirty="0"/>
          </a:p>
          <a:p>
            <a:pPr latinLnBrk="1"/>
            <a:r>
              <a:rPr lang="en-US" b="0" dirty="0"/>
              <a:t>COPY (</a:t>
            </a:r>
          </a:p>
          <a:p>
            <a:pPr latinLnBrk="1"/>
            <a:r>
              <a:rPr lang="en-US" b="0" dirty="0"/>
              <a:t>  SELECT </a:t>
            </a:r>
            <a:r>
              <a:rPr lang="en-US" b="0" dirty="0" err="1"/>
              <a:t>query_to_xml</a:t>
            </a:r>
            <a:r>
              <a:rPr lang="en-US" b="0" dirty="0"/>
              <a:t>('SELECT * FROM </a:t>
            </a:r>
            <a:r>
              <a:rPr lang="en-US" b="0" dirty="0" err="1"/>
              <a:t>table_name</a:t>
            </a:r>
            <a:r>
              <a:rPr lang="en-US" b="0" dirty="0"/>
              <a:t>', true, true, '')</a:t>
            </a:r>
          </a:p>
          <a:p>
            <a:pPr latinLnBrk="1"/>
            <a:r>
              <a:rPr lang="en-US" b="0" dirty="0"/>
              <a:t>) TO '/path/to/output.xml';</a:t>
            </a:r>
          </a:p>
          <a:p>
            <a:pPr latinLnBrk="1"/>
            <a:endParaRPr lang="en-US" b="0" dirty="0"/>
          </a:p>
          <a:p>
            <a:pPr latinLnBrk="1"/>
            <a:r>
              <a:rPr lang="en-US" b="0" i="1" dirty="0"/>
              <a:t>-- </a:t>
            </a:r>
            <a:r>
              <a:rPr lang="ru-RU" b="0" i="1" dirty="0"/>
              <a:t>Способ 2: С помощью функций</a:t>
            </a:r>
            <a:endParaRPr lang="ru-RU" b="0" dirty="0"/>
          </a:p>
          <a:p>
            <a:pPr latinLnBrk="1"/>
            <a:r>
              <a:rPr lang="en-US" b="0" dirty="0"/>
              <a:t>SELECT </a:t>
            </a:r>
            <a:r>
              <a:rPr lang="en-US" b="0" dirty="0" err="1"/>
              <a:t>xmlroot</a:t>
            </a:r>
            <a:r>
              <a:rPr lang="en-US" b="0" dirty="0"/>
              <a:t>(</a:t>
            </a:r>
          </a:p>
          <a:p>
            <a:pPr latinLnBrk="1"/>
            <a:r>
              <a:rPr lang="en-US" b="0" dirty="0"/>
              <a:t>  </a:t>
            </a:r>
            <a:r>
              <a:rPr lang="en-US" b="0" dirty="0" err="1"/>
              <a:t>xmlelement</a:t>
            </a:r>
            <a:r>
              <a:rPr lang="en-US" b="0" dirty="0"/>
              <a:t>(</a:t>
            </a:r>
          </a:p>
          <a:p>
            <a:pPr latinLnBrk="1"/>
            <a:r>
              <a:rPr lang="en-US" b="0" dirty="0"/>
              <a:t>    name data,</a:t>
            </a:r>
          </a:p>
          <a:p>
            <a:pPr latinLnBrk="1"/>
            <a:r>
              <a:rPr lang="en-US" b="0" dirty="0"/>
              <a:t>    </a:t>
            </a:r>
            <a:r>
              <a:rPr lang="en-US" b="0" dirty="0" err="1"/>
              <a:t>xmlagg</a:t>
            </a:r>
            <a:r>
              <a:rPr lang="en-US" b="0" dirty="0"/>
              <a:t>(</a:t>
            </a:r>
          </a:p>
          <a:p>
            <a:pPr latinLnBrk="1"/>
            <a:r>
              <a:rPr lang="en-US" b="0" dirty="0"/>
              <a:t>      </a:t>
            </a:r>
            <a:r>
              <a:rPr lang="en-US" b="0" dirty="0" err="1"/>
              <a:t>xmlelement</a:t>
            </a:r>
            <a:r>
              <a:rPr lang="en-US" b="0" dirty="0"/>
              <a:t>(</a:t>
            </a:r>
          </a:p>
          <a:p>
            <a:pPr latinLnBrk="1"/>
            <a:r>
              <a:rPr lang="en-US" b="0" dirty="0"/>
              <a:t>        name row,</a:t>
            </a:r>
          </a:p>
          <a:p>
            <a:pPr latinLnBrk="1"/>
            <a:r>
              <a:rPr lang="en-US" b="0" dirty="0"/>
              <a:t>        </a:t>
            </a:r>
            <a:r>
              <a:rPr lang="en-US" b="0" dirty="0" err="1"/>
              <a:t>xmlforest</a:t>
            </a:r>
            <a:r>
              <a:rPr lang="en-US" b="0" dirty="0"/>
              <a:t>(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6390A5-D2BC-D9B8-5A65-90D8F8AE4B9B}"/>
              </a:ext>
            </a:extLst>
          </p:cNvPr>
          <p:cNvSpPr txBox="1"/>
          <p:nvPr/>
        </p:nvSpPr>
        <p:spPr>
          <a:xfrm>
            <a:off x="8415865" y="4120277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b="0" dirty="0"/>
              <a:t> id, </a:t>
            </a:r>
          </a:p>
          <a:p>
            <a:pPr latinLnBrk="1"/>
            <a:r>
              <a:rPr lang="en-US" b="0" dirty="0"/>
              <a:t>          name, </a:t>
            </a:r>
          </a:p>
          <a:p>
            <a:pPr latinLnBrk="1"/>
            <a:r>
              <a:rPr lang="en-US" b="0" dirty="0"/>
              <a:t>          </a:t>
            </a:r>
            <a:r>
              <a:rPr lang="en-US" b="0" dirty="0" err="1"/>
              <a:t>created_at</a:t>
            </a:r>
            <a:endParaRPr lang="en-US" b="0" dirty="0"/>
          </a:p>
          <a:p>
            <a:pPr latinLnBrk="1"/>
            <a:r>
              <a:rPr lang="en-US" b="0" dirty="0"/>
              <a:t>        ) )</a:t>
            </a:r>
          </a:p>
          <a:p>
            <a:pPr latinLnBrk="1"/>
            <a:r>
              <a:rPr lang="en-US" b="0" dirty="0"/>
              <a:t>    )</a:t>
            </a:r>
          </a:p>
          <a:p>
            <a:pPr latinLnBrk="1"/>
            <a:r>
              <a:rPr lang="en-US" b="0" dirty="0"/>
              <a:t>  ),</a:t>
            </a:r>
          </a:p>
          <a:p>
            <a:pPr latinLnBrk="1"/>
            <a:r>
              <a:rPr lang="en-US" b="0" dirty="0"/>
              <a:t>  version '1.0',</a:t>
            </a:r>
          </a:p>
          <a:p>
            <a:pPr latinLnBrk="1"/>
            <a:r>
              <a:rPr lang="en-US" b="0" dirty="0"/>
              <a:t>  standalone yes</a:t>
            </a:r>
          </a:p>
          <a:p>
            <a:pPr latinLnBrk="1"/>
            <a:r>
              <a:rPr lang="en-US" b="0" dirty="0"/>
              <a:t>) FROM </a:t>
            </a:r>
            <a:r>
              <a:rPr lang="en-US" b="0" dirty="0" err="1"/>
              <a:t>table_name</a:t>
            </a:r>
            <a:r>
              <a:rPr lang="en-US" b="0" dirty="0"/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17959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952028-51A6-894A-A6E7-AD8F476E0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51" y="705112"/>
            <a:ext cx="4183082" cy="5197498"/>
          </a:xfrm>
        </p:spPr>
        <p:txBody>
          <a:bodyPr/>
          <a:lstStyle/>
          <a:p>
            <a:r>
              <a:rPr lang="ru-RU" dirty="0"/>
              <a:t>Кастомизация </a:t>
            </a:r>
            <a:r>
              <a:rPr lang="en-US" dirty="0"/>
              <a:t>XML-</a:t>
            </a:r>
            <a:r>
              <a:rPr lang="ru-RU" dirty="0"/>
              <a:t>вывода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A42FAE-35C9-6F44-882E-364B8E0F4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9263" y="124432"/>
            <a:ext cx="6172412" cy="5197497"/>
          </a:xfrm>
        </p:spPr>
        <p:txBody>
          <a:bodyPr>
            <a:normAutofit fontScale="92500" lnSpcReduction="20000"/>
          </a:bodyPr>
          <a:lstStyle/>
          <a:p>
            <a:pPr latinLnBrk="1"/>
            <a:r>
              <a:rPr lang="ru-RU" b="0" i="1" dirty="0"/>
              <a:t>-- Создание сложной </a:t>
            </a:r>
            <a:r>
              <a:rPr lang="en-US" b="0" i="1" dirty="0"/>
              <a:t>XML-</a:t>
            </a:r>
            <a:r>
              <a:rPr lang="ru-RU" b="0" i="1" dirty="0"/>
              <a:t>структуры</a:t>
            </a:r>
            <a:endParaRPr lang="ru-RU" b="0" dirty="0"/>
          </a:p>
          <a:p>
            <a:pPr latinLnBrk="1"/>
            <a:r>
              <a:rPr lang="en-US" b="0" dirty="0"/>
              <a:t>SELECT </a:t>
            </a:r>
            <a:r>
              <a:rPr lang="en-US" b="0" dirty="0" err="1"/>
              <a:t>xmlelement</a:t>
            </a:r>
            <a:r>
              <a:rPr lang="en-US" b="0" dirty="0"/>
              <a:t>(</a:t>
            </a:r>
          </a:p>
          <a:p>
            <a:pPr latinLnBrk="1"/>
            <a:r>
              <a:rPr lang="en-US" b="0" dirty="0"/>
              <a:t>  name "</a:t>
            </a:r>
            <a:r>
              <a:rPr lang="ru-RU" b="0" dirty="0"/>
              <a:t>Клиенты",</a:t>
            </a:r>
          </a:p>
          <a:p>
            <a:pPr latinLnBrk="1"/>
            <a:r>
              <a:rPr lang="ru-RU" b="0" dirty="0"/>
              <a:t>  </a:t>
            </a:r>
            <a:r>
              <a:rPr lang="en-US" b="0" dirty="0" err="1"/>
              <a:t>xmlagg</a:t>
            </a:r>
            <a:r>
              <a:rPr lang="en-US" b="0" dirty="0"/>
              <a:t>(</a:t>
            </a:r>
          </a:p>
          <a:p>
            <a:pPr latinLnBrk="1"/>
            <a:r>
              <a:rPr lang="en-US" b="0" dirty="0"/>
              <a:t>    </a:t>
            </a:r>
            <a:r>
              <a:rPr lang="en-US" b="0" dirty="0" err="1"/>
              <a:t>xmlelement</a:t>
            </a:r>
            <a:r>
              <a:rPr lang="en-US" b="0" dirty="0"/>
              <a:t>(</a:t>
            </a:r>
          </a:p>
          <a:p>
            <a:pPr latinLnBrk="1"/>
            <a:r>
              <a:rPr lang="en-US" b="0" dirty="0"/>
              <a:t>      name "</a:t>
            </a:r>
            <a:r>
              <a:rPr lang="ru-RU" b="0" dirty="0"/>
              <a:t>Клиент",</a:t>
            </a:r>
          </a:p>
          <a:p>
            <a:pPr latinLnBrk="1"/>
            <a:r>
              <a:rPr lang="ru-RU" b="0" dirty="0"/>
              <a:t>      </a:t>
            </a:r>
            <a:r>
              <a:rPr lang="en-US" b="0" dirty="0" err="1"/>
              <a:t>xmlattributes</a:t>
            </a:r>
            <a:r>
              <a:rPr lang="en-US" b="0" dirty="0"/>
              <a:t>(id as "id"),</a:t>
            </a:r>
          </a:p>
          <a:p>
            <a:pPr latinLnBrk="1"/>
            <a:r>
              <a:rPr lang="en-US" b="0" dirty="0"/>
              <a:t>      </a:t>
            </a:r>
            <a:r>
              <a:rPr lang="en-US" b="0" dirty="0" err="1"/>
              <a:t>xmlelement</a:t>
            </a:r>
            <a:r>
              <a:rPr lang="en-US" b="0" dirty="0"/>
              <a:t>(name "</a:t>
            </a:r>
            <a:r>
              <a:rPr lang="ru-RU" b="0" dirty="0"/>
              <a:t>Имя", </a:t>
            </a:r>
            <a:r>
              <a:rPr lang="en-US" b="0" dirty="0"/>
              <a:t>name),</a:t>
            </a:r>
          </a:p>
          <a:p>
            <a:pPr latinLnBrk="1"/>
            <a:r>
              <a:rPr lang="en-US" b="0" dirty="0"/>
              <a:t>      </a:t>
            </a:r>
            <a:r>
              <a:rPr lang="en-US" b="0" dirty="0" err="1"/>
              <a:t>xmlelement</a:t>
            </a:r>
            <a:r>
              <a:rPr lang="en-US" b="0" dirty="0"/>
              <a:t>(name "Email", email),</a:t>
            </a:r>
          </a:p>
          <a:p>
            <a:pPr latinLnBrk="1"/>
            <a:r>
              <a:rPr lang="en-US" b="0" dirty="0"/>
              <a:t>      </a:t>
            </a:r>
            <a:r>
              <a:rPr lang="en-US" b="0" dirty="0" err="1"/>
              <a:t>xmlelement</a:t>
            </a:r>
            <a:r>
              <a:rPr lang="en-US" b="0" dirty="0"/>
              <a:t>(</a:t>
            </a:r>
          </a:p>
          <a:p>
            <a:pPr latinLnBrk="1"/>
            <a:r>
              <a:rPr lang="en-US" b="0" dirty="0"/>
              <a:t>        name "</a:t>
            </a:r>
            <a:r>
              <a:rPr lang="ru-RU" b="0" dirty="0"/>
              <a:t>Заказы",</a:t>
            </a:r>
          </a:p>
          <a:p>
            <a:pPr latinLnBrk="1"/>
            <a:r>
              <a:rPr lang="ru-RU" b="0" dirty="0"/>
              <a:t>        (</a:t>
            </a:r>
            <a:r>
              <a:rPr lang="en-US" b="0" dirty="0"/>
              <a:t>SELECT </a:t>
            </a:r>
            <a:r>
              <a:rPr lang="en-US" b="0" dirty="0" err="1"/>
              <a:t>xmlagg</a:t>
            </a:r>
            <a:r>
              <a:rPr lang="en-US" b="0" dirty="0"/>
              <a:t>(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029225-DDA5-8472-945F-18CF7361D004}"/>
              </a:ext>
            </a:extLst>
          </p:cNvPr>
          <p:cNvSpPr txBox="1"/>
          <p:nvPr/>
        </p:nvSpPr>
        <p:spPr>
          <a:xfrm>
            <a:off x="7619997" y="4144629"/>
            <a:ext cx="4572003" cy="2723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xmlelement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    name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"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Заказ"</a:t>
            </a:r>
            <a:r>
              <a:rPr lang="ru-RU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ru-RU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xmlattributes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o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id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as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"id"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xmlelement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name </a:t>
            </a:r>
            <a:r>
              <a:rPr lang="en-US" b="0" dirty="0">
                <a:solidFill>
                  <a:srgbClr val="50A14F"/>
                </a:solidFill>
                <a:effectLst/>
                <a:latin typeface="Menlo"/>
              </a:rPr>
              <a:t>"</a:t>
            </a:r>
            <a:r>
              <a:rPr lang="ru-RU" b="0" dirty="0">
                <a:solidFill>
                  <a:srgbClr val="50A14F"/>
                </a:solidFill>
                <a:effectLst/>
                <a:latin typeface="Menlo"/>
              </a:rPr>
              <a:t>Сумма"</a:t>
            </a:r>
            <a:r>
              <a:rPr lang="ru-RU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ru-RU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o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amount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 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orders o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o</a:t>
            </a:r>
            <a:r>
              <a:rPr lang="en-US" b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user_id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u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id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 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users u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19670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DEC83-12A5-5301-ABDD-31A35EEAF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Импорт </a:t>
            </a:r>
            <a:r>
              <a:rPr lang="en-US" dirty="0"/>
              <a:t>JSON </a:t>
            </a:r>
            <a:r>
              <a:rPr lang="ru-RU" dirty="0"/>
              <a:t>данных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46930B-6318-82E8-C0D5-6ACF6D4A0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atinLnBrk="1"/>
            <a:r>
              <a:rPr lang="ru-RU" b="0" i="1" dirty="0"/>
              <a:t>-- Импорт </a:t>
            </a:r>
            <a:r>
              <a:rPr lang="en-US" b="0" i="1" dirty="0"/>
              <a:t>JSON </a:t>
            </a:r>
            <a:r>
              <a:rPr lang="ru-RU" b="0" i="1" dirty="0"/>
              <a:t>файла</a:t>
            </a:r>
            <a:endParaRPr lang="ru-RU" b="0" dirty="0"/>
          </a:p>
          <a:p>
            <a:pPr latinLnBrk="1"/>
            <a:r>
              <a:rPr lang="en-US" b="0" dirty="0"/>
              <a:t>COPY </a:t>
            </a:r>
            <a:r>
              <a:rPr lang="en-US" b="0" dirty="0" err="1"/>
              <a:t>json_import</a:t>
            </a:r>
            <a:r>
              <a:rPr lang="en-US" b="0" dirty="0"/>
              <a:t>(data) FROM '/path/to/</a:t>
            </a:r>
            <a:r>
              <a:rPr lang="en-US" b="0" dirty="0" err="1"/>
              <a:t>data.json</a:t>
            </a:r>
            <a:r>
              <a:rPr lang="en-US" b="0" dirty="0"/>
              <a:t>';</a:t>
            </a:r>
          </a:p>
          <a:p>
            <a:pPr latinLnBrk="1"/>
            <a:endParaRPr lang="en-US" b="0" dirty="0"/>
          </a:p>
          <a:p>
            <a:pPr latinLnBrk="1"/>
            <a:r>
              <a:rPr lang="en-US" b="0" i="1" dirty="0"/>
              <a:t>-- </a:t>
            </a:r>
            <a:r>
              <a:rPr lang="ru-RU" b="0" i="1" dirty="0"/>
              <a:t>Разбор </a:t>
            </a:r>
            <a:r>
              <a:rPr lang="en-US" b="0" i="1" dirty="0"/>
              <a:t>JSON </a:t>
            </a:r>
            <a:r>
              <a:rPr lang="ru-RU" b="0" i="1" dirty="0"/>
              <a:t>и вставка в реляционные таблицы</a:t>
            </a:r>
            <a:endParaRPr lang="ru-RU" b="0" dirty="0"/>
          </a:p>
          <a:p>
            <a:pPr latinLnBrk="1"/>
            <a:r>
              <a:rPr lang="en-US" b="0" dirty="0"/>
              <a:t>INSERT INTO users (name, email)</a:t>
            </a:r>
          </a:p>
          <a:p>
            <a:pPr latinLnBrk="1"/>
            <a:r>
              <a:rPr lang="en-US" b="0" dirty="0"/>
              <a:t>SELECT </a:t>
            </a:r>
          </a:p>
          <a:p>
            <a:pPr latinLnBrk="1"/>
            <a:r>
              <a:rPr lang="en-US" b="0" dirty="0"/>
              <a:t>    data-&gt;&gt;'name',</a:t>
            </a:r>
          </a:p>
          <a:p>
            <a:pPr latinLnBrk="1"/>
            <a:r>
              <a:rPr lang="en-US" b="0" dirty="0"/>
              <a:t>    data-&gt;&gt;'email'</a:t>
            </a:r>
          </a:p>
          <a:p>
            <a:pPr latinLnBrk="1"/>
            <a:r>
              <a:rPr lang="en-US" b="0" dirty="0"/>
              <a:t>FROM </a:t>
            </a:r>
            <a:r>
              <a:rPr lang="en-US" b="0" dirty="0" err="1"/>
              <a:t>json_import</a:t>
            </a:r>
            <a:endParaRPr lang="en-US" b="0" dirty="0"/>
          </a:p>
          <a:p>
            <a:pPr latinLnBrk="1"/>
            <a:r>
              <a:rPr lang="en-US" b="0" dirty="0"/>
              <a:t>WHERE data-&gt;&gt;'type' = 'user';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74473-45EC-C685-55FC-94343BF8E618}"/>
              </a:ext>
            </a:extLst>
          </p:cNvPr>
          <p:cNvSpPr txBox="1"/>
          <p:nvPr/>
        </p:nvSpPr>
        <p:spPr>
          <a:xfrm>
            <a:off x="186267" y="4495815"/>
            <a:ext cx="6096000" cy="140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ru-RU" b="0" i="1" dirty="0">
                <a:solidFill>
                  <a:srgbClr val="A0A1A7"/>
                </a:solidFill>
                <a:effectLst/>
                <a:latin typeface="Menlo"/>
              </a:rPr>
              <a:t>-- Создание таблицы для импорта </a:t>
            </a:r>
            <a:r>
              <a:rPr lang="en-US" b="0" i="1" dirty="0">
                <a:solidFill>
                  <a:srgbClr val="A0A1A7"/>
                </a:solidFill>
                <a:effectLst/>
                <a:latin typeface="Menlo"/>
              </a:rPr>
              <a:t>JSON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CREATE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TABLE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json_import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id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SERIAL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PRIMARY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KEY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data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JSONB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b="0" dirty="0" err="1">
                <a:solidFill>
                  <a:srgbClr val="0F1115"/>
                </a:solidFill>
                <a:effectLst/>
                <a:latin typeface="Menlo"/>
              </a:rPr>
              <a:t>imported_at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TIMESTAMP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Menlo"/>
              </a:rPr>
              <a:t>DEFAULT</a:t>
            </a:r>
            <a:r>
              <a:rPr lang="en-US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b="0" dirty="0">
                <a:solidFill>
                  <a:srgbClr val="4078F2"/>
                </a:solidFill>
                <a:effectLst/>
                <a:latin typeface="Menlo"/>
              </a:rPr>
              <a:t>NOW</a:t>
            </a: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()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solidFill>
                  <a:srgbClr val="383A42"/>
                </a:solidFill>
                <a:effectLst/>
                <a:latin typeface="Menlo"/>
              </a:rPr>
              <a:t>);</a:t>
            </a:r>
            <a:endParaRPr 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805866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640A9-6177-86B0-59D1-C5984A66C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776682" cy="5197498"/>
          </a:xfrm>
        </p:spPr>
        <p:txBody>
          <a:bodyPr/>
          <a:lstStyle/>
          <a:p>
            <a:r>
              <a:rPr lang="ru-RU" dirty="0"/>
              <a:t>Конвертация между форматами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B4CCF2-2BDD-829B-9795-D4C654EB6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7733" y="440267"/>
            <a:ext cx="6401350" cy="6214533"/>
          </a:xfrm>
        </p:spPr>
        <p:txBody>
          <a:bodyPr>
            <a:normAutofit fontScale="92500" lnSpcReduction="20000"/>
          </a:bodyPr>
          <a:lstStyle/>
          <a:p>
            <a:pPr latinLnBrk="1"/>
            <a:r>
              <a:rPr lang="ru-RU" b="0" i="1" dirty="0"/>
              <a:t>-- Из </a:t>
            </a:r>
            <a:r>
              <a:rPr lang="en-US" b="0" i="1" dirty="0"/>
              <a:t>CSV </a:t>
            </a:r>
            <a:r>
              <a:rPr lang="ru-RU" b="0" i="1" dirty="0"/>
              <a:t>в </a:t>
            </a:r>
            <a:r>
              <a:rPr lang="en-US" b="0" i="1" dirty="0"/>
              <a:t>JSON</a:t>
            </a:r>
            <a:endParaRPr lang="en-US" b="0" dirty="0"/>
          </a:p>
          <a:p>
            <a:pPr latinLnBrk="1"/>
            <a:r>
              <a:rPr lang="en-US" b="0" dirty="0"/>
              <a:t>COPY (</a:t>
            </a:r>
          </a:p>
          <a:p>
            <a:pPr latinLnBrk="1"/>
            <a:r>
              <a:rPr lang="en-US" b="0" dirty="0"/>
              <a:t>    SELECT </a:t>
            </a:r>
            <a:r>
              <a:rPr lang="en-US" b="0" dirty="0" err="1"/>
              <a:t>row_to_json</a:t>
            </a:r>
            <a:r>
              <a:rPr lang="en-US" b="0" dirty="0"/>
              <a:t>(row(id, name, email))</a:t>
            </a:r>
          </a:p>
          <a:p>
            <a:pPr latinLnBrk="1"/>
            <a:r>
              <a:rPr lang="en-US" b="0" dirty="0"/>
              <a:t>    FROM users</a:t>
            </a:r>
          </a:p>
          <a:p>
            <a:pPr latinLnBrk="1"/>
            <a:r>
              <a:rPr lang="en-US" b="0" dirty="0"/>
              <a:t>) TO '/</a:t>
            </a:r>
            <a:r>
              <a:rPr lang="en-US" b="0" dirty="0" err="1"/>
              <a:t>tmp</a:t>
            </a:r>
            <a:r>
              <a:rPr lang="en-US" b="0" dirty="0"/>
              <a:t>/</a:t>
            </a:r>
            <a:r>
              <a:rPr lang="en-US" b="0" dirty="0" err="1"/>
              <a:t>users.json</a:t>
            </a:r>
            <a:r>
              <a:rPr lang="en-US" b="0" dirty="0"/>
              <a:t>';</a:t>
            </a:r>
          </a:p>
          <a:p>
            <a:pPr latinLnBrk="1"/>
            <a:endParaRPr lang="en-US" b="0" dirty="0"/>
          </a:p>
          <a:p>
            <a:pPr latinLnBrk="1"/>
            <a:r>
              <a:rPr lang="en-US" b="0" i="1" dirty="0"/>
              <a:t>-- </a:t>
            </a:r>
            <a:r>
              <a:rPr lang="ru-RU" b="0" i="1" dirty="0"/>
              <a:t>Из </a:t>
            </a:r>
            <a:r>
              <a:rPr lang="en-US" b="0" i="1" dirty="0"/>
              <a:t>JSON </a:t>
            </a:r>
            <a:r>
              <a:rPr lang="ru-RU" b="0" i="1" dirty="0"/>
              <a:t>в </a:t>
            </a:r>
            <a:r>
              <a:rPr lang="en-US" b="0" i="1" dirty="0"/>
              <a:t>CSV</a:t>
            </a:r>
            <a:endParaRPr lang="en-US" b="0" dirty="0"/>
          </a:p>
          <a:p>
            <a:pPr latinLnBrk="1"/>
            <a:r>
              <a:rPr lang="en-US" b="0" dirty="0"/>
              <a:t>COPY (</a:t>
            </a:r>
          </a:p>
          <a:p>
            <a:pPr latinLnBrk="1"/>
            <a:r>
              <a:rPr lang="en-US" b="0" dirty="0"/>
              <a:t>    SELECT </a:t>
            </a:r>
          </a:p>
          <a:p>
            <a:pPr latinLnBrk="1"/>
            <a:r>
              <a:rPr lang="en-US" b="0" dirty="0"/>
              <a:t>        (data-&gt;&gt;'id')::int,</a:t>
            </a:r>
          </a:p>
          <a:p>
            <a:pPr latinLnBrk="1"/>
            <a:r>
              <a:rPr lang="en-US" b="0" dirty="0"/>
              <a:t>        data-&gt;&gt;'name',</a:t>
            </a:r>
          </a:p>
          <a:p>
            <a:pPr latinLnBrk="1"/>
            <a:r>
              <a:rPr lang="en-US" b="0" dirty="0"/>
              <a:t>        data-&gt;&gt;'email'</a:t>
            </a:r>
          </a:p>
          <a:p>
            <a:pPr latinLnBrk="1"/>
            <a:r>
              <a:rPr lang="en-US" b="0" dirty="0"/>
              <a:t>    FROM </a:t>
            </a:r>
            <a:r>
              <a:rPr lang="en-US" b="0" dirty="0" err="1"/>
              <a:t>json_import</a:t>
            </a:r>
            <a:endParaRPr lang="en-US" b="0" dirty="0"/>
          </a:p>
          <a:p>
            <a:pPr latinLnBrk="1"/>
            <a:r>
              <a:rPr lang="en-US" b="0" dirty="0"/>
              <a:t>) TO '/</a:t>
            </a:r>
            <a:r>
              <a:rPr lang="en-US" b="0" dirty="0" err="1"/>
              <a:t>tmp</a:t>
            </a:r>
            <a:r>
              <a:rPr lang="en-US" b="0" dirty="0"/>
              <a:t>/from_json.csv' WITH CSV HEADER;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66653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ACC72-1EF9-1453-395C-C958E8A50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51" y="705113"/>
            <a:ext cx="3929082" cy="5197498"/>
          </a:xfrm>
        </p:spPr>
        <p:txBody>
          <a:bodyPr/>
          <a:lstStyle/>
          <a:p>
            <a:r>
              <a:rPr lang="ru-RU" dirty="0"/>
              <a:t>Безопасность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4B1D03-CB8D-0649-A63F-AED914DA0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atinLnBrk="1"/>
            <a:r>
              <a:rPr lang="ru-RU" b="0" i="1" dirty="0"/>
              <a:t>-- Всегда валидируйте входные данные</a:t>
            </a:r>
            <a:endParaRPr lang="ru-RU" b="0" dirty="0"/>
          </a:p>
          <a:p>
            <a:pPr latinLnBrk="1"/>
            <a:r>
              <a:rPr lang="en-US" b="0" dirty="0"/>
              <a:t>CREATE OR REPLACE FUNCTION </a:t>
            </a:r>
            <a:r>
              <a:rPr lang="en-US" b="0" dirty="0" err="1"/>
              <a:t>safe_xml_parse</a:t>
            </a:r>
            <a:r>
              <a:rPr lang="en-US" b="0" dirty="0"/>
              <a:t>(</a:t>
            </a:r>
            <a:r>
              <a:rPr lang="en-US" b="0" dirty="0" err="1"/>
              <a:t>xml_content</a:t>
            </a:r>
            <a:r>
              <a:rPr lang="en-US" b="0" dirty="0"/>
              <a:t> text)</a:t>
            </a:r>
          </a:p>
          <a:p>
            <a:pPr latinLnBrk="1"/>
            <a:r>
              <a:rPr lang="en-US" b="0" dirty="0"/>
              <a:t>RETURNS XML AS $$</a:t>
            </a:r>
          </a:p>
          <a:p>
            <a:pPr latinLnBrk="1"/>
            <a:r>
              <a:rPr lang="en-US" b="0" dirty="0"/>
              <a:t>BEGIN</a:t>
            </a:r>
          </a:p>
          <a:p>
            <a:pPr latinLnBrk="1"/>
            <a:r>
              <a:rPr lang="en-US" b="0" dirty="0"/>
              <a:t>    RETURN </a:t>
            </a:r>
            <a:r>
              <a:rPr lang="en-US" b="0" dirty="0" err="1"/>
              <a:t>xmlparse</a:t>
            </a:r>
            <a:r>
              <a:rPr lang="en-US" b="0" dirty="0"/>
              <a:t>(DOCUMENT </a:t>
            </a:r>
            <a:r>
              <a:rPr lang="en-US" b="0" dirty="0" err="1"/>
              <a:t>xml_content</a:t>
            </a:r>
            <a:r>
              <a:rPr lang="en-US" b="0" dirty="0"/>
              <a:t>);</a:t>
            </a:r>
          </a:p>
          <a:p>
            <a:pPr latinLnBrk="1"/>
            <a:r>
              <a:rPr lang="en-US" b="0" dirty="0"/>
              <a:t>EXCEPTION WHEN OTHERS THEN</a:t>
            </a:r>
          </a:p>
          <a:p>
            <a:pPr latinLnBrk="1"/>
            <a:r>
              <a:rPr lang="en-US" b="0" dirty="0"/>
              <a:t>    RETURN null;</a:t>
            </a:r>
          </a:p>
          <a:p>
            <a:pPr latinLnBrk="1"/>
            <a:r>
              <a:rPr lang="en-US" b="0" dirty="0"/>
              <a:t>END;</a:t>
            </a:r>
          </a:p>
          <a:p>
            <a:pPr latinLnBrk="1"/>
            <a:r>
              <a:rPr lang="en-US" b="0" dirty="0"/>
              <a:t>$$ LANGUAGE </a:t>
            </a:r>
            <a:r>
              <a:rPr lang="en-US" b="0" dirty="0" err="1"/>
              <a:t>plpgsql</a:t>
            </a:r>
            <a:r>
              <a:rPr lang="en-US" b="0" dirty="0"/>
              <a:t>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94768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2BF2A4-1EB1-D765-10E6-BC677DE89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01A44F-EF40-9C5F-DC60-23AE1FA50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399" y="705113"/>
            <a:ext cx="6316683" cy="519749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b="0" dirty="0"/>
              <a:t>Для больших объемов данных используйте </a:t>
            </a:r>
            <a:r>
              <a:rPr lang="ru-RU" sz="2400" dirty="0"/>
              <a:t>поточную обработку</a:t>
            </a:r>
            <a:endParaRPr lang="ru-RU" sz="2400" b="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b="0" dirty="0"/>
              <a:t>Экспорт в JSON/XML может потреблять много памяти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b="0" dirty="0"/>
              <a:t>Для регулярного экспорта используйте </a:t>
            </a:r>
            <a:r>
              <a:rPr lang="ru-RU" sz="2400" dirty="0"/>
              <a:t>материализованные представления</a:t>
            </a:r>
            <a:endParaRPr lang="ru-RU" sz="2400" b="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52537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F234C-73CF-2A97-A266-7228813CF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50D6CE-D426-62A3-605D-EE9D9CAF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Версионирование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9FB38B-B70A-A9C9-0D19-DEF763EDC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399" y="705113"/>
            <a:ext cx="6316683" cy="5197497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b="0" dirty="0"/>
              <a:t>Проверяйте версию PostgreSQL (SHOW </a:t>
            </a:r>
            <a:r>
              <a:rPr lang="ru-RU" sz="2400" b="0" dirty="0" err="1"/>
              <a:t>server_version</a:t>
            </a:r>
            <a:r>
              <a:rPr lang="ru-RU" sz="2400" b="0" dirty="0"/>
              <a:t>;)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b="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b="0" dirty="0"/>
              <a:t>Некоторые функции JSON/XML доступны только с определенных версий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b="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b="0" dirty="0"/>
              <a:t>Для устаревших версий используйте расширения (xml2, </a:t>
            </a:r>
            <a:r>
              <a:rPr lang="ru-RU" sz="2400" b="0" dirty="0" err="1"/>
              <a:t>jsonbx</a:t>
            </a:r>
            <a:r>
              <a:rPr lang="ru-RU" sz="2400" b="0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5377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472684-ED15-B540-8AAB-13262521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87BC8B-9247-0F0C-3871-2C6DCB32C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4667" y="406400"/>
            <a:ext cx="6553200" cy="6451599"/>
          </a:xfrm>
        </p:spPr>
        <p:txBody>
          <a:bodyPr>
            <a:normAutofit fontScale="70000" lnSpcReduction="20000"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ru-RU" sz="3200" b="0" dirty="0"/>
              <a:t>Всегда явно указывайте кодировку при импорте/экспорте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ru-RU" sz="3200" b="0" dirty="0"/>
              <a:t>Тестируйте на небольшом наборе данных перед обработкой всего объема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ru-RU" sz="3200" b="0" dirty="0"/>
              <a:t>Используйте </a:t>
            </a:r>
            <a:r>
              <a:rPr lang="ru-RU" sz="3200" b="0" dirty="0">
                <a:latin typeface="Arial Narrow" panose="020B0606020202030204" pitchFamily="34" charset="0"/>
              </a:rPr>
              <a:t>\</a:t>
            </a:r>
            <a:r>
              <a:rPr lang="ru-RU" sz="3200" b="0" dirty="0" err="1"/>
              <a:t>copy</a:t>
            </a:r>
            <a:r>
              <a:rPr lang="ru-RU" sz="3200" b="0" dirty="0"/>
              <a:t> вместо COPY для работы с локальными файлами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ru-RU" sz="3200" b="0" dirty="0"/>
              <a:t>Проверяйте результат командой \! </a:t>
            </a:r>
            <a:r>
              <a:rPr lang="ru-RU" sz="3200" b="0" dirty="0" err="1"/>
              <a:t>head</a:t>
            </a:r>
            <a:r>
              <a:rPr lang="ru-RU" sz="3200" b="0" dirty="0"/>
              <a:t> -n 5 file.csv (в </a:t>
            </a:r>
            <a:r>
              <a:rPr lang="ru-RU" sz="3200" b="0" dirty="0" err="1"/>
              <a:t>psql</a:t>
            </a:r>
            <a:r>
              <a:rPr lang="ru-RU" sz="3200" b="0" dirty="0"/>
              <a:t>)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ru-RU" sz="3200" b="0" dirty="0"/>
              <a:t>Для сложных преобразований используйте промежуточные таблицы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ru-RU" sz="3200" b="0" dirty="0"/>
              <a:t>Документируйте используемые кодировки в проектной документации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78815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DF7A22-5582-1445-63A7-C02F94103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1987287"/>
          </a:xfrm>
        </p:spPr>
        <p:txBody>
          <a:bodyPr/>
          <a:lstStyle/>
          <a:p>
            <a:r>
              <a:rPr lang="ru-RU" dirty="0"/>
              <a:t>Задание	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6CFD05-AE6F-C307-F549-6672FA270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652" y="2692400"/>
            <a:ext cx="3411973" cy="4071949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программное обеспечение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E960709-DDA3-5F8A-1F42-6248C5985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733" y="845185"/>
            <a:ext cx="6939952" cy="542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082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7D75ED-F919-40C0-65A2-3718896D0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Ресурсы для изучения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31FB0B-AEAC-C35E-0DD8-00EDD14EC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dirty="0"/>
              <a:t>Официальная документация PostgreSQL: COPY команда</a:t>
            </a:r>
          </a:p>
          <a:p>
            <a:r>
              <a:rPr lang="ru-RU" b="0" dirty="0"/>
              <a:t>Руководство по работе с кодировками в PostgreSQL</a:t>
            </a:r>
          </a:p>
          <a:p>
            <a:r>
              <a:rPr lang="ru-RU" b="0" dirty="0"/>
              <a:t>JSON/XML функции в PostgreSQL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6538508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</TotalTime>
  <Words>1860</Words>
  <Application>Microsoft Office PowerPoint</Application>
  <PresentationFormat>Широкоэкранный</PresentationFormat>
  <Paragraphs>270</Paragraphs>
  <Slides>37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Meiryo</vt:lpstr>
      <vt:lpstr>Arial Narrow</vt:lpstr>
      <vt:lpstr>Calibri</vt:lpstr>
      <vt:lpstr>Consolas</vt:lpstr>
      <vt:lpstr>Corbel</vt:lpstr>
      <vt:lpstr>Menlo</vt:lpstr>
      <vt:lpstr>Wingdings</vt:lpstr>
      <vt:lpstr>ShojiVTI</vt:lpstr>
      <vt:lpstr>Работа в СУБД PostgreSQL</vt:lpstr>
      <vt:lpstr>Презентация PowerPoint</vt:lpstr>
      <vt:lpstr>Презентация PowerPoint</vt:lpstr>
      <vt:lpstr>Импорт </vt:lpstr>
      <vt:lpstr>Особенности импорта</vt:lpstr>
      <vt:lpstr>Импорт CSV через /copy в psql</vt:lpstr>
      <vt:lpstr>Экспорт </vt:lpstr>
      <vt:lpstr>Особенности экспорта</vt:lpstr>
      <vt:lpstr>Получить список всех таблиц</vt:lpstr>
      <vt:lpstr>Функция для генерации CREATE TABLE</vt:lpstr>
      <vt:lpstr>Для конкретной таблицы получить DDL</vt:lpstr>
      <vt:lpstr>Функция для генерации вставки записей</vt:lpstr>
      <vt:lpstr>Для каждой таблицы: структура + данные</vt:lpstr>
      <vt:lpstr>Для каждой таблицы: структура + данные</vt:lpstr>
      <vt:lpstr>Для каждой таблицы: структура + данные</vt:lpstr>
      <vt:lpstr>Полученный результат</vt:lpstr>
      <vt:lpstr>Проблемы с кодировками и спецсимволами </vt:lpstr>
      <vt:lpstr>Проверка текущих настроек кодировки </vt:lpstr>
      <vt:lpstr>Настройка кодировки при создании БД </vt:lpstr>
      <vt:lpstr>Импорт CSV с кириллицей </vt:lpstr>
      <vt:lpstr>Экспорт с сохранением кириллицы </vt:lpstr>
      <vt:lpstr>Решение проблем </vt:lpstr>
      <vt:lpstr>Экспорт в JSON Встроенные функции для работы с JSON </vt:lpstr>
      <vt:lpstr>Экспорт результатов запроса в JSON-файл </vt:lpstr>
      <vt:lpstr>Экспорт сложных структур </vt:lpstr>
      <vt:lpstr>Экспорт в XML </vt:lpstr>
      <vt:lpstr>Экспорт таблицы в XML </vt:lpstr>
      <vt:lpstr>Экспорт в XML-файл </vt:lpstr>
      <vt:lpstr>Кастомизация XML-вывода </vt:lpstr>
      <vt:lpstr>Пример  Импорт JSON данных  </vt:lpstr>
      <vt:lpstr>Конвертация между форматами </vt:lpstr>
      <vt:lpstr>Безопасность </vt:lpstr>
      <vt:lpstr>Производительность </vt:lpstr>
      <vt:lpstr>Версионирование  </vt:lpstr>
      <vt:lpstr>Презентация PowerPoint</vt:lpstr>
      <vt:lpstr>Задание </vt:lpstr>
      <vt:lpstr>Ресурсы для изучения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в СУБД Oracle</dc:title>
  <dc:creator>Лариса Цымбалюк</dc:creator>
  <cp:lastModifiedBy>Лариса Цымбалюк</cp:lastModifiedBy>
  <cp:revision>46</cp:revision>
  <dcterms:created xsi:type="dcterms:W3CDTF">2020-11-18T19:50:34Z</dcterms:created>
  <dcterms:modified xsi:type="dcterms:W3CDTF">2026-01-18T19:59:28Z</dcterms:modified>
</cp:coreProperties>
</file>