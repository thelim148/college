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 /><Relationship Id="rId21" Type="http://schemas.openxmlformats.org/officeDocument/2006/relationships/tableStyles" Target="tableStyles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911463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016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4232247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2678845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624168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66684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41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2456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9591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089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272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10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912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37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3158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459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9214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614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168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606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7043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883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37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026747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874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3750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7749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93507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6835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345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16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177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3912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739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3258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41942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231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6386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9696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389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5481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116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92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490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876209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226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67194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77753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737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5516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5351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82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88932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27048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9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724114" name="Shape 0"/>
          <p:cNvSpPr/>
          <p:nvPr/>
        </p:nvSpPr>
        <p:spPr bwMode="auto">
          <a:xfrm>
            <a:off x="0" y="0"/>
            <a:ext cx="6446520" cy="6858000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55306426" name="Shape 1"/>
          <p:cNvSpPr/>
          <p:nvPr/>
        </p:nvSpPr>
        <p:spPr bwMode="auto">
          <a:xfrm>
            <a:off x="6446520" y="0"/>
            <a:ext cx="5745175" cy="6858000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pic>
        <p:nvPicPr>
          <p:cNvPr id="301666105" name="Image 0" descr="/mnt/data/constitution_presentation/assets/title_constitution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52360" y="885513"/>
            <a:ext cx="3840480" cy="5123549"/>
          </a:xfrm>
          <a:prstGeom prst="rect">
            <a:avLst/>
          </a:prstGeom>
        </p:spPr>
      </p:pic>
      <p:sp>
        <p:nvSpPr>
          <p:cNvPr id="1982333032" name="Text 4"/>
          <p:cNvSpPr/>
          <p:nvPr/>
        </p:nvSpPr>
        <p:spPr bwMode="auto">
          <a:xfrm>
            <a:off x="749808" y="15544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Конституционные основы</a:t>
            </a:r>
            <a:endParaRPr lang="en-US" sz="2500"/>
          </a:p>
          <a:p>
            <a:pPr marL="0" indent="0">
              <a:buNone/>
              <a:defRPr/>
            </a:pPr>
            <a:r>
              <a:rPr lang="en-US"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правового статуса личности</a:t>
            </a:r>
            <a:endParaRPr lang="en-US" sz="2500"/>
          </a:p>
          <a:p>
            <a:pPr marL="0" indent="0">
              <a:buNone/>
              <a:defRPr/>
            </a:pPr>
            <a:r>
              <a:rPr lang="en-US" sz="2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гражданства в Российской Федерации</a:t>
            </a:r>
            <a:endParaRPr lang="en-US" sz="2500"/>
          </a:p>
        </p:txBody>
      </p:sp>
      <p:sp>
        <p:nvSpPr>
          <p:cNvPr id="798565985" name="Text 5"/>
          <p:cNvSpPr/>
          <p:nvPr/>
        </p:nvSpPr>
        <p:spPr bwMode="auto">
          <a:xfrm>
            <a:off x="777240" y="5321808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50">
                <a:solidFill>
                  <a:srgbClr val="E8F6EB"/>
                </a:solidFill>
                <a:latin typeface="Arial"/>
                <a:ea typeface="Arial"/>
                <a:cs typeface="Arial"/>
              </a:rPr>
              <a:t>Выполнил</a:t>
            </a:r>
            <a:r>
              <a:rPr lang="ru-RU" sz="1650">
                <a:solidFill>
                  <a:srgbClr val="E8F6EB"/>
                </a:solidFill>
                <a:latin typeface="Arial"/>
                <a:ea typeface="Arial"/>
                <a:cs typeface="Arial"/>
              </a:rPr>
              <a:t>и</a:t>
            </a:r>
            <a:r>
              <a:rPr lang="en-US" sz="1650">
                <a:solidFill>
                  <a:srgbClr val="E8F6EB"/>
                </a:solidFill>
                <a:latin typeface="Arial"/>
                <a:ea typeface="Arial"/>
                <a:cs typeface="Arial"/>
              </a:rPr>
              <a:t>: Акулова В.С. Рыжов К.А., группа 3992</a:t>
            </a:r>
            <a:endParaRPr lang="en-US" sz="16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029986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754481097" name="Text 3"/>
          <p:cNvSpPr/>
          <p:nvPr/>
        </p:nvSpPr>
        <p:spPr bwMode="auto">
          <a:xfrm flipH="0" flipV="0">
            <a:off x="594359" y="397784"/>
            <a:ext cx="6583680" cy="83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Понятие правового статуса личности</a:t>
            </a:r>
            <a:endParaRPr lang="en-US" sz="2800"/>
          </a:p>
        </p:txBody>
      </p:sp>
      <p:sp>
        <p:nvSpPr>
          <p:cNvPr id="1761902001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731448463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02</a:t>
            </a:r>
            <a:endParaRPr lang="en-US" sz="1100"/>
          </a:p>
        </p:txBody>
      </p:sp>
      <p:sp>
        <p:nvSpPr>
          <p:cNvPr id="1971081590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Правовой статус личности — это совокупность прав, свобод, обязанностей и гарантий их реализации.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Он определяет положение человека в государстве и обществе.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В конституционном праве основа такого статуса закреплена в главе 2 Конституции РФ.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Именно эта глава формирует основы правового статуса личности в Российской Федерации.</a:t>
            </a:r>
            <a:endParaRPr lang="en-US" sz="1900"/>
          </a:p>
        </p:txBody>
      </p:sp>
      <p:sp>
        <p:nvSpPr>
          <p:cNvPr id="1843628302" name="Shape 7"/>
          <p:cNvSpPr/>
          <p:nvPr/>
        </p:nvSpPr>
        <p:spPr bwMode="auto">
          <a:xfrm>
            <a:off x="7562088" y="1161288"/>
            <a:ext cx="3895343" cy="4901184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332623555" name="Image 0" descr="/mnt/data/constitution_presentation/assets/title_constitution.jpg"/>
          <p:cNvPicPr>
            <a:picLocks noChangeAspect="1"/>
          </p:cNvPicPr>
          <p:nvPr/>
        </p:nvPicPr>
        <p:blipFill rotWithShape="1">
          <a:blip r:embed="rId3"/>
          <a:srcRect l="0" t="2466" r="0" b="2465"/>
          <a:stretch/>
        </p:blipFill>
        <p:spPr bwMode="auto">
          <a:xfrm>
            <a:off x="7635240" y="1234440"/>
            <a:ext cx="3749040" cy="4754880"/>
          </a:xfrm>
          <a:prstGeom prst="rect">
            <a:avLst/>
          </a:prstGeom>
        </p:spPr>
      </p:pic>
      <p:sp>
        <p:nvSpPr>
          <p:cNvPr id="801786426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383857994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Правовой статус личности объединяет права, свободы, обязанности и механизмы их защиты.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76433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18698249" name="Text 3"/>
          <p:cNvSpPr/>
          <p:nvPr/>
        </p:nvSpPr>
        <p:spPr bwMode="auto">
          <a:xfrm flipH="0" flipV="0">
            <a:off x="594359" y="480060"/>
            <a:ext cx="6583680" cy="71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Структура правового статуса личности</a:t>
            </a:r>
            <a:endParaRPr lang="en-US" sz="2800"/>
          </a:p>
        </p:txBody>
      </p:sp>
      <p:sp>
        <p:nvSpPr>
          <p:cNvPr id="1247499364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840301969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03</a:t>
            </a:r>
            <a:endParaRPr lang="en-US" sz="1100"/>
          </a:p>
        </p:txBody>
      </p:sp>
      <p:sp>
        <p:nvSpPr>
          <p:cNvPr id="51626977" name="Text 6"/>
          <p:cNvSpPr/>
          <p:nvPr/>
        </p:nvSpPr>
        <p:spPr bwMode="auto">
          <a:xfrm>
            <a:off x="713232" y="1536192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В структуру статуса входят: конституционные принципы, права и свободы, обязанности, гражданство и гарантии защиты прав.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Особое значение имеют равенство перед законом и судом.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Права и свободы являются непосредственно действующими.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Государство обязано признавать, соблюдать и защищать их.</a:t>
            </a:r>
            <a:endParaRPr lang="en-US" sz="1850"/>
          </a:p>
        </p:txBody>
      </p:sp>
      <p:sp>
        <p:nvSpPr>
          <p:cNvPr id="1019394356" name="Shape 7"/>
          <p:cNvSpPr/>
          <p:nvPr/>
        </p:nvSpPr>
        <p:spPr bwMode="auto">
          <a:xfrm>
            <a:off x="8366760" y="1389888"/>
            <a:ext cx="2331720" cy="749808"/>
          </a:xfrm>
          <a:prstGeom prst="roundRect">
            <a:avLst>
              <a:gd name="adj" fmla="val 9756"/>
            </a:avLst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602742070" name="Text 8"/>
          <p:cNvSpPr/>
          <p:nvPr/>
        </p:nvSpPr>
        <p:spPr bwMode="auto">
          <a:xfrm>
            <a:off x="8549640" y="15727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правовой статус</a:t>
            </a:r>
            <a:endParaRPr lang="en-US" sz="1700"/>
          </a:p>
          <a:p>
            <a:pPr marL="0" indent="0" algn="ctr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личности</a:t>
            </a:r>
            <a:endParaRPr lang="en-US" sz="1700"/>
          </a:p>
        </p:txBody>
      </p:sp>
      <p:sp>
        <p:nvSpPr>
          <p:cNvPr id="285349641" name="Shape 9"/>
          <p:cNvSpPr/>
          <p:nvPr/>
        </p:nvSpPr>
        <p:spPr bwMode="auto">
          <a:xfrm>
            <a:off x="9528048" y="2139696"/>
            <a:ext cx="0" cy="384048"/>
          </a:xfrm>
          <a:prstGeom prst="line">
            <a:avLst/>
          </a:prstGeom>
          <a:noFill/>
          <a:ln w="20320">
            <a:solidFill>
              <a:srgbClr val="4EA66E"/>
            </a:solidFill>
            <a:prstDash val="solid"/>
          </a:ln>
        </p:spPr>
      </p:sp>
      <p:sp>
        <p:nvSpPr>
          <p:cNvPr id="628687594" name="Shape 10"/>
          <p:cNvSpPr/>
          <p:nvPr/>
        </p:nvSpPr>
        <p:spPr bwMode="auto">
          <a:xfrm>
            <a:off x="8412480" y="2523744"/>
            <a:ext cx="2148840" cy="0"/>
          </a:xfrm>
          <a:prstGeom prst="line">
            <a:avLst/>
          </a:prstGeom>
          <a:noFill/>
          <a:ln w="20320">
            <a:solidFill>
              <a:srgbClr val="4EA66E"/>
            </a:solidFill>
            <a:prstDash val="solid"/>
          </a:ln>
        </p:spPr>
      </p:sp>
      <p:sp>
        <p:nvSpPr>
          <p:cNvPr id="1123006230" name="Shape 11"/>
          <p:cNvSpPr/>
          <p:nvPr/>
        </p:nvSpPr>
        <p:spPr bwMode="auto">
          <a:xfrm>
            <a:off x="8412480" y="2523744"/>
            <a:ext cx="0" cy="310896"/>
          </a:xfrm>
          <a:prstGeom prst="line">
            <a:avLst/>
          </a:prstGeom>
          <a:noFill/>
          <a:ln w="17780">
            <a:solidFill>
              <a:srgbClr val="4EA66E"/>
            </a:solidFill>
            <a:prstDash val="solid"/>
          </a:ln>
        </p:spPr>
      </p:sp>
      <p:sp>
        <p:nvSpPr>
          <p:cNvPr id="1267178646" name="Shape 12"/>
          <p:cNvSpPr/>
          <p:nvPr/>
        </p:nvSpPr>
        <p:spPr bwMode="auto">
          <a:xfrm>
            <a:off x="10561320" y="2523744"/>
            <a:ext cx="0" cy="310896"/>
          </a:xfrm>
          <a:prstGeom prst="line">
            <a:avLst/>
          </a:prstGeom>
          <a:noFill/>
          <a:ln w="17780">
            <a:solidFill>
              <a:srgbClr val="4EA66E"/>
            </a:solidFill>
            <a:prstDash val="solid"/>
          </a:ln>
        </p:spPr>
      </p:sp>
      <p:sp>
        <p:nvSpPr>
          <p:cNvPr id="2040667313" name="Shape 13"/>
          <p:cNvSpPr/>
          <p:nvPr/>
        </p:nvSpPr>
        <p:spPr bwMode="auto">
          <a:xfrm flipH="0" flipV="0">
            <a:off x="8412480" y="3359493"/>
            <a:ext cx="0" cy="764450"/>
          </a:xfrm>
          <a:prstGeom prst="line">
            <a:avLst/>
          </a:prstGeom>
          <a:noFill/>
          <a:ln w="17780">
            <a:solidFill>
              <a:srgbClr val="4EA66E"/>
            </a:solidFill>
            <a:prstDash val="solid"/>
          </a:ln>
        </p:spPr>
      </p:sp>
      <p:sp>
        <p:nvSpPr>
          <p:cNvPr id="670325802" name="Shape 14"/>
          <p:cNvSpPr/>
          <p:nvPr/>
        </p:nvSpPr>
        <p:spPr bwMode="auto">
          <a:xfrm flipH="0" flipV="0">
            <a:off x="10561320" y="3359493"/>
            <a:ext cx="0" cy="764450"/>
          </a:xfrm>
          <a:prstGeom prst="line">
            <a:avLst/>
          </a:prstGeom>
          <a:noFill/>
          <a:ln w="17780">
            <a:solidFill>
              <a:srgbClr val="4EA66E"/>
            </a:solidFill>
            <a:prstDash val="solid"/>
          </a:ln>
        </p:spPr>
      </p:sp>
      <p:sp>
        <p:nvSpPr>
          <p:cNvPr id="1515876380" name="Shape 15"/>
          <p:cNvSpPr/>
          <p:nvPr/>
        </p:nvSpPr>
        <p:spPr bwMode="auto">
          <a:xfrm flipH="0" flipV="0">
            <a:off x="9528048" y="2471351"/>
            <a:ext cx="0" cy="2923608"/>
          </a:xfrm>
          <a:prstGeom prst="line">
            <a:avLst/>
          </a:prstGeom>
          <a:noFill/>
          <a:ln w="17780">
            <a:solidFill>
              <a:srgbClr val="4EA66E"/>
            </a:solidFill>
            <a:prstDash val="solid"/>
          </a:ln>
        </p:spPr>
      </p:sp>
      <p:sp>
        <p:nvSpPr>
          <p:cNvPr id="210769464" name="Shape 16"/>
          <p:cNvSpPr/>
          <p:nvPr/>
        </p:nvSpPr>
        <p:spPr bwMode="auto">
          <a:xfrm>
            <a:off x="7571232" y="283464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8F0"/>
          </a:solidFill>
          <a:ln w="13970">
            <a:solidFill>
              <a:srgbClr val="B8DDBF"/>
            </a:solidFill>
            <a:prstDash val="solid"/>
          </a:ln>
        </p:spPr>
      </p:sp>
      <p:sp>
        <p:nvSpPr>
          <p:cNvPr id="1630470221" name="Text 17"/>
          <p:cNvSpPr/>
          <p:nvPr/>
        </p:nvSpPr>
        <p:spPr bwMode="auto">
          <a:xfrm>
            <a:off x="7644384" y="298094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принципы</a:t>
            </a:r>
            <a:endParaRPr lang="en-US" sz="1300"/>
          </a:p>
        </p:txBody>
      </p:sp>
      <p:sp>
        <p:nvSpPr>
          <p:cNvPr id="2146762847" name="Shape 18"/>
          <p:cNvSpPr/>
          <p:nvPr/>
        </p:nvSpPr>
        <p:spPr bwMode="auto">
          <a:xfrm>
            <a:off x="9720072" y="283464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8F0"/>
          </a:solidFill>
          <a:ln w="13970">
            <a:solidFill>
              <a:srgbClr val="B8DDBF"/>
            </a:solidFill>
            <a:prstDash val="solid"/>
          </a:ln>
        </p:spPr>
      </p:sp>
      <p:sp>
        <p:nvSpPr>
          <p:cNvPr id="1350017959" name="Text 19"/>
          <p:cNvSpPr/>
          <p:nvPr/>
        </p:nvSpPr>
        <p:spPr bwMode="auto">
          <a:xfrm>
            <a:off x="9793224" y="298094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права и свободы</a:t>
            </a:r>
            <a:endParaRPr lang="en-US" sz="1300"/>
          </a:p>
        </p:txBody>
      </p:sp>
      <p:sp>
        <p:nvSpPr>
          <p:cNvPr id="310000033" name="Shape 20"/>
          <p:cNvSpPr/>
          <p:nvPr/>
        </p:nvSpPr>
        <p:spPr bwMode="auto">
          <a:xfrm>
            <a:off x="7571232" y="4123944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8F0"/>
          </a:solidFill>
          <a:ln w="13970">
            <a:solidFill>
              <a:srgbClr val="B8DDBF"/>
            </a:solidFill>
            <a:prstDash val="solid"/>
          </a:ln>
        </p:spPr>
      </p:sp>
      <p:sp>
        <p:nvSpPr>
          <p:cNvPr id="1076355743" name="Text 21"/>
          <p:cNvSpPr/>
          <p:nvPr/>
        </p:nvSpPr>
        <p:spPr bwMode="auto">
          <a:xfrm>
            <a:off x="7644384" y="4270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обязанности</a:t>
            </a:r>
            <a:endParaRPr lang="en-US" sz="1300"/>
          </a:p>
        </p:txBody>
      </p:sp>
      <p:sp>
        <p:nvSpPr>
          <p:cNvPr id="1728545359" name="Shape 22"/>
          <p:cNvSpPr/>
          <p:nvPr/>
        </p:nvSpPr>
        <p:spPr bwMode="auto">
          <a:xfrm>
            <a:off x="9720072" y="4123944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EEF8F0"/>
          </a:solidFill>
          <a:ln w="13970">
            <a:solidFill>
              <a:srgbClr val="B8DDBF"/>
            </a:solidFill>
            <a:prstDash val="solid"/>
          </a:ln>
        </p:spPr>
      </p:sp>
      <p:sp>
        <p:nvSpPr>
          <p:cNvPr id="17976000" name="Text 23"/>
          <p:cNvSpPr/>
          <p:nvPr/>
        </p:nvSpPr>
        <p:spPr bwMode="auto">
          <a:xfrm>
            <a:off x="9793224" y="4270248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гражданство</a:t>
            </a:r>
            <a:endParaRPr lang="en-US" sz="1300"/>
          </a:p>
        </p:txBody>
      </p:sp>
      <p:sp>
        <p:nvSpPr>
          <p:cNvPr id="56292961" name="Shape 24"/>
          <p:cNvSpPr/>
          <p:nvPr/>
        </p:nvSpPr>
        <p:spPr bwMode="auto">
          <a:xfrm>
            <a:off x="8604504" y="5394960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EEF8F0"/>
          </a:solidFill>
          <a:ln w="13970">
            <a:solidFill>
              <a:srgbClr val="B8DDBF"/>
            </a:solidFill>
            <a:prstDash val="solid"/>
          </a:ln>
        </p:spPr>
      </p:sp>
      <p:sp>
        <p:nvSpPr>
          <p:cNvPr id="884716102" name="Text 25"/>
          <p:cNvSpPr/>
          <p:nvPr/>
        </p:nvSpPr>
        <p:spPr bwMode="auto">
          <a:xfrm>
            <a:off x="8677656" y="5541264"/>
            <a:ext cx="1728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гарантии защиты</a:t>
            </a:r>
            <a:endParaRPr lang="en-US" sz="1300"/>
          </a:p>
        </p:txBody>
      </p:sp>
      <p:sp>
        <p:nvSpPr>
          <p:cNvPr id="893901737" name="Shape 26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437426216" name="Text 27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Правовой статус личности — это не один элемент, а система взаимосвязанных конституционных норм.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857173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7118291" name="Text 3"/>
          <p:cNvSpPr/>
          <p:nvPr/>
        </p:nvSpPr>
        <p:spPr bwMode="auto">
          <a:xfrm flipH="0" flipV="0">
            <a:off x="594359" y="360405"/>
            <a:ext cx="6583680" cy="874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Конституционные принципы правового статуса</a:t>
            </a:r>
            <a:endParaRPr lang="en-US" sz="2800"/>
          </a:p>
        </p:txBody>
      </p:sp>
      <p:sp>
        <p:nvSpPr>
          <p:cNvPr id="1732447101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619247625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04</a:t>
            </a:r>
            <a:endParaRPr lang="en-US" sz="1100"/>
          </a:p>
        </p:txBody>
      </p:sp>
      <p:sp>
        <p:nvSpPr>
          <p:cNvPr id="785329460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Человек, его права и свободы признаются высшей ценностью.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Признание, соблюдение и защита прав и свобод — обязанность государства.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Основные права неотчуждаемы и принадлежат каждому от рождения.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Права и свободы имеют непосредственное действие.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Все равны перед законом и судом независимо от пола, расы, языка, происхождения, убеждений и других обстоятельств.</a:t>
            </a:r>
            <a:endParaRPr lang="en-US" sz="1800"/>
          </a:p>
        </p:txBody>
      </p:sp>
      <p:sp>
        <p:nvSpPr>
          <p:cNvPr id="204471125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871457401" name="Image 0" descr="/mnt/data/constitution_presentation/assets/court_columns.jpg"/>
          <p:cNvPicPr>
            <a:picLocks noChangeAspect="1"/>
          </p:cNvPicPr>
          <p:nvPr/>
        </p:nvPicPr>
        <p:blipFill rotWithShape="1">
          <a:blip r:embed="rId3"/>
          <a:srcRect l="0" t="186" r="0" b="186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2129176699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995355912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Базовые принципы задают всю систему взаимоотношений человека, общества и государства.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75309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61252461" name="Text 3"/>
          <p:cNvSpPr/>
          <p:nvPr/>
        </p:nvSpPr>
        <p:spPr bwMode="auto">
          <a:xfrm>
            <a:off x="594359" y="576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Конституционные права и свободы: общая характеристика</a:t>
            </a:r>
            <a:endParaRPr lang="en-US" sz="2800"/>
          </a:p>
        </p:txBody>
      </p:sp>
      <p:sp>
        <p:nvSpPr>
          <p:cNvPr id="173517024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571156854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05</a:t>
            </a:r>
            <a:endParaRPr lang="en-US" sz="1100"/>
          </a:p>
        </p:txBody>
      </p:sp>
      <p:sp>
        <p:nvSpPr>
          <p:cNvPr id="748590575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Конституция РФ закрепляет широкий круг прав и свобод человека и гражданина.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Обычно их делят на личные, политические, социально-экономические и культурные.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Одни права принадлежат каждому человеку.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Другие права принадлежат именно гражданину Российской Федерации.</a:t>
            </a:r>
            <a:endParaRPr lang="en-US" sz="1850"/>
          </a:p>
          <a:p>
            <a:pPr marL="152400" indent="-152400">
              <a:buSzPct val="100000"/>
              <a:buChar char="•"/>
              <a:defRPr/>
            </a:pPr>
            <a:r>
              <a:rPr lang="en-US" sz="1850">
                <a:solidFill>
                  <a:srgbClr val="153222"/>
                </a:solidFill>
                <a:latin typeface="Arial"/>
                <a:ea typeface="Arial"/>
                <a:cs typeface="Arial"/>
              </a:rPr>
              <a:t>Это видно по формулировкам статей: «каждый» и «граждане Российской Федерации».</a:t>
            </a:r>
            <a:endParaRPr lang="en-US" sz="1850"/>
          </a:p>
        </p:txBody>
      </p:sp>
      <p:sp>
        <p:nvSpPr>
          <p:cNvPr id="953450518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642514316" name="Image 0" descr="/mnt/data/constitution_presentation/assets/community_hands.jpg"/>
          <p:cNvPicPr>
            <a:picLocks noChangeAspect="1"/>
          </p:cNvPicPr>
          <p:nvPr/>
        </p:nvPicPr>
        <p:blipFill rotWithShape="1">
          <a:blip r:embed="rId3"/>
          <a:srcRect l="23273" t="0" r="23272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1418116450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009725079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Конституция различает универсальные права человека и специальные политико-правовые права гражданина.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70076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559836173" name="Text 3"/>
          <p:cNvSpPr/>
          <p:nvPr/>
        </p:nvSpPr>
        <p:spPr bwMode="auto">
          <a:xfrm>
            <a:off x="59436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Личные права и свободы</a:t>
            </a:r>
            <a:endParaRPr lang="en-US" sz="2800"/>
          </a:p>
        </p:txBody>
      </p:sp>
      <p:sp>
        <p:nvSpPr>
          <p:cNvPr id="1801848878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088827052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06</a:t>
            </a:r>
            <a:endParaRPr lang="en-US" sz="1100"/>
          </a:p>
        </p:txBody>
      </p:sp>
      <p:sp>
        <p:nvSpPr>
          <p:cNvPr id="1172019251" name="Text 6"/>
          <p:cNvSpPr/>
          <p:nvPr/>
        </p:nvSpPr>
        <p:spPr bwMode="auto">
          <a:xfrm>
            <a:off x="713232" y="1536192"/>
            <a:ext cx="60807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на жизнь;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достоинство личности, свободу и личную неприкосновенность;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неприкосновенность частной жизни, жилища и тайну переписки;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свободу передвижения, совести и вероисповедания;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пользоваться родным языком и определять национальную принадлежность.</a:t>
            </a:r>
            <a:endParaRPr lang="en-US" sz="1900"/>
          </a:p>
        </p:txBody>
      </p:sp>
      <p:sp>
        <p:nvSpPr>
          <p:cNvPr id="441573130" name="Text 7"/>
          <p:cNvSpPr/>
          <p:nvPr/>
        </p:nvSpPr>
        <p:spPr bwMode="auto">
          <a:xfrm>
            <a:off x="731520" y="5504687"/>
            <a:ext cx="5989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3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Эти права обеспечивают личную автономию человека и защищают его от произвольного вмешательства государства и иных лиц.</a:t>
            </a:r>
            <a:endParaRPr lang="en-US" sz="1350"/>
          </a:p>
        </p:txBody>
      </p:sp>
      <p:sp>
        <p:nvSpPr>
          <p:cNvPr id="877609484" name="Shape 8"/>
          <p:cNvSpPr/>
          <p:nvPr/>
        </p:nvSpPr>
        <p:spPr bwMode="auto">
          <a:xfrm>
            <a:off x="7470648" y="1069848"/>
            <a:ext cx="4215384" cy="512978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132145375" name="Image 0" descr="/mnt/data/constitution_presentation/assets/privacy_lock.jpg"/>
          <p:cNvPicPr>
            <a:picLocks noChangeAspect="1"/>
          </p:cNvPicPr>
          <p:nvPr/>
        </p:nvPicPr>
        <p:blipFill rotWithShape="1">
          <a:blip r:embed="rId3"/>
          <a:srcRect l="0" t="1010" r="0" b="1010"/>
          <a:stretch/>
        </p:blipFill>
        <p:spPr bwMode="auto">
          <a:xfrm>
            <a:off x="7543800" y="1143000"/>
            <a:ext cx="4069080" cy="49834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8908759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49259463" name="Text 3"/>
          <p:cNvSpPr/>
          <p:nvPr/>
        </p:nvSpPr>
        <p:spPr bwMode="auto">
          <a:xfrm>
            <a:off x="59436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Политические права и свободы</a:t>
            </a:r>
            <a:endParaRPr lang="en-US" sz="2800"/>
          </a:p>
        </p:txBody>
      </p:sp>
      <p:sp>
        <p:nvSpPr>
          <p:cNvPr id="1031797441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030604175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07</a:t>
            </a:r>
            <a:endParaRPr lang="en-US" sz="1100"/>
          </a:p>
        </p:txBody>
      </p:sp>
      <p:sp>
        <p:nvSpPr>
          <p:cNvPr id="1206183864" name="Text 6"/>
          <p:cNvSpPr/>
          <p:nvPr/>
        </p:nvSpPr>
        <p:spPr bwMode="auto">
          <a:xfrm>
            <a:off x="713232" y="1536192"/>
            <a:ext cx="6080760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свобода мысли и слова;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искать, получать и распространять информацию законными способами;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свобода массовой информации и запрет цензуры;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на объединение и мирные собрания;</a:t>
            </a:r>
            <a:endParaRPr lang="en-US" sz="1900"/>
          </a:p>
          <a:p>
            <a:pPr marL="152400" indent="-152400">
              <a:buSzPct val="100000"/>
              <a:buChar char="•"/>
              <a:defRPr/>
            </a:pPr>
            <a:r>
              <a:rPr lang="en-US" sz="1900">
                <a:solidFill>
                  <a:srgbClr val="153222"/>
                </a:solidFill>
                <a:latin typeface="Arial"/>
                <a:ea typeface="Arial"/>
                <a:cs typeface="Arial"/>
              </a:rPr>
              <a:t>участие в управлении делами государства, выборах, референдуме и обращениях в органы власти.</a:t>
            </a:r>
            <a:endParaRPr lang="en-US" sz="1900"/>
          </a:p>
        </p:txBody>
      </p:sp>
      <p:sp>
        <p:nvSpPr>
          <p:cNvPr id="145530011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53722159" name="Image 0" descr="/mnt/data/constitution_presentation/assets/vote_ballot.jpg"/>
          <p:cNvPicPr>
            <a:picLocks noChangeAspect="1"/>
          </p:cNvPicPr>
          <p:nvPr/>
        </p:nvPicPr>
        <p:blipFill rotWithShape="1">
          <a:blip r:embed="rId3"/>
          <a:srcRect l="24743" t="0" r="24742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390917288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23443117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Политические права обеспечивают участие гражданина в общественной и государственной жизни.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3189279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662868294" name="Text 3"/>
          <p:cNvSpPr/>
          <p:nvPr/>
        </p:nvSpPr>
        <p:spPr bwMode="auto">
          <a:xfrm>
            <a:off x="59436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Социально-экономические права</a:t>
            </a:r>
            <a:endParaRPr lang="en-US" sz="2800"/>
          </a:p>
        </p:txBody>
      </p:sp>
      <p:sp>
        <p:nvSpPr>
          <p:cNvPr id="545484361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616522004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08</a:t>
            </a:r>
            <a:endParaRPr lang="en-US" sz="1100"/>
          </a:p>
        </p:txBody>
      </p:sp>
      <p:sp>
        <p:nvSpPr>
          <p:cNvPr id="1625987600" name="Text 6"/>
          <p:cNvSpPr/>
          <p:nvPr/>
        </p:nvSpPr>
        <p:spPr bwMode="auto">
          <a:xfrm>
            <a:off x="713232" y="1536192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свободно использовать способности и имущество для предпринимательской деятельности;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частной собственности и наследования;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на труд, отдых и защиту от безработицы;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право на социальное обеспечение, жилище, охрану здоровья и благоприятную окружающую среду.</a:t>
            </a:r>
            <a:endParaRPr lang="en-US" sz="1800"/>
          </a:p>
        </p:txBody>
      </p:sp>
      <p:sp>
        <p:nvSpPr>
          <p:cNvPr id="1069529843" name="Shape 7"/>
          <p:cNvSpPr/>
          <p:nvPr/>
        </p:nvSpPr>
        <p:spPr bwMode="auto">
          <a:xfrm>
            <a:off x="7461504" y="1197864"/>
            <a:ext cx="4142232" cy="1581912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555424788" name="Image 0" descr="/mnt/data/constitution_presentation/assets/office_work.jpg"/>
          <p:cNvPicPr>
            <a:picLocks noChangeAspect="1"/>
          </p:cNvPicPr>
          <p:nvPr/>
        </p:nvPicPr>
        <p:blipFill rotWithShape="1">
          <a:blip r:embed="rId3"/>
          <a:srcRect l="0" t="17031" r="0" b="17031"/>
          <a:stretch/>
        </p:blipFill>
        <p:spPr bwMode="auto">
          <a:xfrm>
            <a:off x="7498080" y="1234440"/>
            <a:ext cx="4069080" cy="1508759"/>
          </a:xfrm>
          <a:prstGeom prst="rect">
            <a:avLst/>
          </a:prstGeom>
        </p:spPr>
      </p:pic>
      <p:sp>
        <p:nvSpPr>
          <p:cNvPr id="687006684" name="Shape 8"/>
          <p:cNvSpPr/>
          <p:nvPr/>
        </p:nvSpPr>
        <p:spPr bwMode="auto">
          <a:xfrm>
            <a:off x="7461504" y="2889504"/>
            <a:ext cx="2039112" cy="277063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324687839" name="Image 1" descr="/mnt/data/constitution_presentation/assets/home_apartment.jpg"/>
          <p:cNvPicPr>
            <a:picLocks noChangeAspect="1"/>
          </p:cNvPicPr>
          <p:nvPr/>
        </p:nvPicPr>
        <p:blipFill rotWithShape="1">
          <a:blip r:embed="rId4"/>
          <a:srcRect l="25706" t="0" r="25706" b="0"/>
          <a:stretch/>
        </p:blipFill>
        <p:spPr bwMode="auto">
          <a:xfrm>
            <a:off x="7498080" y="2926080"/>
            <a:ext cx="1965960" cy="2697480"/>
          </a:xfrm>
          <a:prstGeom prst="rect">
            <a:avLst/>
          </a:prstGeom>
        </p:spPr>
      </p:pic>
      <p:sp>
        <p:nvSpPr>
          <p:cNvPr id="518300020" name="Shape 9"/>
          <p:cNvSpPr/>
          <p:nvPr/>
        </p:nvSpPr>
        <p:spPr bwMode="auto">
          <a:xfrm>
            <a:off x="9564624" y="2889504"/>
            <a:ext cx="2039112" cy="2770632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564744911" name="Image 2" descr="/mnt/data/constitution_presentation/assets/forest.jpg"/>
          <p:cNvPicPr>
            <a:picLocks noChangeAspect="1"/>
          </p:cNvPicPr>
          <p:nvPr/>
        </p:nvPicPr>
        <p:blipFill rotWithShape="1">
          <a:blip r:embed="rId5"/>
          <a:srcRect l="29485" t="0" r="29485" b="0"/>
          <a:stretch/>
        </p:blipFill>
        <p:spPr bwMode="auto">
          <a:xfrm>
            <a:off x="9601200" y="2926080"/>
            <a:ext cx="1965960" cy="2697480"/>
          </a:xfrm>
          <a:prstGeom prst="rect">
            <a:avLst/>
          </a:prstGeom>
        </p:spPr>
      </p:pic>
      <p:sp>
        <p:nvSpPr>
          <p:cNvPr id="931567669" name="Shape 10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296148143" name="Text 11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Эти права направлены на обеспечение достойных условий жизни и свободного развития человека.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312950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948246293" name="Text 3"/>
          <p:cNvSpPr/>
          <p:nvPr/>
        </p:nvSpPr>
        <p:spPr bwMode="auto">
          <a:xfrm>
            <a:off x="594360" y="53154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Культурные права и гарантии защиты прав</a:t>
            </a:r>
            <a:endParaRPr lang="en-US" sz="2800"/>
          </a:p>
        </p:txBody>
      </p:sp>
      <p:sp>
        <p:nvSpPr>
          <p:cNvPr id="1015406440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07970717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09</a:t>
            </a:r>
            <a:endParaRPr lang="en-US" sz="1100"/>
          </a:p>
        </p:txBody>
      </p:sp>
      <p:sp>
        <p:nvSpPr>
          <p:cNvPr id="255767284" name="Text 6"/>
          <p:cNvSpPr/>
          <p:nvPr/>
        </p:nvSpPr>
        <p:spPr bwMode="auto">
          <a:xfrm>
            <a:off x="713232" y="1536192"/>
            <a:ext cx="61722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К культурным правам относятся образование, свобода творчества, преподавания, участие в культурной жизни и доступ к культурным ценностям.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Конституция гарантирует общедоступность и бесплатность ряда уровней образования; высшее образование — бесплатно на конкурсной основе.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Защита прав обеспечивается государством и судом.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Важные гарантии: юридическая помощь, презумпция невиновности, возмещение вреда и запрет законов, умаляющих права и свободы.</a:t>
            </a:r>
            <a:endParaRPr lang="en-US" sz="1750"/>
          </a:p>
        </p:txBody>
      </p:sp>
      <p:sp>
        <p:nvSpPr>
          <p:cNvPr id="745390561" name="Shape 7"/>
          <p:cNvSpPr/>
          <p:nvPr/>
        </p:nvSpPr>
        <p:spPr bwMode="auto">
          <a:xfrm>
            <a:off x="7443216" y="1188720"/>
            <a:ext cx="4169664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367065604" name="Image 0" descr="/mnt/data/constitution_presentation/assets/library_books.jpg"/>
          <p:cNvPicPr>
            <a:picLocks noChangeAspect="1"/>
          </p:cNvPicPr>
          <p:nvPr/>
        </p:nvPicPr>
        <p:blipFill rotWithShape="1">
          <a:blip r:embed="rId3"/>
          <a:srcRect l="0" t="8482" r="0" b="8482"/>
          <a:stretch/>
        </p:blipFill>
        <p:spPr bwMode="auto">
          <a:xfrm>
            <a:off x="7479792" y="1225296"/>
            <a:ext cx="4096512" cy="2267712"/>
          </a:xfrm>
          <a:prstGeom prst="rect">
            <a:avLst/>
          </a:prstGeom>
        </p:spPr>
      </p:pic>
      <p:sp>
        <p:nvSpPr>
          <p:cNvPr id="326427696" name="Shape 8"/>
          <p:cNvSpPr/>
          <p:nvPr/>
        </p:nvSpPr>
        <p:spPr bwMode="auto">
          <a:xfrm>
            <a:off x="7443216" y="3648456"/>
            <a:ext cx="2039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722579180" name="Image 1" descr="/mnt/data/constitution_presentation/assets/kids_learning.jpg"/>
          <p:cNvPicPr>
            <a:picLocks noChangeAspect="1"/>
          </p:cNvPicPr>
          <p:nvPr/>
        </p:nvPicPr>
        <p:blipFill rotWithShape="1">
          <a:blip r:embed="rId4"/>
          <a:srcRect l="15873" t="0" r="15873" b="0"/>
          <a:stretch/>
        </p:blipFill>
        <p:spPr bwMode="auto">
          <a:xfrm>
            <a:off x="7479792" y="3685032"/>
            <a:ext cx="1965960" cy="1920240"/>
          </a:xfrm>
          <a:prstGeom prst="rect">
            <a:avLst/>
          </a:prstGeom>
        </p:spPr>
      </p:pic>
      <p:sp>
        <p:nvSpPr>
          <p:cNvPr id="178873928" name="Shape 9"/>
          <p:cNvSpPr/>
          <p:nvPr/>
        </p:nvSpPr>
        <p:spPr bwMode="auto">
          <a:xfrm>
            <a:off x="9582912" y="3648456"/>
            <a:ext cx="2039112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750255020" name="Image 2" descr="/mnt/data/constitution_presentation/assets/court_columns.jpg"/>
          <p:cNvPicPr>
            <a:picLocks noChangeAspect="1"/>
          </p:cNvPicPr>
          <p:nvPr/>
        </p:nvPicPr>
        <p:blipFill rotWithShape="1">
          <a:blip r:embed="rId5"/>
          <a:srcRect l="0" t="10988" r="0" b="10988"/>
          <a:stretch/>
        </p:blipFill>
        <p:spPr bwMode="auto">
          <a:xfrm>
            <a:off x="9619488" y="3685032"/>
            <a:ext cx="1965960" cy="1920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56778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812627327" name="Text 3"/>
          <p:cNvSpPr/>
          <p:nvPr/>
        </p:nvSpPr>
        <p:spPr bwMode="auto">
          <a:xfrm>
            <a:off x="594360" y="576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Понятие конституционных обязанностей личности</a:t>
            </a:r>
            <a:endParaRPr lang="en-US" sz="2800"/>
          </a:p>
        </p:txBody>
      </p:sp>
      <p:sp>
        <p:nvSpPr>
          <p:cNvPr id="132775991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246124165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10</a:t>
            </a:r>
            <a:endParaRPr lang="en-US" sz="1100"/>
          </a:p>
        </p:txBody>
      </p:sp>
      <p:sp>
        <p:nvSpPr>
          <p:cNvPr id="552434193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Наряду с правами и свободами Конституция закрепляет и обязанности личности.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Их смысл — сочетание свободы человека с ответственным поведением перед государством, обществом и другими людьми.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Осуществление прав и свобод не должно нарушать права и свободы других лиц.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Органы власти, должностные лица, граждане и их объединения обязаны соблюдать Конституцию и законы.</a:t>
            </a:r>
            <a:endParaRPr lang="en-US" sz="1800"/>
          </a:p>
        </p:txBody>
      </p:sp>
      <p:sp>
        <p:nvSpPr>
          <p:cNvPr id="243320184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794109708" name="Image 0" descr="/mnt/data/constitution_presentation/assets/application_form.jpg"/>
          <p:cNvPicPr>
            <a:picLocks noChangeAspect="1"/>
          </p:cNvPicPr>
          <p:nvPr/>
        </p:nvPicPr>
        <p:blipFill rotWithShape="1">
          <a:blip r:embed="rId3"/>
          <a:srcRect l="23247" t="0" r="23247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350817845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44231802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Конституционные обязанности уравновешивают систему прав и делают правовой статус личности целостным.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500478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825759552" name="Text 3"/>
          <p:cNvSpPr/>
          <p:nvPr/>
        </p:nvSpPr>
        <p:spPr bwMode="auto">
          <a:xfrm>
            <a:off x="594359" y="538445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Основные конституционные обязанности в России</a:t>
            </a:r>
            <a:endParaRPr lang="en-US" sz="2800"/>
          </a:p>
        </p:txBody>
      </p:sp>
      <p:sp>
        <p:nvSpPr>
          <p:cNvPr id="934346377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882890667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11</a:t>
            </a:r>
            <a:endParaRPr lang="en-US" sz="1100"/>
          </a:p>
        </p:txBody>
      </p:sp>
      <p:sp>
        <p:nvSpPr>
          <p:cNvPr id="1614058074" name="Text 6"/>
          <p:cNvSpPr/>
          <p:nvPr/>
        </p:nvSpPr>
        <p:spPr bwMode="auto">
          <a:xfrm>
            <a:off x="713232" y="1536192"/>
            <a:ext cx="6080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соблюдать Конституцию РФ и законы;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платить законно установленные налоги и сборы;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сохранять природу и окружающую среду, беречь памятники истории и культуры;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заботиться о детях и нетрудоспособных родителях, обеспечивать получение основного общего образования.</a:t>
            </a:r>
            <a:endParaRPr lang="en-US" sz="1800"/>
          </a:p>
        </p:txBody>
      </p:sp>
      <p:sp>
        <p:nvSpPr>
          <p:cNvPr id="1228444177" name="Shape 7"/>
          <p:cNvSpPr/>
          <p:nvPr/>
        </p:nvSpPr>
        <p:spPr bwMode="auto">
          <a:xfrm>
            <a:off x="7443216" y="1188720"/>
            <a:ext cx="4169664" cy="1581912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879118145" name="Image 0" descr="/mnt/data/constitution_presentation/assets/tax_form.jpg"/>
          <p:cNvPicPr>
            <a:picLocks noChangeAspect="1"/>
          </p:cNvPicPr>
          <p:nvPr/>
        </p:nvPicPr>
        <p:blipFill rotWithShape="1">
          <a:blip r:embed="rId3"/>
          <a:srcRect l="0" t="22377" r="0" b="22376"/>
          <a:stretch/>
        </p:blipFill>
        <p:spPr bwMode="auto">
          <a:xfrm>
            <a:off x="7479792" y="1225296"/>
            <a:ext cx="4096512" cy="1508759"/>
          </a:xfrm>
          <a:prstGeom prst="rect">
            <a:avLst/>
          </a:prstGeom>
        </p:spPr>
      </p:pic>
      <p:sp>
        <p:nvSpPr>
          <p:cNvPr id="776927634" name="Shape 8"/>
          <p:cNvSpPr/>
          <p:nvPr/>
        </p:nvSpPr>
        <p:spPr bwMode="auto">
          <a:xfrm>
            <a:off x="7443216" y="2871216"/>
            <a:ext cx="2039112" cy="274320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515405807" name="Image 1" descr="/mnt/data/constitution_presentation/assets/forest.jpg"/>
          <p:cNvPicPr>
            <a:picLocks noChangeAspect="1"/>
          </p:cNvPicPr>
          <p:nvPr/>
        </p:nvPicPr>
        <p:blipFill rotWithShape="1">
          <a:blip r:embed="rId4"/>
          <a:srcRect l="29274" t="0" r="29274" b="0"/>
          <a:stretch/>
        </p:blipFill>
        <p:spPr bwMode="auto">
          <a:xfrm>
            <a:off x="7479792" y="2907792"/>
            <a:ext cx="1965960" cy="2670048"/>
          </a:xfrm>
          <a:prstGeom prst="rect">
            <a:avLst/>
          </a:prstGeom>
        </p:spPr>
      </p:pic>
      <p:sp>
        <p:nvSpPr>
          <p:cNvPr id="919266676" name="Shape 9"/>
          <p:cNvSpPr/>
          <p:nvPr/>
        </p:nvSpPr>
        <p:spPr bwMode="auto">
          <a:xfrm>
            <a:off x="9564624" y="2871216"/>
            <a:ext cx="2039112" cy="274320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B8DDBF"/>
            </a:solidFill>
            <a:prstDash val="solid"/>
          </a:ln>
          <a:effectLst>
            <a:outerShdw blurRad="12700" dist="4445" dir="2700000" sx="100000" sy="100000" kx="0" ky="0" algn="bl" rotWithShape="0">
              <a:srgbClr val="000000">
                <a:alpha val="10000"/>
              </a:srgbClr>
            </a:outerShdw>
          </a:effectLst>
        </p:spPr>
      </p:sp>
      <p:pic>
        <p:nvPicPr>
          <p:cNvPr id="1820928486" name="Image 2" descr="/mnt/data/constitution_presentation/assets/family.jpg"/>
          <p:cNvPicPr>
            <a:picLocks noChangeAspect="1"/>
          </p:cNvPicPr>
          <p:nvPr/>
        </p:nvPicPr>
        <p:blipFill rotWithShape="1">
          <a:blip r:embed="rId5"/>
          <a:srcRect l="25457" t="0" r="25456" b="0"/>
          <a:stretch/>
        </p:blipFill>
        <p:spPr bwMode="auto">
          <a:xfrm>
            <a:off x="9601200" y="2907792"/>
            <a:ext cx="1965960" cy="2670048"/>
          </a:xfrm>
          <a:prstGeom prst="rect">
            <a:avLst/>
          </a:prstGeom>
        </p:spPr>
      </p:pic>
      <p:sp>
        <p:nvSpPr>
          <p:cNvPr id="683611740" name="Shape 10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128197500" name="Text 11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Обязанности имеют общеобязательный характер и дополняют систему конституционных прав.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8868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586632195" name="Text 3"/>
          <p:cNvSpPr/>
          <p:nvPr/>
        </p:nvSpPr>
        <p:spPr bwMode="auto">
          <a:xfrm>
            <a:off x="594359" y="576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Защита Отечества как конституционная обязанность</a:t>
            </a:r>
            <a:endParaRPr lang="en-US" sz="2800"/>
          </a:p>
        </p:txBody>
      </p:sp>
      <p:sp>
        <p:nvSpPr>
          <p:cNvPr id="1263843225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867737602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12</a:t>
            </a:r>
            <a:endParaRPr lang="en-US" sz="1100"/>
          </a:p>
        </p:txBody>
      </p:sp>
      <p:sp>
        <p:nvSpPr>
          <p:cNvPr id="1200101524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Защита Отечества — долг и обязанность гражданина Российской Федерации.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Военная служба несётся в соответствии с федеральным законом.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Если несение военной службы противоречит убеждениям или вероисповеданию, возможна её замена альтернативной гражданской службой.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Конституция сочетает обязанность по защите страны и механизм правовой альтернативы.</a:t>
            </a:r>
            <a:endParaRPr lang="en-US" sz="1800"/>
          </a:p>
        </p:txBody>
      </p:sp>
      <p:sp>
        <p:nvSpPr>
          <p:cNvPr id="192456090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213415856" name="Image 0" descr="/mnt/data/constitution_presentation/assets/soldiers_silhouette.jpg"/>
          <p:cNvPicPr>
            <a:picLocks noChangeAspect="1"/>
          </p:cNvPicPr>
          <p:nvPr/>
        </p:nvPicPr>
        <p:blipFill rotWithShape="1">
          <a:blip r:embed="rId3"/>
          <a:srcRect l="27449" t="0" r="27448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1471441176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376484048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Особое место этой обязанности подчёркивается прямым закреплением её в Конституции РФ.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72710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495320522" name="Text 3"/>
          <p:cNvSpPr/>
          <p:nvPr/>
        </p:nvSpPr>
        <p:spPr bwMode="auto">
          <a:xfrm flipH="0" flipV="0">
            <a:off x="594359" y="561161"/>
            <a:ext cx="1021911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Гражданство в Российской Федерации: конституционные основы</a:t>
            </a:r>
            <a:endParaRPr lang="en-US" sz="2800"/>
          </a:p>
        </p:txBody>
      </p:sp>
      <p:sp>
        <p:nvSpPr>
          <p:cNvPr id="1116725842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73241974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13</a:t>
            </a:r>
            <a:endParaRPr lang="en-US" sz="1100"/>
          </a:p>
        </p:txBody>
      </p:sp>
      <p:sp>
        <p:nvSpPr>
          <p:cNvPr id="307759274" name="Text 6"/>
          <p:cNvSpPr/>
          <p:nvPr/>
        </p:nvSpPr>
        <p:spPr bwMode="auto">
          <a:xfrm>
            <a:off x="713232" y="1536192"/>
            <a:ext cx="60807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Гражданство РФ — это устойчивая правовая связь человека с государством.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Она выражается во взаимных правах, обязанностях и ответственности.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Гражданство РФ является единым и равным независимо от оснований приобретения.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Гражданин не может быть лишён гражданства или права изменить его.</a:t>
            </a:r>
            <a:endParaRPr lang="en-US" sz="1750">
              <a:solidFill>
                <a:srgbClr val="153222"/>
              </a:solidFill>
              <a:latin typeface="Arial"/>
              <a:ea typeface="Arial"/>
              <a:cs typeface="Arial"/>
            </a:endParaRPr>
          </a:p>
          <a:p>
            <a:pPr marL="278372" indent="-278372">
              <a:buFont typeface="Arial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Российская Федерация гарантирует защиту и покровительство своим гражданам за её пределами.</a:t>
            </a:r>
            <a:endParaRPr lang="en-US" sz="1750"/>
          </a:p>
        </p:txBody>
      </p:sp>
      <p:sp>
        <p:nvSpPr>
          <p:cNvPr id="1126314351" name="Shape 7"/>
          <p:cNvSpPr/>
          <p:nvPr/>
        </p:nvSpPr>
        <p:spPr bwMode="auto">
          <a:xfrm>
            <a:off x="7607808" y="1115568"/>
            <a:ext cx="3803904" cy="522122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688875551" name="Image 0" descr="/mnt/data/constitution_presentation/assets/two_passports.jpg"/>
          <p:cNvPicPr>
            <a:picLocks noChangeAspect="1"/>
          </p:cNvPicPr>
          <p:nvPr/>
        </p:nvPicPr>
        <p:blipFill rotWithShape="1">
          <a:blip r:embed="rId3"/>
          <a:srcRect l="0" t="10945" r="0" b="10944"/>
          <a:stretch/>
        </p:blipFill>
        <p:spPr bwMode="auto">
          <a:xfrm>
            <a:off x="7680960" y="1188720"/>
            <a:ext cx="3657600" cy="5074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347102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633032741" name="Shape 1"/>
          <p:cNvSpPr/>
          <p:nvPr/>
        </p:nvSpPr>
        <p:spPr bwMode="auto">
          <a:xfrm>
            <a:off x="502920" y="310896"/>
            <a:ext cx="1554480" cy="310896"/>
          </a:xfrm>
          <a:prstGeom prst="rect">
            <a:avLst/>
          </a:prstGeom>
          <a:solidFill>
            <a:srgbClr val="DDEFE2"/>
          </a:solidFill>
          <a:ln w="12700">
            <a:solidFill>
              <a:srgbClr val="DDEFE2"/>
            </a:solidFill>
            <a:prstDash val="solid"/>
          </a:ln>
        </p:spPr>
      </p:sp>
      <p:sp>
        <p:nvSpPr>
          <p:cNvPr id="1548014408" name="Text 3"/>
          <p:cNvSpPr/>
          <p:nvPr/>
        </p:nvSpPr>
        <p:spPr bwMode="auto">
          <a:xfrm>
            <a:off x="59436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Основные правила гражданства РФ</a:t>
            </a:r>
            <a:endParaRPr lang="en-US" sz="2800"/>
          </a:p>
        </p:txBody>
      </p:sp>
      <p:sp>
        <p:nvSpPr>
          <p:cNvPr id="370588875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486550617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14</a:t>
            </a:r>
            <a:endParaRPr lang="en-US" sz="1100"/>
          </a:p>
        </p:txBody>
      </p:sp>
      <p:sp>
        <p:nvSpPr>
          <p:cNvPr id="550085295" name="Text 6"/>
          <p:cNvSpPr/>
          <p:nvPr/>
        </p:nvSpPr>
        <p:spPr bwMode="auto">
          <a:xfrm>
            <a:off x="713232" y="1536192"/>
            <a:ext cx="6080760" cy="43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Порядок гражданства регулируется Федеральным законом от 28.04.2023 № 138-ФЗ «О гражданстве Российской Федерации».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Закон определяет принципы, основания и порядок приобретения и прекращения гражданства.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Гражданство РФ приобретается, в частности, по рождению и в результате приёма в гражданство Российской Федерации.</a:t>
            </a:r>
            <a:endParaRPr lang="en-US" sz="1750"/>
          </a:p>
          <a:p>
            <a:pPr marL="152400" indent="-152400">
              <a:buSzPct val="100000"/>
              <a:buChar char="•"/>
              <a:defRPr/>
            </a:pPr>
            <a:r>
              <a:rPr lang="en-US" sz="1750">
                <a:solidFill>
                  <a:srgbClr val="153222"/>
                </a:solidFill>
                <a:latin typeface="Arial"/>
                <a:ea typeface="Arial"/>
                <a:cs typeface="Arial"/>
              </a:rPr>
              <a:t>Порядок рассмотрения дел дополнительно конкретизирован Указом Президента РФ от 22.11.2023 № 889.</a:t>
            </a:r>
            <a:endParaRPr lang="en-US" sz="1750"/>
          </a:p>
        </p:txBody>
      </p:sp>
      <p:sp>
        <p:nvSpPr>
          <p:cNvPr id="2140355795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1154266903" name="Image 0" descr="/mnt/data/constitution_presentation/assets/application_form.jpg"/>
          <p:cNvPicPr>
            <a:picLocks noChangeAspect="1"/>
          </p:cNvPicPr>
          <p:nvPr/>
        </p:nvPicPr>
        <p:blipFill rotWithShape="1">
          <a:blip r:embed="rId3"/>
          <a:srcRect l="23247" t="0" r="23247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79178878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292380954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Конституционные положения о гражданстве раскрываются в федеральном законе и подзаконных актах.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790582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1574620790" name="Text 3"/>
          <p:cNvSpPr/>
          <p:nvPr/>
        </p:nvSpPr>
        <p:spPr bwMode="auto">
          <a:xfrm>
            <a:off x="594360" y="576072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Двойное гражданство и статус гражданина РФ</a:t>
            </a:r>
            <a:endParaRPr lang="en-US" sz="2800"/>
          </a:p>
        </p:txBody>
      </p:sp>
      <p:sp>
        <p:nvSpPr>
          <p:cNvPr id="764040645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2079634009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15</a:t>
            </a:r>
            <a:endParaRPr lang="en-US" sz="1100"/>
          </a:p>
        </p:txBody>
      </p:sp>
      <p:sp>
        <p:nvSpPr>
          <p:cNvPr id="716660713" name="Text 6"/>
          <p:cNvSpPr/>
          <p:nvPr/>
        </p:nvSpPr>
        <p:spPr bwMode="auto">
          <a:xfrm>
            <a:off x="713232" y="1536192"/>
            <a:ext cx="608076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Конституция допускает наличие у гражданина Российской Федерации иного гражданства.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Это возможно в соответствии с федеральным законом или международным договором.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Наличие другого гражданства не умаляет права и свободы гражданина РФ.</a:t>
            </a:r>
            <a:endParaRPr lang="en-US" sz="1800"/>
          </a:p>
          <a:p>
            <a:pPr marL="152400" indent="-152400">
              <a:buSzPct val="100000"/>
              <a:buChar char="•"/>
              <a:defRPr/>
            </a:pPr>
            <a:r>
              <a:rPr lang="en-US" sz="1800">
                <a:solidFill>
                  <a:srgbClr val="153222"/>
                </a:solidFill>
                <a:latin typeface="Arial"/>
                <a:ea typeface="Arial"/>
                <a:cs typeface="Arial"/>
              </a:rPr>
              <a:t>Оно не освобождает от обязанностей перед Российской Федерацией, если иное не установлено законом или международным договором.</a:t>
            </a:r>
            <a:endParaRPr lang="en-US" sz="1800"/>
          </a:p>
        </p:txBody>
      </p:sp>
      <p:sp>
        <p:nvSpPr>
          <p:cNvPr id="1635760692" name="Shape 7"/>
          <p:cNvSpPr/>
          <p:nvPr/>
        </p:nvSpPr>
        <p:spPr bwMode="auto">
          <a:xfrm>
            <a:off x="7424928" y="1078992"/>
            <a:ext cx="4215384" cy="5221224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  <a:effectLst>
            <a:outerShdw blurRad="12700" dist="6350" dir="2700000" sx="100000" sy="100000" kx="0" ky="0" algn="bl" rotWithShape="0">
              <a:srgbClr val="000000">
                <a:alpha val="12000"/>
              </a:srgbClr>
            </a:outerShdw>
          </a:effectLst>
        </p:spPr>
      </p:sp>
      <p:pic>
        <p:nvPicPr>
          <p:cNvPr id="679985489" name="Image 0" descr="/mnt/data/constitution_presentation/assets/passport_single.jpg"/>
          <p:cNvPicPr>
            <a:picLocks noChangeAspect="1"/>
          </p:cNvPicPr>
          <p:nvPr/>
        </p:nvPicPr>
        <p:blipFill rotWithShape="1">
          <a:blip r:embed="rId3"/>
          <a:srcRect l="26466" t="0" r="26466" b="0"/>
          <a:stretch/>
        </p:blipFill>
        <p:spPr bwMode="auto">
          <a:xfrm>
            <a:off x="7498080" y="1152144"/>
            <a:ext cx="4069080" cy="5074920"/>
          </a:xfrm>
          <a:prstGeom prst="rect">
            <a:avLst/>
          </a:prstGeom>
        </p:spPr>
      </p:pic>
      <p:sp>
        <p:nvSpPr>
          <p:cNvPr id="2129267259" name="Shape 8"/>
          <p:cNvSpPr/>
          <p:nvPr/>
        </p:nvSpPr>
        <p:spPr bwMode="auto">
          <a:xfrm>
            <a:off x="685800" y="6089904"/>
            <a:ext cx="6126480" cy="384048"/>
          </a:xfrm>
          <a:prstGeom prst="roundRect">
            <a:avLst>
              <a:gd name="adj" fmla="val 19048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1157841605" name="Text 9"/>
          <p:cNvSpPr/>
          <p:nvPr/>
        </p:nvSpPr>
        <p:spPr bwMode="auto">
          <a:xfrm>
            <a:off x="859536" y="6190488"/>
            <a:ext cx="5760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Для российского конституционного права решающим остаётся сохранение полной правовой связи лица с Российской Федерацией.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7FBF7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570085" name="Shape 0"/>
          <p:cNvSpPr/>
          <p:nvPr/>
        </p:nvSpPr>
        <p:spPr bwMode="auto">
          <a:xfrm>
            <a:off x="0" y="0"/>
            <a:ext cx="12191695" cy="256032"/>
          </a:xfrm>
          <a:prstGeom prst="rect">
            <a:avLst/>
          </a:prstGeom>
          <a:solidFill>
            <a:srgbClr val="0F5132"/>
          </a:solidFill>
          <a:ln w="12700">
            <a:solidFill>
              <a:srgbClr val="0F5132"/>
            </a:solidFill>
            <a:prstDash val="solid"/>
          </a:ln>
        </p:spPr>
      </p:sp>
      <p:sp>
        <p:nvSpPr>
          <p:cNvPr id="2009675954" name="Text 3"/>
          <p:cNvSpPr/>
          <p:nvPr/>
        </p:nvSpPr>
        <p:spPr bwMode="auto">
          <a:xfrm>
            <a:off x="594360" y="73152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800" b="1">
                <a:solidFill>
                  <a:srgbClr val="0F5132"/>
                </a:solidFill>
                <a:latin typeface="Arial"/>
                <a:ea typeface="Arial"/>
                <a:cs typeface="Arial"/>
              </a:rPr>
              <a:t>Источники</a:t>
            </a:r>
            <a:endParaRPr lang="en-US" sz="2800"/>
          </a:p>
        </p:txBody>
      </p:sp>
      <p:sp>
        <p:nvSpPr>
          <p:cNvPr id="1426536745" name="Shape 4"/>
          <p:cNvSpPr/>
          <p:nvPr/>
        </p:nvSpPr>
        <p:spPr bwMode="auto">
          <a:xfrm>
            <a:off x="594360" y="1307592"/>
            <a:ext cx="1097280" cy="0"/>
          </a:xfrm>
          <a:prstGeom prst="line">
            <a:avLst/>
          </a:prstGeom>
          <a:noFill/>
          <a:ln w="25400">
            <a:solidFill>
              <a:srgbClr val="4EA66E"/>
            </a:solidFill>
            <a:prstDash val="solid"/>
          </a:ln>
        </p:spPr>
      </p:sp>
      <p:sp>
        <p:nvSpPr>
          <p:cNvPr id="1655202698" name="Text 5"/>
          <p:cNvSpPr/>
          <p:nvPr/>
        </p:nvSpPr>
        <p:spPr bwMode="auto">
          <a:xfrm>
            <a:off x="11384280" y="645566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/>
            </a:pPr>
            <a:r>
              <a:rPr lang="en-US" sz="1100">
                <a:solidFill>
                  <a:srgbClr val="577063"/>
                </a:solidFill>
                <a:latin typeface="Arial"/>
                <a:ea typeface="Arial"/>
                <a:cs typeface="Arial"/>
              </a:rPr>
              <a:t>16</a:t>
            </a:r>
            <a:endParaRPr lang="en-US" sz="1100"/>
          </a:p>
        </p:txBody>
      </p:sp>
      <p:sp>
        <p:nvSpPr>
          <p:cNvPr id="1166204832" name="Shape 6"/>
          <p:cNvSpPr/>
          <p:nvPr/>
        </p:nvSpPr>
        <p:spPr bwMode="auto">
          <a:xfrm>
            <a:off x="713232" y="1481328"/>
            <a:ext cx="109728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5240">
            <a:solidFill>
              <a:srgbClr val="B8DDBF"/>
            </a:solidFill>
            <a:prstDash val="solid"/>
          </a:ln>
        </p:spPr>
      </p:sp>
      <p:sp>
        <p:nvSpPr>
          <p:cNvPr id="78850784" name="Text 7"/>
          <p:cNvSpPr/>
          <p:nvPr/>
        </p:nvSpPr>
        <p:spPr bwMode="auto">
          <a:xfrm>
            <a:off x="1005840" y="1874520"/>
            <a:ext cx="101955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000">
                <a:solidFill>
                  <a:srgbClr val="153222"/>
                </a:solidFill>
                <a:latin typeface="Arial"/>
                <a:ea typeface="Arial"/>
                <a:cs typeface="Arial"/>
              </a:rPr>
              <a:t>1. Конституция Российской Федерации, главы 1 и 2.</a:t>
            </a:r>
            <a:endParaRPr lang="en-US" sz="2000"/>
          </a:p>
          <a:p>
            <a:pPr marL="0" indent="0">
              <a:buNone/>
              <a:defRPr/>
            </a:pPr>
            <a:endParaRPr lang="en-US" sz="2000"/>
          </a:p>
          <a:p>
            <a:pPr marL="0" indent="0">
              <a:buNone/>
              <a:defRPr/>
            </a:pPr>
            <a:r>
              <a:rPr lang="en-US" sz="2000">
                <a:solidFill>
                  <a:srgbClr val="153222"/>
                </a:solidFill>
                <a:latin typeface="Arial"/>
                <a:ea typeface="Arial"/>
                <a:cs typeface="Arial"/>
              </a:rPr>
              <a:t>2. Федеральный закон от 28.04.2023 № 138-ФЗ «О гражданстве Российской Федерации».</a:t>
            </a:r>
            <a:endParaRPr lang="en-US" sz="2000"/>
          </a:p>
          <a:p>
            <a:pPr marL="0" indent="0">
              <a:buNone/>
              <a:defRPr/>
            </a:pPr>
            <a:endParaRPr lang="en-US" sz="2000"/>
          </a:p>
          <a:p>
            <a:pPr marL="0" indent="0">
              <a:buNone/>
              <a:defRPr/>
            </a:pPr>
            <a:r>
              <a:rPr lang="en-US" sz="2000">
                <a:solidFill>
                  <a:srgbClr val="153222"/>
                </a:solidFill>
                <a:latin typeface="Arial"/>
                <a:ea typeface="Arial"/>
                <a:cs typeface="Arial"/>
              </a:rPr>
              <a:t>3. Указ Президента РФ от 22.11.2023 № 889 «Вопросы гражданства Российской Федерации».</a:t>
            </a:r>
            <a:endParaRPr lang="en-US" sz="2000"/>
          </a:p>
          <a:p>
            <a:pPr marL="0" indent="0">
              <a:buNone/>
              <a:defRPr/>
            </a:pPr>
            <a:endParaRPr lang="en-US" sz="2000"/>
          </a:p>
          <a:p>
            <a:pPr marL="0" indent="0">
              <a:buNone/>
              <a:defRPr/>
            </a:pPr>
            <a:r>
              <a:rPr lang="en-US" sz="2000">
                <a:solidFill>
                  <a:srgbClr val="153222"/>
                </a:solidFill>
                <a:latin typeface="Arial"/>
                <a:ea typeface="Arial"/>
                <a:cs typeface="Arial"/>
              </a:rPr>
              <a:t>4. Официальный интернет-портал правовой информации как источник официального опубликования нормативных актов.</a:t>
            </a:r>
            <a:endParaRPr lang="en-US" sz="2000"/>
          </a:p>
        </p:txBody>
      </p:sp>
      <p:sp>
        <p:nvSpPr>
          <p:cNvPr id="1929631586" name="Shape 8"/>
          <p:cNvSpPr/>
          <p:nvPr/>
        </p:nvSpPr>
        <p:spPr bwMode="auto">
          <a:xfrm>
            <a:off x="987552" y="5440680"/>
            <a:ext cx="4389120" cy="402336"/>
          </a:xfrm>
          <a:prstGeom prst="roundRect">
            <a:avLst>
              <a:gd name="adj" fmla="val 18182"/>
            </a:avLst>
          </a:prstGeom>
          <a:solidFill>
            <a:srgbClr val="EEF8F0"/>
          </a:solidFill>
          <a:ln w="12700">
            <a:solidFill>
              <a:srgbClr val="B8DDBF"/>
            </a:solidFill>
            <a:prstDash val="solid"/>
          </a:ln>
        </p:spPr>
      </p:sp>
      <p:sp>
        <p:nvSpPr>
          <p:cNvPr id="23352435" name="Text 9"/>
          <p:cNvSpPr/>
          <p:nvPr/>
        </p:nvSpPr>
        <p:spPr bwMode="auto">
          <a:xfrm>
            <a:off x="1170432" y="554126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i="1">
                <a:solidFill>
                  <a:srgbClr val="577063"/>
                </a:solidFill>
                <a:latin typeface="Arial"/>
                <a:ea typeface="Arial"/>
                <a:cs typeface="Arial"/>
              </a:rPr>
              <a:t>Официальные тексты: kremlin.ru и publication.pravo.gov.ru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Конституционные основы правового статуса личности и гражданства в Российской Федерации</dc:title>
  <dc:subject>Конституционные основы правового статуса личности и гражданства в Российской Федерации</dc:subject>
  <dc:creator>OpenAI</dc:creator>
  <cp:lastModifiedBy/>
  <cp:revision>2</cp:revision>
  <dcterms:created xsi:type="dcterms:W3CDTF">2026-04-08T13:01:56Z</dcterms:created>
  <dcterms:modified xsi:type="dcterms:W3CDTF">2026-04-12T19:59:41Z</dcterms:modified>
</cp:coreProperties>
</file>