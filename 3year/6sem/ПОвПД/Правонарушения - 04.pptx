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695" cy="6858000"/>
  <p:notesSz cx="6858000" cy="12191695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67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638458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6276724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536228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054514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32958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949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5943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0608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191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998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2255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198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081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811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448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9269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973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794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4120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140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55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855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878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322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264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4058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325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93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994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5251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7799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779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520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7994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2589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4724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0627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73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623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1219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084244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E7D6C3"/>
          </a:solidFill>
          <a:ln w="12700">
            <a:solidFill>
              <a:srgbClr val="E7D6C3"/>
            </a:solidFill>
            <a:prstDash val="solid"/>
          </a:ln>
        </p:spPr>
      </p:sp>
      <p:sp>
        <p:nvSpPr>
          <p:cNvPr id="155149237" name="Shape 1"/>
          <p:cNvSpPr/>
          <p:nvPr/>
        </p:nvSpPr>
        <p:spPr bwMode="auto">
          <a:xfrm>
            <a:off x="0" y="0"/>
            <a:ext cx="6949440" cy="685800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513676896" name="Shape 2"/>
          <p:cNvSpPr/>
          <p:nvPr/>
        </p:nvSpPr>
        <p:spPr bwMode="auto">
          <a:xfrm>
            <a:off x="6949440" y="0"/>
            <a:ext cx="54864" cy="6858000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002317437" name="Shape 3"/>
          <p:cNvSpPr/>
          <p:nvPr/>
        </p:nvSpPr>
        <p:spPr bwMode="auto">
          <a:xfrm>
            <a:off x="7635240" y="68580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FF7ED"/>
          </a:solidFill>
          <a:ln w="12700">
            <a:solidFill>
              <a:srgbClr val="D7C2A8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pic>
        <p:nvPicPr>
          <p:cNvPr id="1285114634" name="Image 0" descr="/mnt/data/legal_presentation/assets/scale_of_justice.png"/>
          <p:cNvPicPr>
            <a:picLocks noChangeAspect="1"/>
          </p:cNvPicPr>
          <p:nvPr/>
        </p:nvPicPr>
        <p:blipFill rotWithShape="1">
          <a:blip r:embed="rId3">
            <a:alphaModFix amt="92000"/>
          </a:blip>
          <a:stretch/>
        </p:blipFill>
        <p:spPr bwMode="auto">
          <a:xfrm>
            <a:off x="7955280" y="1349419"/>
            <a:ext cx="3154680" cy="3199043"/>
          </a:xfrm>
          <a:prstGeom prst="rect">
            <a:avLst/>
          </a:prstGeom>
        </p:spPr>
      </p:pic>
      <p:sp>
        <p:nvSpPr>
          <p:cNvPr id="1031264994" name="Shape 4"/>
          <p:cNvSpPr/>
          <p:nvPr/>
        </p:nvSpPr>
        <p:spPr bwMode="auto">
          <a:xfrm>
            <a:off x="822960" y="4343400"/>
            <a:ext cx="4572000" cy="0"/>
          </a:xfrm>
          <a:prstGeom prst="line">
            <a:avLst/>
          </a:prstGeom>
          <a:noFill/>
          <a:ln w="12700">
            <a:solidFill>
              <a:srgbClr val="C59B6D"/>
            </a:solidFill>
            <a:prstDash val="solid"/>
          </a:ln>
        </p:spPr>
      </p:sp>
      <p:sp>
        <p:nvSpPr>
          <p:cNvPr id="1023804342" name="Text 5"/>
          <p:cNvSpPr/>
          <p:nvPr/>
        </p:nvSpPr>
        <p:spPr bwMode="auto">
          <a:xfrm>
            <a:off x="822960" y="1051560"/>
            <a:ext cx="5394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75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Правонарушения,</a:t>
            </a:r>
            <a:endParaRPr lang="en-US" sz="2750"/>
          </a:p>
          <a:p>
            <a:pPr marL="0" indent="0">
              <a:buNone/>
              <a:defRPr/>
            </a:pPr>
            <a:r>
              <a:rPr lang="en-US" sz="275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юридическая ответственность,</a:t>
            </a:r>
            <a:endParaRPr lang="en-US" sz="2750"/>
          </a:p>
          <a:p>
            <a:pPr marL="0" indent="0">
              <a:buNone/>
              <a:defRPr/>
            </a:pPr>
            <a:r>
              <a:rPr lang="en-US" sz="275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правоспособность</a:t>
            </a:r>
            <a:endParaRPr lang="en-US" sz="2750"/>
          </a:p>
          <a:p>
            <a:pPr marL="0" indent="0">
              <a:buNone/>
              <a:defRPr/>
            </a:pPr>
            <a:r>
              <a:rPr lang="en-US" sz="275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и дееспособность граждан</a:t>
            </a:r>
            <a:endParaRPr lang="en-US" sz="2750"/>
          </a:p>
        </p:txBody>
      </p:sp>
      <p:sp>
        <p:nvSpPr>
          <p:cNvPr id="1216719197" name="Text 6"/>
          <p:cNvSpPr/>
          <p:nvPr/>
        </p:nvSpPr>
        <p:spPr bwMode="auto">
          <a:xfrm>
            <a:off x="841248" y="4599432"/>
            <a:ext cx="5303520" cy="4114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rmAutofit fontScale="95000" lnSpcReduction="1000"/>
          </a:bodyPr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F2E4D5"/>
                </a:solidFill>
                <a:latin typeface="Aptos"/>
                <a:ea typeface="Aptos"/>
                <a:cs typeface="Aptos"/>
              </a:rPr>
              <a:t>Выполнил</a:t>
            </a:r>
            <a:r>
              <a:rPr lang="ru-RU" sz="1800">
                <a:solidFill>
                  <a:srgbClr val="F2E4D5"/>
                </a:solidFill>
                <a:latin typeface="Aptos"/>
                <a:ea typeface="Aptos"/>
                <a:cs typeface="Aptos"/>
              </a:rPr>
              <a:t>и</a:t>
            </a:r>
            <a:r>
              <a:rPr lang="en-US" sz="1800">
                <a:solidFill>
                  <a:srgbClr val="F2E4D5"/>
                </a:solidFill>
                <a:latin typeface="Aptos"/>
                <a:ea typeface="Aptos"/>
                <a:cs typeface="Aptos"/>
              </a:rPr>
              <a:t>: Акулова В.С.</a:t>
            </a:r>
            <a:r>
              <a:rPr lang="ru-RU" sz="1800">
                <a:solidFill>
                  <a:srgbClr val="F2E4D5"/>
                </a:solidFill>
                <a:latin typeface="Aptos"/>
                <a:ea typeface="Aptos"/>
                <a:cs typeface="Aptos"/>
              </a:rPr>
              <a:t>,</a:t>
            </a:r>
            <a:r>
              <a:rPr lang="en-US" sz="1800">
                <a:solidFill>
                  <a:srgbClr val="F2E4D5"/>
                </a:solidFill>
                <a:latin typeface="Aptos"/>
                <a:ea typeface="Aptos"/>
                <a:cs typeface="Aptos"/>
              </a:rPr>
              <a:t> Рыжов К.А., группа 3992</a:t>
            </a:r>
            <a:endParaRPr lang="en-US" sz="1800"/>
          </a:p>
        </p:txBody>
      </p:sp>
      <p:sp>
        <p:nvSpPr>
          <p:cNvPr id="905574432" name="Text 9"/>
          <p:cNvSpPr/>
          <p:nvPr/>
        </p:nvSpPr>
        <p:spPr bwMode="auto">
          <a:xfrm>
            <a:off x="11475720" y="274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800" b="1">
                <a:solidFill>
                  <a:srgbClr val="8B5E3C"/>
                </a:solidFill>
              </a:rPr>
              <a:t>01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141479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943485168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483942431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Понятие правонарушения</a:t>
            </a:r>
            <a:endParaRPr lang="en-US" sz="2800"/>
          </a:p>
        </p:txBody>
      </p:sp>
      <p:sp>
        <p:nvSpPr>
          <p:cNvPr id="1661784493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273117518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2</a:t>
            </a:r>
            <a:endParaRPr lang="en-US" sz="1000"/>
          </a:p>
        </p:txBody>
      </p:sp>
      <p:sp>
        <p:nvSpPr>
          <p:cNvPr id="292639958" name="Text 6"/>
          <p:cNvSpPr/>
          <p:nvPr/>
        </p:nvSpPr>
        <p:spPr bwMode="auto">
          <a:xfrm>
            <a:off x="640080" y="914400"/>
            <a:ext cx="6675120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05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Правонарушение — это противоправное виновное деяние (действие или бездействие), нарушающее нормы права и влекущее юридическую ответственность.</a:t>
            </a:r>
            <a:endParaRPr lang="en-US" sz="2050"/>
          </a:p>
        </p:txBody>
      </p:sp>
      <p:sp>
        <p:nvSpPr>
          <p:cNvPr id="1155624319" name="Text 7"/>
          <p:cNvSpPr/>
          <p:nvPr/>
        </p:nvSpPr>
        <p:spPr bwMode="auto">
          <a:xfrm flipH="0" flipV="0">
            <a:off x="713231" y="2330793"/>
            <a:ext cx="6492240" cy="285647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900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Обязательные признаки: общественная вредность или общественная опасность, противоправность, виновность и наказуемость.</a:t>
            </a:r>
            <a:endParaRPr lang="en-US" sz="1900"/>
          </a:p>
          <a:p>
            <a:pPr marL="203200" indent="-203200">
              <a:buSzPct val="100000"/>
              <a:buChar char="•"/>
              <a:defRPr/>
            </a:pPr>
            <a:r>
              <a:rPr lang="en-US" sz="1900">
                <a:solidFill>
                  <a:srgbClr val="2E2119"/>
                </a:solidFill>
                <a:latin typeface="Aptos"/>
                <a:ea typeface="Aptos"/>
                <a:cs typeface="Aptos"/>
              </a:rPr>
              <a:t>Если хотя бы один из признаков отсутствует, деяние обычно не признаётся правонарушением в юридическом смысле.</a:t>
            </a:r>
            <a:endParaRPr lang="en-US" sz="1900"/>
          </a:p>
          <a:p>
            <a:pPr marL="203200" indent="-203200">
              <a:buSzPct val="100000"/>
              <a:buChar char="•"/>
              <a:defRPr/>
            </a:pPr>
            <a:r>
              <a:rPr lang="en-US" sz="1900">
                <a:solidFill>
                  <a:srgbClr val="2E2119"/>
                </a:solidFill>
                <a:latin typeface="Aptos"/>
                <a:ea typeface="Aptos"/>
                <a:cs typeface="Aptos"/>
              </a:rPr>
              <a:t>В административном праве это закрепляется через понятие административного правонарушения, а в уголовном — через понятие преступления.</a:t>
            </a:r>
            <a:endParaRPr lang="en-US" sz="1900"/>
          </a:p>
        </p:txBody>
      </p:sp>
      <p:sp>
        <p:nvSpPr>
          <p:cNvPr id="1872138040" name="Shape 8"/>
          <p:cNvSpPr/>
          <p:nvPr/>
        </p:nvSpPr>
        <p:spPr bwMode="auto">
          <a:xfrm>
            <a:off x="7726680" y="1005840"/>
            <a:ext cx="3794760" cy="5074920"/>
          </a:xfrm>
          <a:prstGeom prst="roundRect">
            <a:avLst>
              <a:gd name="adj" fmla="val 1928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59311750" name="Text 9"/>
          <p:cNvSpPr/>
          <p:nvPr/>
        </p:nvSpPr>
        <p:spPr bwMode="auto">
          <a:xfrm>
            <a:off x="7927848" y="1152144"/>
            <a:ext cx="3392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4D2F22"/>
                </a:solidFill>
              </a:rPr>
              <a:t>Ключевая идея</a:t>
            </a:r>
            <a:endParaRPr lang="en-US" sz="1500"/>
          </a:p>
        </p:txBody>
      </p:sp>
      <p:sp>
        <p:nvSpPr>
          <p:cNvPr id="188007454" name="Shape 10"/>
          <p:cNvSpPr/>
          <p:nvPr/>
        </p:nvSpPr>
        <p:spPr bwMode="auto">
          <a:xfrm>
            <a:off x="7955280" y="1444752"/>
            <a:ext cx="333756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pic>
        <p:nvPicPr>
          <p:cNvPr id="2138905663" name="Image 0" descr="/mnt/data/legal_presentation/assets/gave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82712" y="1746504"/>
            <a:ext cx="3282696" cy="3282696"/>
          </a:xfrm>
          <a:prstGeom prst="rect">
            <a:avLst/>
          </a:prstGeom>
        </p:spPr>
      </p:pic>
      <p:sp>
        <p:nvSpPr>
          <p:cNvPr id="1431567601" name="Text 11"/>
          <p:cNvSpPr/>
          <p:nvPr/>
        </p:nvSpPr>
        <p:spPr bwMode="auto">
          <a:xfrm>
            <a:off x="7973568" y="5102352"/>
            <a:ext cx="329184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145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Нарушение нормы права + вина + установленная законом ответственность</a:t>
            </a:r>
            <a:endParaRPr lang="en-US" sz="1450"/>
          </a:p>
        </p:txBody>
      </p:sp>
      <p:sp>
        <p:nvSpPr>
          <p:cNvPr id="266343504" name="Shape 12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1631533168" name="Text 13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КоАП РФ ст. 2.1; УК РФ ст. 14.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936271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649362196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2099991278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Виды правонарушений</a:t>
            </a:r>
            <a:endParaRPr lang="en-US" sz="2800"/>
          </a:p>
        </p:txBody>
      </p:sp>
      <p:sp>
        <p:nvSpPr>
          <p:cNvPr id="1148571467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866587776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3</a:t>
            </a:r>
            <a:endParaRPr lang="en-US" sz="1000"/>
          </a:p>
        </p:txBody>
      </p:sp>
      <p:sp>
        <p:nvSpPr>
          <p:cNvPr id="1318065620" name="Text 6"/>
          <p:cNvSpPr/>
          <p:nvPr/>
        </p:nvSpPr>
        <p:spPr bwMode="auto">
          <a:xfrm>
            <a:off x="658368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В российском праве правонарушения традиционно делят на преступления и проступки.</a:t>
            </a:r>
            <a:endParaRPr lang="en-US" sz="2100"/>
          </a:p>
        </p:txBody>
      </p:sp>
      <p:sp>
        <p:nvSpPr>
          <p:cNvPr id="469980456" name="Shape 7"/>
          <p:cNvSpPr/>
          <p:nvPr/>
        </p:nvSpPr>
        <p:spPr bwMode="auto">
          <a:xfrm>
            <a:off x="640080" y="155448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043667994" name="Shape 8"/>
          <p:cNvSpPr/>
          <p:nvPr/>
        </p:nvSpPr>
        <p:spPr bwMode="auto">
          <a:xfrm>
            <a:off x="640080" y="1554480"/>
            <a:ext cx="5349240" cy="420624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853344464" name="Text 9"/>
          <p:cNvSpPr/>
          <p:nvPr/>
        </p:nvSpPr>
        <p:spPr bwMode="auto">
          <a:xfrm>
            <a:off x="82296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DF9"/>
                </a:solidFill>
              </a:rPr>
              <a:t>Преступления</a:t>
            </a:r>
            <a:endParaRPr lang="en-US" sz="1800"/>
          </a:p>
        </p:txBody>
      </p:sp>
      <p:pic>
        <p:nvPicPr>
          <p:cNvPr id="753088625" name="Image 0" descr="/mnt/data/legal_presentation/assets/handcuffs.png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tretch/>
        </p:blipFill>
        <p:spPr bwMode="auto">
          <a:xfrm>
            <a:off x="5258093" y="1655063"/>
            <a:ext cx="328597" cy="256032"/>
          </a:xfrm>
          <a:prstGeom prst="rect">
            <a:avLst/>
          </a:prstGeom>
        </p:spPr>
      </p:pic>
      <p:sp>
        <p:nvSpPr>
          <p:cNvPr id="1178597931" name="Text 10"/>
          <p:cNvSpPr/>
          <p:nvPr/>
        </p:nvSpPr>
        <p:spPr bwMode="auto">
          <a:xfrm>
            <a:off x="868680" y="2148840"/>
            <a:ext cx="4434840" cy="352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Это виновно совершённые общественно опасные деяния, запрещённые Уголовным кодексом под угрозой наказания.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Имеют наиболее высокий уровень опасности.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Примеры последствий: штраф, обязательные работы, ограничение свободы, лишение свободы.</a:t>
            </a:r>
            <a:endParaRPr lang="en-US" sz="1800"/>
          </a:p>
        </p:txBody>
      </p:sp>
      <p:sp>
        <p:nvSpPr>
          <p:cNvPr id="387346628" name="Shape 11"/>
          <p:cNvSpPr/>
          <p:nvPr/>
        </p:nvSpPr>
        <p:spPr bwMode="auto">
          <a:xfrm>
            <a:off x="6236208" y="155448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635461103" name="Shape 12"/>
          <p:cNvSpPr/>
          <p:nvPr/>
        </p:nvSpPr>
        <p:spPr bwMode="auto">
          <a:xfrm>
            <a:off x="6236208" y="1554480"/>
            <a:ext cx="5303520" cy="420624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632533657" name="Text 13"/>
          <p:cNvSpPr/>
          <p:nvPr/>
        </p:nvSpPr>
        <p:spPr bwMode="auto">
          <a:xfrm>
            <a:off x="6419088" y="1664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DF9"/>
                </a:solidFill>
              </a:rPr>
              <a:t>Проступки</a:t>
            </a:r>
            <a:endParaRPr lang="en-US" sz="1800"/>
          </a:p>
        </p:txBody>
      </p:sp>
      <p:pic>
        <p:nvPicPr>
          <p:cNvPr id="1364330685" name="Image 1" descr="/mnt/data/legal_presentation/assets/file_contract.png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tretch/>
        </p:blipFill>
        <p:spPr bwMode="auto">
          <a:xfrm>
            <a:off x="11032236" y="1645920"/>
            <a:ext cx="192024" cy="256032"/>
          </a:xfrm>
          <a:prstGeom prst="rect">
            <a:avLst/>
          </a:prstGeom>
        </p:spPr>
      </p:pic>
      <p:sp>
        <p:nvSpPr>
          <p:cNvPr id="1909945258" name="Text 14"/>
          <p:cNvSpPr/>
          <p:nvPr/>
        </p:nvSpPr>
        <p:spPr bwMode="auto">
          <a:xfrm>
            <a:off x="6473952" y="2148840"/>
            <a:ext cx="4526280" cy="352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750">
                <a:solidFill>
                  <a:srgbClr val="2E2119"/>
                </a:solidFill>
                <a:latin typeface="Aptos"/>
                <a:ea typeface="Aptos"/>
                <a:cs typeface="Aptos"/>
              </a:rPr>
              <a:t>Менее опасны по своему характеру.</a:t>
            </a:r>
            <a:endParaRPr lang="en-US" sz="1750"/>
          </a:p>
          <a:p>
            <a:pPr marL="203200" indent="-203200">
              <a:buSzPct val="100000"/>
              <a:buChar char="•"/>
              <a:defRPr/>
            </a:pPr>
            <a:r>
              <a:rPr lang="en-US" sz="1750">
                <a:solidFill>
                  <a:srgbClr val="2E2119"/>
                </a:solidFill>
                <a:latin typeface="Aptos"/>
                <a:ea typeface="Aptos"/>
                <a:cs typeface="Aptos"/>
              </a:rPr>
              <a:t>Бывают административными, дисциплинарными и гражданско-правовыми.</a:t>
            </a:r>
            <a:endParaRPr lang="en-US" sz="1750"/>
          </a:p>
          <a:p>
            <a:pPr marL="203200" indent="-203200">
              <a:buSzPct val="100000"/>
              <a:buChar char="•"/>
              <a:defRPr/>
            </a:pPr>
            <a:r>
              <a:rPr lang="en-US" sz="1750">
                <a:solidFill>
                  <a:srgbClr val="2E2119"/>
                </a:solidFill>
                <a:latin typeface="Aptos"/>
                <a:ea typeface="Aptos"/>
                <a:cs typeface="Aptos"/>
              </a:rPr>
              <a:t>Административные посягают на общественный порядок и управление; дисциплинарные связаны с нарушением трудовой, служебной или учебной дисциплины; гражданско-правовые выражаются в неисполнении обязательств или причинении вреда.</a:t>
            </a:r>
            <a:endParaRPr lang="en-US" sz="1750"/>
          </a:p>
        </p:txBody>
      </p:sp>
      <p:sp>
        <p:nvSpPr>
          <p:cNvPr id="1648513685" name="Shape 15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1160095556" name="Text 16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УК РФ ст. 14; КоАП РФ ст. 2.1; ТК РФ ст. 192; ГК РФ ст. 1064.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876192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300849845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597897728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Понятие юридической ответственности</a:t>
            </a:r>
            <a:endParaRPr lang="en-US" sz="2800"/>
          </a:p>
        </p:txBody>
      </p:sp>
      <p:sp>
        <p:nvSpPr>
          <p:cNvPr id="885370390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618255271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4</a:t>
            </a:r>
            <a:endParaRPr lang="en-US" sz="1000"/>
          </a:p>
        </p:txBody>
      </p:sp>
      <p:sp>
        <p:nvSpPr>
          <p:cNvPr id="739141002" name="Text 6"/>
          <p:cNvSpPr/>
          <p:nvPr/>
        </p:nvSpPr>
        <p:spPr bwMode="auto">
          <a:xfrm>
            <a:off x="658368" y="914400"/>
            <a:ext cx="6492240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05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Юридическая ответственность — это применение государством мер принуждения к лицу, совершившему правонарушение.</a:t>
            </a:r>
            <a:endParaRPr lang="en-US" sz="2050"/>
          </a:p>
        </p:txBody>
      </p:sp>
      <p:sp>
        <p:nvSpPr>
          <p:cNvPr id="1314244351" name="Text 7"/>
          <p:cNvSpPr/>
          <p:nvPr/>
        </p:nvSpPr>
        <p:spPr bwMode="auto">
          <a:xfrm flipH="0" flipV="0">
            <a:off x="713231" y="1938527"/>
            <a:ext cx="6492240" cy="3480423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Наступает только на основании закона и выражается в неблагоприятных последствиях личного, имущественного или организационного характера.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Основные признаки: государственно-властный характер, связь с правонарушением, формальная определённость санкций, реализация в процессуальной форме.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Цели: наказание, восстановление нарушенного права, предупреждение новых правонарушений и воспитательное воздействие.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В уголовном праве действует презумпция невиновности: лицо считается невиновным, пока его вина не доказана и не установлена вступившим в силу приговором суда.</a:t>
            </a:r>
            <a:endParaRPr lang="en-US" sz="1800"/>
          </a:p>
        </p:txBody>
      </p:sp>
      <p:sp>
        <p:nvSpPr>
          <p:cNvPr id="701687510" name="Shape 8"/>
          <p:cNvSpPr/>
          <p:nvPr/>
        </p:nvSpPr>
        <p:spPr bwMode="auto">
          <a:xfrm>
            <a:off x="7790687" y="1024128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  <a:effectLst>
            <a:outerShdw blurRad="19050" dist="127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695120000" name="Text 9"/>
          <p:cNvSpPr/>
          <p:nvPr/>
        </p:nvSpPr>
        <p:spPr bwMode="auto">
          <a:xfrm>
            <a:off x="7991856" y="1170432"/>
            <a:ext cx="3255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4D2F22"/>
                </a:solidFill>
              </a:rPr>
              <a:t>Смысл института</a:t>
            </a:r>
            <a:endParaRPr lang="en-US" sz="1500"/>
          </a:p>
        </p:txBody>
      </p:sp>
      <p:sp>
        <p:nvSpPr>
          <p:cNvPr id="1569830348" name="Shape 10"/>
          <p:cNvSpPr/>
          <p:nvPr/>
        </p:nvSpPr>
        <p:spPr bwMode="auto">
          <a:xfrm>
            <a:off x="8019288" y="1463040"/>
            <a:ext cx="320040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pic>
        <p:nvPicPr>
          <p:cNvPr id="742673760" name="Image 0" descr="/mnt/data/legal_presentation/assets/scale_of_justic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46720" y="1765535"/>
            <a:ext cx="3145536" cy="3189770"/>
          </a:xfrm>
          <a:prstGeom prst="rect">
            <a:avLst/>
          </a:prstGeom>
        </p:spPr>
      </p:pic>
      <p:sp>
        <p:nvSpPr>
          <p:cNvPr id="502545630" name="Text 11"/>
          <p:cNvSpPr/>
          <p:nvPr/>
        </p:nvSpPr>
        <p:spPr bwMode="auto">
          <a:xfrm>
            <a:off x="8046720" y="5074920"/>
            <a:ext cx="3154680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145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Ответственность связывает нарушение нормы права с законной реакцией государства.</a:t>
            </a:r>
            <a:endParaRPr lang="en-US" sz="1450"/>
          </a:p>
        </p:txBody>
      </p:sp>
      <p:sp>
        <p:nvSpPr>
          <p:cNvPr id="2082555301" name="Shape 12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113130343" name="Text 13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Конституция РФ ст. 49.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190675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569356515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10179757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Уголовная и административная ответственность</a:t>
            </a:r>
            <a:endParaRPr lang="en-US" sz="2800"/>
          </a:p>
        </p:txBody>
      </p:sp>
      <p:sp>
        <p:nvSpPr>
          <p:cNvPr id="748308476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924644086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5</a:t>
            </a:r>
            <a:endParaRPr lang="en-US" sz="1000"/>
          </a:p>
        </p:txBody>
      </p:sp>
      <p:sp>
        <p:nvSpPr>
          <p:cNvPr id="1321612868" name="Text 6"/>
          <p:cNvSpPr/>
          <p:nvPr/>
        </p:nvSpPr>
        <p:spPr bwMode="auto">
          <a:xfrm>
            <a:off x="658368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Оба вида ответственности имеют публично-правовой характер, но различаются по основаниям, строгости и последствиям.</a:t>
            </a:r>
            <a:endParaRPr lang="en-US" sz="1950"/>
          </a:p>
        </p:txBody>
      </p:sp>
      <p:sp>
        <p:nvSpPr>
          <p:cNvPr id="879596672" name="Shape 7"/>
          <p:cNvSpPr/>
          <p:nvPr/>
        </p:nvSpPr>
        <p:spPr bwMode="auto">
          <a:xfrm flipH="0" flipV="0">
            <a:off x="658368" y="1634299"/>
            <a:ext cx="5532119" cy="4217859"/>
          </a:xfrm>
          <a:prstGeom prst="roundRect">
            <a:avLst>
              <a:gd name="adj" fmla="val 1031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958034922" name="Shape 8"/>
          <p:cNvSpPr/>
          <p:nvPr/>
        </p:nvSpPr>
        <p:spPr bwMode="auto">
          <a:xfrm>
            <a:off x="658368" y="1634299"/>
            <a:ext cx="553212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34578861" name="Text 9"/>
          <p:cNvSpPr/>
          <p:nvPr/>
        </p:nvSpPr>
        <p:spPr bwMode="auto">
          <a:xfrm>
            <a:off x="768096" y="1734883"/>
            <a:ext cx="5312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Уголовная ответственность</a:t>
            </a:r>
            <a:endParaRPr lang="en-US" sz="1600"/>
          </a:p>
        </p:txBody>
      </p:sp>
      <p:pic>
        <p:nvPicPr>
          <p:cNvPr id="739770163" name="Image 0" descr="/mnt/data/legal_presentation/assets/gave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40679" y="5102352"/>
            <a:ext cx="640080" cy="640080"/>
          </a:xfrm>
          <a:prstGeom prst="rect">
            <a:avLst/>
          </a:prstGeom>
        </p:spPr>
      </p:pic>
      <p:sp>
        <p:nvSpPr>
          <p:cNvPr id="2090265322" name="Text 10"/>
          <p:cNvSpPr/>
          <p:nvPr/>
        </p:nvSpPr>
        <p:spPr bwMode="auto">
          <a:xfrm flipH="0" flipV="0">
            <a:off x="768096" y="2059459"/>
            <a:ext cx="5312664" cy="3682972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Наступает за совершение преступлений.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Самый строгий вид юридической ответственности.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Субъект — вменяемое физическое лицо.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Общий возраст — 16 лет; за ряд особо опасных деяний — 14 лет.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Возможные наказания: штраф, обязательные работы, исправительные работы, ограничение свободы, лишение свободы.</a:t>
            </a:r>
            <a:endParaRPr sz="1800"/>
          </a:p>
        </p:txBody>
      </p:sp>
      <p:sp>
        <p:nvSpPr>
          <p:cNvPr id="3268728" name="Shape 11"/>
          <p:cNvSpPr/>
          <p:nvPr/>
        </p:nvSpPr>
        <p:spPr bwMode="auto">
          <a:xfrm flipH="0" flipV="0">
            <a:off x="6355079" y="1634299"/>
            <a:ext cx="5166360" cy="4217859"/>
          </a:xfrm>
          <a:prstGeom prst="roundRect">
            <a:avLst>
              <a:gd name="adj" fmla="val 1031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84153789" name="Shape 12"/>
          <p:cNvSpPr/>
          <p:nvPr/>
        </p:nvSpPr>
        <p:spPr bwMode="auto">
          <a:xfrm>
            <a:off x="6355080" y="1634299"/>
            <a:ext cx="516636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865762157" name="Text 13"/>
          <p:cNvSpPr/>
          <p:nvPr/>
        </p:nvSpPr>
        <p:spPr bwMode="auto">
          <a:xfrm>
            <a:off x="6464808" y="1734883"/>
            <a:ext cx="4946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Административная ответственность</a:t>
            </a:r>
            <a:endParaRPr lang="en-US" sz="1600"/>
          </a:p>
        </p:txBody>
      </p:sp>
      <p:pic>
        <p:nvPicPr>
          <p:cNvPr id="1963454517" name="Image 1" descr="/mnt/data/legal_presentation/assets/handcuffs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744200" y="5243702"/>
            <a:ext cx="640080" cy="498729"/>
          </a:xfrm>
          <a:prstGeom prst="rect">
            <a:avLst/>
          </a:prstGeom>
        </p:spPr>
      </p:pic>
      <p:sp>
        <p:nvSpPr>
          <p:cNvPr id="515754539" name="Text 14"/>
          <p:cNvSpPr/>
          <p:nvPr/>
        </p:nvSpPr>
        <p:spPr bwMode="auto">
          <a:xfrm>
            <a:off x="6464808" y="2059459"/>
            <a:ext cx="4946904" cy="3867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Наступает за административные правонарушения.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Регулируется КоАП РФ.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Обычно мягче уголовной ответственности.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Общий возраст привлечения — 16 лет.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Типичные меры: предупреждение, штраф, конфискация, лишение специального права, обязательные работы, административный арест.</a:t>
            </a:r>
            <a:endParaRPr sz="1800"/>
          </a:p>
        </p:txBody>
      </p:sp>
      <p:sp>
        <p:nvSpPr>
          <p:cNvPr id="1220307243" name="Shape 15"/>
          <p:cNvSpPr/>
          <p:nvPr/>
        </p:nvSpPr>
        <p:spPr bwMode="auto">
          <a:xfrm flipH="0" flipV="0">
            <a:off x="566927" y="6236208"/>
            <a:ext cx="4222632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969097892" name="Text 16"/>
          <p:cNvSpPr/>
          <p:nvPr/>
        </p:nvSpPr>
        <p:spPr bwMode="auto">
          <a:xfrm flipH="0" flipV="0">
            <a:off x="713232" y="6268212"/>
            <a:ext cx="4076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УК РФ ст. 19, 20, 44; КоАП РФ ст. 2.3, 3.2.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736148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2092491538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156067824" name="Text 2"/>
          <p:cNvSpPr/>
          <p:nvPr/>
        </p:nvSpPr>
        <p:spPr bwMode="auto">
          <a:xfrm flipH="0" flipV="0">
            <a:off x="502920" y="169164"/>
            <a:ext cx="11378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Административная, гражданско-правовая и дисциплинарная ответственность</a:t>
            </a:r>
            <a:endParaRPr sz="2000"/>
          </a:p>
        </p:txBody>
      </p:sp>
      <p:sp>
        <p:nvSpPr>
          <p:cNvPr id="556338357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727256179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6</a:t>
            </a:r>
            <a:endParaRPr lang="en-US" sz="1000"/>
          </a:p>
        </p:txBody>
      </p:sp>
      <p:sp>
        <p:nvSpPr>
          <p:cNvPr id="2055934986" name="Text 6"/>
          <p:cNvSpPr/>
          <p:nvPr/>
        </p:nvSpPr>
        <p:spPr bwMode="auto">
          <a:xfrm>
            <a:off x="658368" y="837168"/>
            <a:ext cx="10972800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Эти виды ответственности различаются по сфере применения и характеру последствий.</a:t>
            </a:r>
            <a:endParaRPr lang="en-US" sz="2000"/>
          </a:p>
        </p:txBody>
      </p:sp>
      <p:sp>
        <p:nvSpPr>
          <p:cNvPr id="29729995" name="Shape 7"/>
          <p:cNvSpPr/>
          <p:nvPr/>
        </p:nvSpPr>
        <p:spPr bwMode="auto">
          <a:xfrm>
            <a:off x="658368" y="1417320"/>
            <a:ext cx="3611880" cy="4526280"/>
          </a:xfrm>
          <a:prstGeom prst="roundRect">
            <a:avLst>
              <a:gd name="adj" fmla="val 1266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280926395" name="Shape 8"/>
          <p:cNvSpPr/>
          <p:nvPr/>
        </p:nvSpPr>
        <p:spPr bwMode="auto">
          <a:xfrm>
            <a:off x="658368" y="1417320"/>
            <a:ext cx="361188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36244698" name="Text 9"/>
          <p:cNvSpPr/>
          <p:nvPr/>
        </p:nvSpPr>
        <p:spPr bwMode="auto">
          <a:xfrm>
            <a:off x="768096" y="149961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Административная</a:t>
            </a:r>
            <a:endParaRPr lang="en-US" sz="1600"/>
          </a:p>
        </p:txBody>
      </p:sp>
      <p:pic>
        <p:nvPicPr>
          <p:cNvPr id="529611624" name="Image 0" descr="/mnt/data/legal_presentation/assets/gave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20440" y="5102352"/>
            <a:ext cx="640080" cy="640080"/>
          </a:xfrm>
          <a:prstGeom prst="rect">
            <a:avLst/>
          </a:prstGeom>
        </p:spPr>
      </p:pic>
      <p:sp>
        <p:nvSpPr>
          <p:cNvPr id="1896448947" name="Text 10"/>
          <p:cNvSpPr/>
          <p:nvPr/>
        </p:nvSpPr>
        <p:spPr bwMode="auto">
          <a:xfrm>
            <a:off x="768096" y="1874520"/>
            <a:ext cx="3392424" cy="395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Наступает за административные правонарушения.</a:t>
            </a:r>
            <a:endParaRPr lang="en-US" sz="1550"/>
          </a:p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Основные меры: предупреждение, штраф, конфискация, лишение специального права, арест, обязательные работы.</a:t>
            </a:r>
            <a:endParaRPr lang="en-US" sz="1550"/>
          </a:p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Общий возраст — 16 лет.</a:t>
            </a:r>
            <a:endParaRPr lang="en-US" sz="1550"/>
          </a:p>
        </p:txBody>
      </p:sp>
      <p:sp>
        <p:nvSpPr>
          <p:cNvPr id="1772675876" name="Shape 11"/>
          <p:cNvSpPr/>
          <p:nvPr/>
        </p:nvSpPr>
        <p:spPr bwMode="auto">
          <a:xfrm>
            <a:off x="4288536" y="1417320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2127585102" name="Shape 12"/>
          <p:cNvSpPr/>
          <p:nvPr/>
        </p:nvSpPr>
        <p:spPr bwMode="auto">
          <a:xfrm>
            <a:off x="4288536" y="1417320"/>
            <a:ext cx="365760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486555979" name="Text 13"/>
          <p:cNvSpPr/>
          <p:nvPr/>
        </p:nvSpPr>
        <p:spPr bwMode="auto">
          <a:xfrm>
            <a:off x="4398264" y="149961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Гражданско-правовая</a:t>
            </a:r>
            <a:endParaRPr lang="en-US" sz="1600"/>
          </a:p>
        </p:txBody>
      </p:sp>
      <p:pic>
        <p:nvPicPr>
          <p:cNvPr id="1295188062" name="Image 1" descr="/mnt/data/legal_presentation/assets/file_contract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56348" y="5102352"/>
            <a:ext cx="480060" cy="640080"/>
          </a:xfrm>
          <a:prstGeom prst="rect">
            <a:avLst/>
          </a:prstGeom>
        </p:spPr>
      </p:pic>
      <p:sp>
        <p:nvSpPr>
          <p:cNvPr id="527284538" name="Text 14"/>
          <p:cNvSpPr/>
          <p:nvPr/>
        </p:nvSpPr>
        <p:spPr bwMode="auto">
          <a:xfrm>
            <a:off x="4376927" y="1874520"/>
            <a:ext cx="3438144" cy="395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Обычно выражается в возмещении убытков и вреда, уплате неустойки и других имущественных последствиях.</a:t>
            </a:r>
            <a:endParaRPr lang="en-US" sz="1550"/>
          </a:p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Главная цель — восстановить нарушенное право потерпевшего.</a:t>
            </a:r>
            <a:endParaRPr lang="en-US" sz="1550"/>
          </a:p>
        </p:txBody>
      </p:sp>
      <p:sp>
        <p:nvSpPr>
          <p:cNvPr id="151219407" name="Shape 15"/>
          <p:cNvSpPr/>
          <p:nvPr/>
        </p:nvSpPr>
        <p:spPr bwMode="auto">
          <a:xfrm>
            <a:off x="7973568" y="1417320"/>
            <a:ext cx="3547872" cy="4526280"/>
          </a:xfrm>
          <a:prstGeom prst="roundRect">
            <a:avLst>
              <a:gd name="adj" fmla="val 1289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414941020" name="Shape 16"/>
          <p:cNvSpPr/>
          <p:nvPr/>
        </p:nvSpPr>
        <p:spPr bwMode="auto">
          <a:xfrm>
            <a:off x="7973568" y="1417320"/>
            <a:ext cx="3547872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176687469" name="Text 17"/>
          <p:cNvSpPr/>
          <p:nvPr/>
        </p:nvSpPr>
        <p:spPr bwMode="auto">
          <a:xfrm>
            <a:off x="8083296" y="1499616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Дисциплинарная</a:t>
            </a:r>
            <a:endParaRPr lang="en-US" sz="1600"/>
          </a:p>
        </p:txBody>
      </p:sp>
      <p:pic>
        <p:nvPicPr>
          <p:cNvPr id="1361411587" name="Image 2" descr="/mnt/data/legal_presentation/assets/id_car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744200" y="5173360"/>
            <a:ext cx="640080" cy="569071"/>
          </a:xfrm>
          <a:prstGeom prst="rect">
            <a:avLst/>
          </a:prstGeom>
        </p:spPr>
      </p:pic>
      <p:sp>
        <p:nvSpPr>
          <p:cNvPr id="1891935254" name="Text 18"/>
          <p:cNvSpPr/>
          <p:nvPr/>
        </p:nvSpPr>
        <p:spPr bwMode="auto">
          <a:xfrm>
            <a:off x="8083296" y="1874520"/>
            <a:ext cx="3328416" cy="395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Применяется за нарушение трудовых обязанностей.</a:t>
            </a:r>
            <a:endParaRPr lang="en-US" sz="1550"/>
          </a:p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Основные взыскания: замечание, выговор, увольнение по соответствующим основаниям.</a:t>
            </a:r>
            <a:endParaRPr lang="en-US" sz="1550"/>
          </a:p>
        </p:txBody>
      </p:sp>
      <p:sp>
        <p:nvSpPr>
          <p:cNvPr id="1902310580" name="Shape 19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1053336018" name="Text 20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КоАП РФ ст. 2.3, 3.2; ГК РФ ст. 1064; ТК РФ ст. 192.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498044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871199180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857282416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Правоспособность гражданина</a:t>
            </a:r>
            <a:endParaRPr lang="en-US" sz="2800"/>
          </a:p>
        </p:txBody>
      </p:sp>
      <p:sp>
        <p:nvSpPr>
          <p:cNvPr id="63397443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181849575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7</a:t>
            </a:r>
            <a:endParaRPr lang="en-US" sz="1000"/>
          </a:p>
        </p:txBody>
      </p:sp>
      <p:sp>
        <p:nvSpPr>
          <p:cNvPr id="726863874" name="Text 6"/>
          <p:cNvSpPr/>
          <p:nvPr/>
        </p:nvSpPr>
        <p:spPr bwMode="auto">
          <a:xfrm>
            <a:off x="658368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Правоспособность — это способность иметь гражданские права и нести обязанности.</a:t>
            </a:r>
            <a:endParaRPr lang="en-US" sz="2100"/>
          </a:p>
        </p:txBody>
      </p:sp>
      <p:sp>
        <p:nvSpPr>
          <p:cNvPr id="917828152" name="Text 7"/>
          <p:cNvSpPr/>
          <p:nvPr/>
        </p:nvSpPr>
        <p:spPr bwMode="auto">
          <a:xfrm>
            <a:off x="713232" y="1737360"/>
            <a:ext cx="640080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Признаётся в равной мере за всеми гражданами.</a:t>
            </a:r>
            <a:endParaRPr lang="en-US" sz="1850"/>
          </a:p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Возникает в момент рождения и прекращается смертью.</a:t>
            </a:r>
            <a:endParaRPr lang="en-US" sz="1850"/>
          </a:p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С рождения человек может быть носителем гражданских прав: иметь имущество, наследовать, быть участником правоотношений, обладать личными неимущественными правами.</a:t>
            </a:r>
            <a:endParaRPr lang="en-US" sz="1850"/>
          </a:p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Но сама по себе правоспособность ещё не означает возможность самостоятельно своими действиями реализовывать эти права.</a:t>
            </a:r>
            <a:endParaRPr lang="en-US" sz="1850"/>
          </a:p>
        </p:txBody>
      </p:sp>
      <p:sp>
        <p:nvSpPr>
          <p:cNvPr id="903759432" name="Shape 8"/>
          <p:cNvSpPr/>
          <p:nvPr/>
        </p:nvSpPr>
        <p:spPr bwMode="auto">
          <a:xfrm flipH="0" flipV="0">
            <a:off x="7662672" y="1024128"/>
            <a:ext cx="3840480" cy="5394960"/>
          </a:xfrm>
          <a:prstGeom prst="roundRect">
            <a:avLst>
              <a:gd name="adj" fmla="val 1905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  <a:effectLst>
            <a:outerShdw blurRad="25400" dist="12700" dir="2700000" sx="100000" sy="100000" kx="0" ky="0" algn="bl" rotWithShape="0">
              <a:srgbClr val="000000">
                <a:alpha val="15000"/>
              </a:srgbClr>
            </a:outerShdw>
          </a:effectLst>
        </p:spPr>
      </p:sp>
      <p:pic>
        <p:nvPicPr>
          <p:cNvPr id="1744445801" name="Image 0" descr="/mnt/data/legal_presentation/assets/baby_with_book.jpg"/>
          <p:cNvPicPr>
            <a:picLocks noChangeAspect="1"/>
          </p:cNvPicPr>
          <p:nvPr/>
        </p:nvPicPr>
        <p:blipFill rotWithShape="1">
          <a:blip r:embed="rId3"/>
          <a:srcRect l="17241" t="0" r="17241" b="0"/>
          <a:stretch/>
        </p:blipFill>
        <p:spPr bwMode="auto">
          <a:xfrm>
            <a:off x="7845552" y="1207008"/>
            <a:ext cx="3474720" cy="3977640"/>
          </a:xfrm>
          <a:prstGeom prst="rect">
            <a:avLst/>
          </a:prstGeom>
        </p:spPr>
      </p:pic>
      <p:sp>
        <p:nvSpPr>
          <p:cNvPr id="2091831671" name="Shape 9"/>
          <p:cNvSpPr/>
          <p:nvPr/>
        </p:nvSpPr>
        <p:spPr bwMode="auto">
          <a:xfrm>
            <a:off x="7845552" y="5056632"/>
            <a:ext cx="3474720" cy="12801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238856057" name="Text 10"/>
          <p:cNvSpPr/>
          <p:nvPr/>
        </p:nvSpPr>
        <p:spPr bwMode="auto">
          <a:xfrm flipH="0" flipV="0">
            <a:off x="8001000" y="5285232"/>
            <a:ext cx="3154680" cy="1042415"/>
          </a:xfrm>
          <a:prstGeom prst="rect">
            <a:avLst/>
          </a:prstGeom>
          <a:noFill/>
          <a:ln/>
        </p:spPr>
        <p:txBody>
          <a:bodyPr wrap="square" lIns="12699" tIns="12699" rIns="12699" bIns="12699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Правоспособность существует с рождения,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даже если полная самостоятельность ещё не наступила.</a:t>
            </a:r>
            <a:endParaRPr lang="en-US" sz="1400"/>
          </a:p>
        </p:txBody>
      </p:sp>
      <p:sp>
        <p:nvSpPr>
          <p:cNvPr id="1596482261" name="Shape 11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1409178190" name="Text 12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ГК РФ ст. 17.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059048" name="Shape 11"/>
          <p:cNvSpPr/>
          <p:nvPr/>
        </p:nvSpPr>
        <p:spPr bwMode="auto">
          <a:xfrm flipH="0" flipV="0">
            <a:off x="5202934" y="1874520"/>
            <a:ext cx="2237992" cy="3611880"/>
          </a:xfrm>
          <a:prstGeom prst="roundRect">
            <a:avLst>
              <a:gd name="adj" fmla="val 1493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511482186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29781745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841969608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Дееспособность гражданина</a:t>
            </a:r>
            <a:endParaRPr lang="en-US" sz="2800"/>
          </a:p>
        </p:txBody>
      </p:sp>
      <p:sp>
        <p:nvSpPr>
          <p:cNvPr id="2054562177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368489490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8</a:t>
            </a:r>
            <a:endParaRPr lang="en-US" sz="1000"/>
          </a:p>
        </p:txBody>
      </p:sp>
      <p:sp>
        <p:nvSpPr>
          <p:cNvPr id="1294575696" name="Text 6"/>
          <p:cNvSpPr/>
          <p:nvPr/>
        </p:nvSpPr>
        <p:spPr bwMode="auto">
          <a:xfrm>
            <a:off x="658368" y="914400"/>
            <a:ext cx="685800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Дееспособность — это способность своими действиями приобретать и осуществлять права, создавать для себя обязанности и исполнять их.</a:t>
            </a:r>
            <a:endParaRPr lang="en-US" sz="2000"/>
          </a:p>
        </p:txBody>
      </p:sp>
      <p:sp>
        <p:nvSpPr>
          <p:cNvPr id="2101963249" name="Shape 7"/>
          <p:cNvSpPr/>
          <p:nvPr/>
        </p:nvSpPr>
        <p:spPr bwMode="auto">
          <a:xfrm flipH="0" flipV="0">
            <a:off x="658367" y="1874520"/>
            <a:ext cx="2161834" cy="3611880"/>
          </a:xfrm>
          <a:prstGeom prst="roundRect">
            <a:avLst>
              <a:gd name="adj" fmla="val 1351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651410698" name="Shape 8"/>
          <p:cNvSpPr/>
          <p:nvPr/>
        </p:nvSpPr>
        <p:spPr bwMode="auto">
          <a:xfrm flipH="0" flipV="0">
            <a:off x="658367" y="1874520"/>
            <a:ext cx="2161834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990585976" name="Text 9"/>
          <p:cNvSpPr/>
          <p:nvPr/>
        </p:nvSpPr>
        <p:spPr bwMode="auto">
          <a:xfrm flipH="0" flipV="0">
            <a:off x="768096" y="1956816"/>
            <a:ext cx="20216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Полная</a:t>
            </a:r>
            <a:endParaRPr lang="en-US" sz="1600"/>
          </a:p>
        </p:txBody>
      </p:sp>
      <p:sp>
        <p:nvSpPr>
          <p:cNvPr id="328807173" name="Text 10"/>
          <p:cNvSpPr/>
          <p:nvPr/>
        </p:nvSpPr>
        <p:spPr bwMode="auto">
          <a:xfrm flipH="0" flipV="0">
            <a:off x="768096" y="2331719"/>
            <a:ext cx="2021607" cy="3044952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Возникает с 18 лет.</a:t>
            </a:r>
            <a:endParaRPr lang="en-US" sz="1550"/>
          </a:p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Гражданин самостоятельно осуществляет права и обязанности в полном объёме.</a:t>
            </a:r>
            <a:endParaRPr lang="en-US" sz="1550"/>
          </a:p>
        </p:txBody>
      </p:sp>
      <p:sp>
        <p:nvSpPr>
          <p:cNvPr id="592611382" name="Shape 11"/>
          <p:cNvSpPr/>
          <p:nvPr/>
        </p:nvSpPr>
        <p:spPr bwMode="auto">
          <a:xfrm flipH="0" flipV="0">
            <a:off x="2899100" y="1874520"/>
            <a:ext cx="2237993" cy="3611880"/>
          </a:xfrm>
          <a:prstGeom prst="roundRect">
            <a:avLst>
              <a:gd name="adj" fmla="val 1493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631323946" name="Shape 12"/>
          <p:cNvSpPr/>
          <p:nvPr/>
        </p:nvSpPr>
        <p:spPr bwMode="auto">
          <a:xfrm flipH="0" flipV="0">
            <a:off x="2899100" y="1874520"/>
            <a:ext cx="2237993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824677908" name="Text 13"/>
          <p:cNvSpPr/>
          <p:nvPr/>
        </p:nvSpPr>
        <p:spPr bwMode="auto">
          <a:xfrm flipH="0" flipV="0">
            <a:off x="3008828" y="1956816"/>
            <a:ext cx="20776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Неполная (14–18 лет)</a:t>
            </a:r>
            <a:endParaRPr lang="en-US" sz="1600"/>
          </a:p>
        </p:txBody>
      </p:sp>
      <p:sp>
        <p:nvSpPr>
          <p:cNvPr id="901728514" name="Text 14"/>
          <p:cNvSpPr/>
          <p:nvPr/>
        </p:nvSpPr>
        <p:spPr bwMode="auto">
          <a:xfrm flipH="0" flipV="0">
            <a:off x="3008828" y="2331719"/>
            <a:ext cx="2077659" cy="3044952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Можно распоряжаться заработком, стипендией и иными доходами.</a:t>
            </a:r>
            <a:endParaRPr lang="en-US" sz="1550"/>
          </a:p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Допускается осуществление авторских прав, вкладов и ряда сделок.</a:t>
            </a:r>
            <a:endParaRPr lang="en-US" sz="1550"/>
          </a:p>
        </p:txBody>
      </p:sp>
      <p:sp>
        <p:nvSpPr>
          <p:cNvPr id="58985973" name="Shape 16"/>
          <p:cNvSpPr/>
          <p:nvPr/>
        </p:nvSpPr>
        <p:spPr bwMode="auto">
          <a:xfrm flipH="0" flipV="0">
            <a:off x="5202934" y="1874520"/>
            <a:ext cx="2238178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66260027" name="Text 17"/>
          <p:cNvSpPr/>
          <p:nvPr/>
        </p:nvSpPr>
        <p:spPr bwMode="auto">
          <a:xfrm flipH="0" flipV="0">
            <a:off x="5312663" y="1956816"/>
            <a:ext cx="21633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Частичная (6–14 лет)</a:t>
            </a:r>
            <a:endParaRPr lang="en-US" sz="1600"/>
          </a:p>
        </p:txBody>
      </p:sp>
      <p:sp>
        <p:nvSpPr>
          <p:cNvPr id="1647135461" name="Text 18"/>
          <p:cNvSpPr/>
          <p:nvPr/>
        </p:nvSpPr>
        <p:spPr bwMode="auto">
          <a:xfrm flipH="0" flipV="0">
            <a:off x="5312663" y="2331719"/>
            <a:ext cx="2064092" cy="3044952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550">
                <a:solidFill>
                  <a:srgbClr val="2E2119"/>
                </a:solidFill>
                <a:latin typeface="Aptos"/>
                <a:ea typeface="Aptos"/>
                <a:cs typeface="Aptos"/>
              </a:rPr>
              <a:t>Самостоятельно допускаются мелкие бытовые сделки и некоторые иные действия, прямо указанные законом.</a:t>
            </a:r>
            <a:endParaRPr lang="en-US" sz="1550"/>
          </a:p>
        </p:txBody>
      </p:sp>
      <p:sp>
        <p:nvSpPr>
          <p:cNvPr id="420086867" name="Shape 19"/>
          <p:cNvSpPr/>
          <p:nvPr/>
        </p:nvSpPr>
        <p:spPr bwMode="auto">
          <a:xfrm>
            <a:off x="7754112" y="109728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</p:spPr>
      </p:sp>
      <p:pic>
        <p:nvPicPr>
          <p:cNvPr id="1058319090" name="Image 0" descr="/mnt/data/legal_presentation/assets/id_car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07564" y="1234439"/>
            <a:ext cx="2468398" cy="2194560"/>
          </a:xfrm>
          <a:prstGeom prst="rect">
            <a:avLst/>
          </a:prstGeom>
        </p:spPr>
      </p:pic>
      <p:sp>
        <p:nvSpPr>
          <p:cNvPr id="493835300" name="Shape 20"/>
          <p:cNvSpPr/>
          <p:nvPr/>
        </p:nvSpPr>
        <p:spPr bwMode="auto">
          <a:xfrm>
            <a:off x="8641080" y="3662172"/>
            <a:ext cx="1645920" cy="914400"/>
          </a:xfrm>
          <a:prstGeom prst="ellipse">
            <a:avLst/>
          </a:prstGeom>
          <a:solidFill>
            <a:srgbClr val="8B5E3C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509108430" name="Text 21"/>
          <p:cNvSpPr/>
          <p:nvPr/>
        </p:nvSpPr>
        <p:spPr bwMode="auto">
          <a:xfrm>
            <a:off x="8705437" y="391855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500" b="1">
                <a:solidFill>
                  <a:srgbClr val="FFFDF9"/>
                </a:solidFill>
              </a:rPr>
              <a:t>18+</a:t>
            </a:r>
            <a:endParaRPr lang="en-US" sz="2500"/>
          </a:p>
        </p:txBody>
      </p:sp>
      <p:sp>
        <p:nvSpPr>
          <p:cNvPr id="996728140" name="Text 22"/>
          <p:cNvSpPr/>
          <p:nvPr/>
        </p:nvSpPr>
        <p:spPr bwMode="auto">
          <a:xfrm>
            <a:off x="8101584" y="4740544"/>
            <a:ext cx="288036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Полный объём дееспособности связан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с достижением совершеннолетия.</a:t>
            </a:r>
            <a:endParaRPr lang="en-US" sz="1400"/>
          </a:p>
        </p:txBody>
      </p:sp>
      <p:sp>
        <p:nvSpPr>
          <p:cNvPr id="1292928858" name="Shape 23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727403690" name="Text 24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Конституция РФ ст. 60; ГК РФ ст. 21, 26, 28.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232030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511426420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844802004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Сравнение правоспособности и дееспособности</a:t>
            </a:r>
            <a:endParaRPr lang="en-US" sz="2800"/>
          </a:p>
        </p:txBody>
      </p:sp>
      <p:sp>
        <p:nvSpPr>
          <p:cNvPr id="651331067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084533627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9</a:t>
            </a:r>
            <a:endParaRPr lang="en-US" sz="1000"/>
          </a:p>
        </p:txBody>
      </p:sp>
      <p:sp>
        <p:nvSpPr>
          <p:cNvPr id="1089791232" name="Text 6"/>
          <p:cNvSpPr/>
          <p:nvPr/>
        </p:nvSpPr>
        <p:spPr bwMode="auto">
          <a:xfrm>
            <a:off x="658368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Понятия близки, но не совпадают: первое связано с обладанием правами, второе — с их самостоятельной реализацией.</a:t>
            </a:r>
            <a:endParaRPr lang="en-US" sz="2000"/>
          </a:p>
        </p:txBody>
      </p:sp>
      <p:sp>
        <p:nvSpPr>
          <p:cNvPr id="1282387834" name="Shape 7"/>
          <p:cNvSpPr/>
          <p:nvPr/>
        </p:nvSpPr>
        <p:spPr bwMode="auto">
          <a:xfrm>
            <a:off x="658368" y="1572768"/>
            <a:ext cx="2011680" cy="457200"/>
          </a:xfrm>
          <a:prstGeom prst="rect">
            <a:avLst/>
          </a:prstGeom>
          <a:solidFill>
            <a:srgbClr val="4D2F22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697808279" name="Text 8"/>
          <p:cNvSpPr/>
          <p:nvPr/>
        </p:nvSpPr>
        <p:spPr bwMode="auto">
          <a:xfrm>
            <a:off x="731520" y="16916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DF9"/>
                </a:solidFill>
              </a:rPr>
              <a:t>Критерий</a:t>
            </a:r>
            <a:endParaRPr lang="en-US" sz="1500"/>
          </a:p>
        </p:txBody>
      </p:sp>
      <p:sp>
        <p:nvSpPr>
          <p:cNvPr id="1567201591" name="Shape 9"/>
          <p:cNvSpPr/>
          <p:nvPr/>
        </p:nvSpPr>
        <p:spPr bwMode="auto">
          <a:xfrm>
            <a:off x="2670048" y="1572768"/>
            <a:ext cx="2834640" cy="457200"/>
          </a:xfrm>
          <a:prstGeom prst="rect">
            <a:avLst/>
          </a:prstGeom>
          <a:solidFill>
            <a:srgbClr val="8B5E3C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2122637414" name="Text 10"/>
          <p:cNvSpPr/>
          <p:nvPr/>
        </p:nvSpPr>
        <p:spPr bwMode="auto">
          <a:xfrm>
            <a:off x="2743200" y="1691640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DF9"/>
                </a:solidFill>
              </a:rPr>
              <a:t>Правоспособность</a:t>
            </a:r>
            <a:endParaRPr lang="en-US" sz="1500"/>
          </a:p>
        </p:txBody>
      </p:sp>
      <p:sp>
        <p:nvSpPr>
          <p:cNvPr id="1972146525" name="Shape 11"/>
          <p:cNvSpPr/>
          <p:nvPr/>
        </p:nvSpPr>
        <p:spPr bwMode="auto">
          <a:xfrm>
            <a:off x="5504687" y="1572768"/>
            <a:ext cx="2880360" cy="457200"/>
          </a:xfrm>
          <a:prstGeom prst="rect">
            <a:avLst/>
          </a:prstGeom>
          <a:solidFill>
            <a:srgbClr val="8B5E3C"/>
          </a:solidFill>
          <a:ln w="12700">
            <a:solidFill>
              <a:srgbClr val="FFFDF9"/>
            </a:solidFill>
            <a:prstDash val="solid"/>
          </a:ln>
        </p:spPr>
      </p:sp>
      <p:sp>
        <p:nvSpPr>
          <p:cNvPr id="1319607500" name="Text 12"/>
          <p:cNvSpPr/>
          <p:nvPr/>
        </p:nvSpPr>
        <p:spPr bwMode="auto">
          <a:xfrm>
            <a:off x="5577840" y="1691640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DF9"/>
                </a:solidFill>
              </a:rPr>
              <a:t>Дееспособность</a:t>
            </a:r>
            <a:endParaRPr lang="en-US" sz="1500"/>
          </a:p>
        </p:txBody>
      </p:sp>
      <p:sp>
        <p:nvSpPr>
          <p:cNvPr id="731609605" name="Shape 13"/>
          <p:cNvSpPr/>
          <p:nvPr/>
        </p:nvSpPr>
        <p:spPr bwMode="auto">
          <a:xfrm>
            <a:off x="658368" y="2029968"/>
            <a:ext cx="2011680" cy="676656"/>
          </a:xfrm>
          <a:prstGeom prst="rect">
            <a:avLst/>
          </a:prstGeom>
          <a:solidFill>
            <a:srgbClr val="EFE1C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444306513" name="Text 14"/>
          <p:cNvSpPr/>
          <p:nvPr/>
        </p:nvSpPr>
        <p:spPr bwMode="auto">
          <a:xfrm>
            <a:off x="749808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E2119"/>
                </a:solidFill>
              </a:rPr>
              <a:t>Суть</a:t>
            </a:r>
            <a:endParaRPr lang="en-US" sz="1400"/>
          </a:p>
        </p:txBody>
      </p:sp>
      <p:sp>
        <p:nvSpPr>
          <p:cNvPr id="1370440467" name="Shape 15"/>
          <p:cNvSpPr/>
          <p:nvPr/>
        </p:nvSpPr>
        <p:spPr bwMode="auto">
          <a:xfrm>
            <a:off x="2670048" y="2029968"/>
            <a:ext cx="2834640" cy="676656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755188343" name="Text 16"/>
          <p:cNvSpPr/>
          <p:nvPr/>
        </p:nvSpPr>
        <p:spPr bwMode="auto">
          <a:xfrm>
            <a:off x="2761488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Возможность иметь права и обязанности.</a:t>
            </a:r>
            <a:endParaRPr lang="en-US" sz="1450"/>
          </a:p>
        </p:txBody>
      </p:sp>
      <p:sp>
        <p:nvSpPr>
          <p:cNvPr id="1821191694" name="Shape 17"/>
          <p:cNvSpPr/>
          <p:nvPr/>
        </p:nvSpPr>
        <p:spPr bwMode="auto">
          <a:xfrm>
            <a:off x="5504687" y="2029968"/>
            <a:ext cx="2880360" cy="676656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187813200" name="Text 18"/>
          <p:cNvSpPr/>
          <p:nvPr/>
        </p:nvSpPr>
        <p:spPr bwMode="auto">
          <a:xfrm>
            <a:off x="5596128" y="2103120"/>
            <a:ext cx="269748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Возможность самостоятельно осуществлять права и создавать обязанности.</a:t>
            </a:r>
            <a:endParaRPr lang="en-US" sz="1450"/>
          </a:p>
        </p:txBody>
      </p:sp>
      <p:sp>
        <p:nvSpPr>
          <p:cNvPr id="1256313037" name="Shape 19"/>
          <p:cNvSpPr/>
          <p:nvPr/>
        </p:nvSpPr>
        <p:spPr bwMode="auto">
          <a:xfrm>
            <a:off x="658368" y="2706624"/>
            <a:ext cx="2011680" cy="731520"/>
          </a:xfrm>
          <a:prstGeom prst="rect">
            <a:avLst/>
          </a:prstGeom>
          <a:solidFill>
            <a:srgbClr val="EFE1C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866178173" name="Text 20"/>
          <p:cNvSpPr/>
          <p:nvPr/>
        </p:nvSpPr>
        <p:spPr bwMode="auto">
          <a:xfrm>
            <a:off x="749808" y="2779776"/>
            <a:ext cx="1828800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E2119"/>
                </a:solidFill>
              </a:rPr>
              <a:t>Начало</a:t>
            </a:r>
            <a:endParaRPr lang="en-US" sz="1400"/>
          </a:p>
        </p:txBody>
      </p:sp>
      <p:sp>
        <p:nvSpPr>
          <p:cNvPr id="1793435552" name="Shape 21"/>
          <p:cNvSpPr/>
          <p:nvPr/>
        </p:nvSpPr>
        <p:spPr bwMode="auto">
          <a:xfrm>
            <a:off x="2670048" y="2706624"/>
            <a:ext cx="2834640" cy="731520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43982076" name="Text 22"/>
          <p:cNvSpPr/>
          <p:nvPr/>
        </p:nvSpPr>
        <p:spPr bwMode="auto">
          <a:xfrm>
            <a:off x="2761488" y="2779776"/>
            <a:ext cx="2651760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С рождения.</a:t>
            </a:r>
            <a:endParaRPr lang="en-US" sz="1450"/>
          </a:p>
        </p:txBody>
      </p:sp>
      <p:sp>
        <p:nvSpPr>
          <p:cNvPr id="346436388" name="Shape 23"/>
          <p:cNvSpPr/>
          <p:nvPr/>
        </p:nvSpPr>
        <p:spPr bwMode="auto">
          <a:xfrm>
            <a:off x="5504687" y="2706624"/>
            <a:ext cx="2880360" cy="731520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806750541" name="Text 24"/>
          <p:cNvSpPr/>
          <p:nvPr/>
        </p:nvSpPr>
        <p:spPr bwMode="auto">
          <a:xfrm>
            <a:off x="5596128" y="2779776"/>
            <a:ext cx="2697480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С 18 лет — полная; ранее — частичная или неполная.</a:t>
            </a:r>
            <a:endParaRPr lang="en-US" sz="1450"/>
          </a:p>
        </p:txBody>
      </p:sp>
      <p:sp>
        <p:nvSpPr>
          <p:cNvPr id="776497517" name="Shape 25"/>
          <p:cNvSpPr/>
          <p:nvPr/>
        </p:nvSpPr>
        <p:spPr bwMode="auto">
          <a:xfrm>
            <a:off x="658368" y="3438144"/>
            <a:ext cx="2011680" cy="868680"/>
          </a:xfrm>
          <a:prstGeom prst="rect">
            <a:avLst/>
          </a:prstGeom>
          <a:solidFill>
            <a:srgbClr val="EFE1C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2039048146" name="Text 26"/>
          <p:cNvSpPr/>
          <p:nvPr/>
        </p:nvSpPr>
        <p:spPr bwMode="auto">
          <a:xfrm>
            <a:off x="749808" y="3511296"/>
            <a:ext cx="1828800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E2119"/>
                </a:solidFill>
              </a:rPr>
              <a:t>Зависимость</a:t>
            </a:r>
            <a:endParaRPr lang="en-US" sz="1400"/>
          </a:p>
        </p:txBody>
      </p:sp>
      <p:sp>
        <p:nvSpPr>
          <p:cNvPr id="836463941" name="Shape 27"/>
          <p:cNvSpPr/>
          <p:nvPr/>
        </p:nvSpPr>
        <p:spPr bwMode="auto">
          <a:xfrm>
            <a:off x="2670048" y="3438144"/>
            <a:ext cx="2834640" cy="868680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608240855" name="Text 28"/>
          <p:cNvSpPr/>
          <p:nvPr/>
        </p:nvSpPr>
        <p:spPr bwMode="auto">
          <a:xfrm>
            <a:off x="2761488" y="3511296"/>
            <a:ext cx="2651760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Равна для всех граждан.</a:t>
            </a:r>
            <a:endParaRPr lang="en-US" sz="1450"/>
          </a:p>
        </p:txBody>
      </p:sp>
      <p:sp>
        <p:nvSpPr>
          <p:cNvPr id="1045404349" name="Shape 29"/>
          <p:cNvSpPr/>
          <p:nvPr/>
        </p:nvSpPr>
        <p:spPr bwMode="auto">
          <a:xfrm>
            <a:off x="5504687" y="3438144"/>
            <a:ext cx="2880360" cy="868680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573952646" name="Text 30"/>
          <p:cNvSpPr/>
          <p:nvPr/>
        </p:nvSpPr>
        <p:spPr bwMode="auto">
          <a:xfrm>
            <a:off x="5596128" y="3511296"/>
            <a:ext cx="2697480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Зависит от возраста и психического состояния.</a:t>
            </a:r>
            <a:endParaRPr lang="en-US" sz="1450"/>
          </a:p>
        </p:txBody>
      </p:sp>
      <p:sp>
        <p:nvSpPr>
          <p:cNvPr id="750133167" name="Shape 31"/>
          <p:cNvSpPr/>
          <p:nvPr/>
        </p:nvSpPr>
        <p:spPr bwMode="auto">
          <a:xfrm>
            <a:off x="658368" y="4306824"/>
            <a:ext cx="2011680" cy="960120"/>
          </a:xfrm>
          <a:prstGeom prst="rect">
            <a:avLst/>
          </a:prstGeom>
          <a:solidFill>
            <a:srgbClr val="EFE1C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2132148677" name="Text 32"/>
          <p:cNvSpPr/>
          <p:nvPr/>
        </p:nvSpPr>
        <p:spPr bwMode="auto">
          <a:xfrm>
            <a:off x="749808" y="4379976"/>
            <a:ext cx="1828800" cy="8321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E2119"/>
                </a:solidFill>
              </a:rPr>
              <a:t>Ограничения</a:t>
            </a:r>
            <a:endParaRPr lang="en-US" sz="1400"/>
          </a:p>
        </p:txBody>
      </p:sp>
      <p:sp>
        <p:nvSpPr>
          <p:cNvPr id="790333692" name="Shape 33"/>
          <p:cNvSpPr/>
          <p:nvPr/>
        </p:nvSpPr>
        <p:spPr bwMode="auto">
          <a:xfrm>
            <a:off x="2670048" y="4306824"/>
            <a:ext cx="2834640" cy="960120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542819997" name="Text 34"/>
          <p:cNvSpPr/>
          <p:nvPr/>
        </p:nvSpPr>
        <p:spPr bwMode="auto">
          <a:xfrm>
            <a:off x="2761488" y="4379976"/>
            <a:ext cx="2651760" cy="8321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Не прекращается при жизни, кроме смерти.</a:t>
            </a:r>
            <a:endParaRPr lang="en-US" sz="1450"/>
          </a:p>
        </p:txBody>
      </p:sp>
      <p:sp>
        <p:nvSpPr>
          <p:cNvPr id="1057025479" name="Shape 35"/>
          <p:cNvSpPr/>
          <p:nvPr/>
        </p:nvSpPr>
        <p:spPr bwMode="auto">
          <a:xfrm>
            <a:off x="5504687" y="4306824"/>
            <a:ext cx="2880360" cy="960120"/>
          </a:xfrm>
          <a:prstGeom prst="rect">
            <a:avLst/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411315732" name="Text 36"/>
          <p:cNvSpPr/>
          <p:nvPr/>
        </p:nvSpPr>
        <p:spPr bwMode="auto">
          <a:xfrm>
            <a:off x="5596128" y="4379976"/>
            <a:ext cx="2697480" cy="8321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E2119"/>
                </a:solidFill>
              </a:rPr>
              <a:t>Может быть ограничена или отсутствовать по решению суда в случаях, предусмотренных ГК РФ.</a:t>
            </a:r>
            <a:endParaRPr lang="en-US" sz="1450"/>
          </a:p>
        </p:txBody>
      </p:sp>
      <p:sp>
        <p:nvSpPr>
          <p:cNvPr id="1419158660" name="Shape 37"/>
          <p:cNvSpPr/>
          <p:nvPr/>
        </p:nvSpPr>
        <p:spPr bwMode="auto">
          <a:xfrm>
            <a:off x="8823960" y="173736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</p:spPr>
      </p:sp>
      <p:pic>
        <p:nvPicPr>
          <p:cNvPr id="803694783" name="Image 0" descr="/mnt/data/legal_presentation/assets/scale_of_justic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87950" y="2011680"/>
            <a:ext cx="1532923" cy="1554480"/>
          </a:xfrm>
          <a:prstGeom prst="rect">
            <a:avLst/>
          </a:prstGeom>
        </p:spPr>
      </p:pic>
      <p:pic>
        <p:nvPicPr>
          <p:cNvPr id="84961961" name="Image 1" descr="/mnt/data/legal_presentation/assets/id_car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478463" y="3767328"/>
            <a:ext cx="1388474" cy="1234440"/>
          </a:xfrm>
          <a:prstGeom prst="rect">
            <a:avLst/>
          </a:prstGeom>
        </p:spPr>
      </p:pic>
      <p:sp>
        <p:nvSpPr>
          <p:cNvPr id="790881385" name="Text 38"/>
          <p:cNvSpPr/>
          <p:nvPr/>
        </p:nvSpPr>
        <p:spPr bwMode="auto">
          <a:xfrm>
            <a:off x="9098280" y="5230368"/>
            <a:ext cx="214884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Ребёнок обладает правоспособностью,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но не обладает полной дееспособностью.</a:t>
            </a:r>
            <a:endParaRPr lang="en-US" sz="1400"/>
          </a:p>
        </p:txBody>
      </p:sp>
      <p:sp>
        <p:nvSpPr>
          <p:cNvPr id="1821858001" name="Shape 39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703082123" name="Text 40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ГК РФ ст. 17, 21, 29, 30.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884265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578956453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472847808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Эмансипация: понятие и условия</a:t>
            </a:r>
            <a:endParaRPr lang="en-US" sz="2800"/>
          </a:p>
        </p:txBody>
      </p:sp>
      <p:sp>
        <p:nvSpPr>
          <p:cNvPr id="878232235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532702306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10</a:t>
            </a:r>
            <a:endParaRPr lang="en-US" sz="1000"/>
          </a:p>
        </p:txBody>
      </p:sp>
      <p:sp>
        <p:nvSpPr>
          <p:cNvPr id="733423853" name="Text 6"/>
          <p:cNvSpPr/>
          <p:nvPr/>
        </p:nvSpPr>
        <p:spPr bwMode="auto">
          <a:xfrm>
            <a:off x="658368" y="914400"/>
            <a:ext cx="662940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2E2119"/>
                </a:solidFill>
                <a:latin typeface="Aptos"/>
                <a:ea typeface="Aptos"/>
                <a:cs typeface="Aptos"/>
              </a:rPr>
              <a:t>Эмансипация — это объявление несовершеннолетнего, достигшего 16 лет, полностью дееспособным.</a:t>
            </a:r>
            <a:endParaRPr lang="en-US" sz="2100"/>
          </a:p>
        </p:txBody>
      </p:sp>
      <p:sp>
        <p:nvSpPr>
          <p:cNvPr id="453906106" name="Text 7"/>
          <p:cNvSpPr/>
          <p:nvPr/>
        </p:nvSpPr>
        <p:spPr bwMode="auto">
          <a:xfrm>
            <a:off x="713232" y="2107692"/>
            <a:ext cx="6400800" cy="416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Допускается, если несовершеннолетний работает по трудовому договору.</a:t>
            </a:r>
            <a:endParaRPr lang="en-US" sz="1850"/>
          </a:p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Возможна и при занятии предпринимательской деятельностью с согласия родителей, усыновителей или попечителя.</a:t>
            </a:r>
            <a:endParaRPr lang="en-US" sz="1850"/>
          </a:p>
          <a:p>
            <a:pPr marL="203200" indent="-203200">
              <a:buSzPct val="100000"/>
              <a:buChar char="•"/>
              <a:defRPr/>
            </a:pPr>
            <a:r>
              <a:rPr lang="en-US" sz="1850">
                <a:solidFill>
                  <a:srgbClr val="2E2119"/>
                </a:solidFill>
                <a:latin typeface="Aptos"/>
                <a:ea typeface="Aptos"/>
                <a:cs typeface="Aptos"/>
              </a:rPr>
              <a:t>Смысл эмансипации — гражданско-правовая самостоятельность раньше 18 лет: можно заключать договоры, распоряжаться имуществом, нести ответственность по своим обязательствам.</a:t>
            </a:r>
            <a:endParaRPr lang="en-US" sz="1850"/>
          </a:p>
        </p:txBody>
      </p:sp>
      <p:sp>
        <p:nvSpPr>
          <p:cNvPr id="1139164139" name="Shape 8"/>
          <p:cNvSpPr/>
          <p:nvPr/>
        </p:nvSpPr>
        <p:spPr bwMode="auto">
          <a:xfrm>
            <a:off x="7790687" y="1078992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</p:spPr>
      </p:sp>
      <p:pic>
        <p:nvPicPr>
          <p:cNvPr id="1125219581" name="Image 0" descr="/mnt/data/legal_presentation/assets/file_contrac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52535" y="1828800"/>
            <a:ext cx="1543050" cy="2057400"/>
          </a:xfrm>
          <a:prstGeom prst="rect">
            <a:avLst/>
          </a:prstGeom>
        </p:spPr>
      </p:pic>
      <p:sp>
        <p:nvSpPr>
          <p:cNvPr id="519478721" name="Shape 9"/>
          <p:cNvSpPr/>
          <p:nvPr/>
        </p:nvSpPr>
        <p:spPr bwMode="auto">
          <a:xfrm>
            <a:off x="8759952" y="4069080"/>
            <a:ext cx="1664208" cy="914400"/>
          </a:xfrm>
          <a:prstGeom prst="ellipse">
            <a:avLst/>
          </a:prstGeom>
          <a:solidFill>
            <a:srgbClr val="9B6A46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658336140" name="Text 10"/>
          <p:cNvSpPr/>
          <p:nvPr/>
        </p:nvSpPr>
        <p:spPr bwMode="auto">
          <a:xfrm>
            <a:off x="8810593" y="437997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500" b="1">
                <a:solidFill>
                  <a:srgbClr val="FFFDF9"/>
                </a:solidFill>
              </a:rPr>
              <a:t>16+</a:t>
            </a:r>
            <a:endParaRPr lang="en-US" sz="2500"/>
          </a:p>
        </p:txBody>
      </p:sp>
      <p:sp>
        <p:nvSpPr>
          <p:cNvPr id="1735120228" name="Shape 11"/>
          <p:cNvSpPr/>
          <p:nvPr/>
        </p:nvSpPr>
        <p:spPr bwMode="auto">
          <a:xfrm>
            <a:off x="8549640" y="5166360"/>
            <a:ext cx="2057400" cy="384048"/>
          </a:xfrm>
          <a:prstGeom prst="chevron">
            <a:avLst>
              <a:gd name="adj" fmla="val 50000"/>
            </a:avLst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1631125916" name="Text 12"/>
          <p:cNvSpPr/>
          <p:nvPr/>
        </p:nvSpPr>
        <p:spPr bwMode="auto">
          <a:xfrm>
            <a:off x="8613648" y="52486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3A241A"/>
                </a:solidFill>
              </a:rPr>
              <a:t>полная дееспособность</a:t>
            </a:r>
            <a:endParaRPr lang="en-US" sz="1300"/>
          </a:p>
        </p:txBody>
      </p:sp>
      <p:sp>
        <p:nvSpPr>
          <p:cNvPr id="1404591331" name="Shape 13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1553450348" name="Text 14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ГК РФ ст. 27.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516802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510242559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842814129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Порядок и правовые последствия эмансипации</a:t>
            </a:r>
            <a:endParaRPr lang="en-US" sz="2800"/>
          </a:p>
        </p:txBody>
      </p:sp>
      <p:sp>
        <p:nvSpPr>
          <p:cNvPr id="159950352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224836650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11</a:t>
            </a:r>
            <a:endParaRPr lang="en-US" sz="1000"/>
          </a:p>
        </p:txBody>
      </p:sp>
      <p:sp>
        <p:nvSpPr>
          <p:cNvPr id="342715701" name="Shape 6"/>
          <p:cNvSpPr/>
          <p:nvPr/>
        </p:nvSpPr>
        <p:spPr bwMode="auto">
          <a:xfrm>
            <a:off x="658368" y="1051560"/>
            <a:ext cx="5257800" cy="4983480"/>
          </a:xfrm>
          <a:prstGeom prst="roundRect">
            <a:avLst>
              <a:gd name="adj" fmla="val 917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1948471874" name="Shape 7"/>
          <p:cNvSpPr/>
          <p:nvPr/>
        </p:nvSpPr>
        <p:spPr bwMode="auto">
          <a:xfrm>
            <a:off x="658368" y="1051560"/>
            <a:ext cx="525780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70688774" name="Text 8"/>
          <p:cNvSpPr/>
          <p:nvPr/>
        </p:nvSpPr>
        <p:spPr bwMode="auto">
          <a:xfrm>
            <a:off x="768096" y="1133856"/>
            <a:ext cx="5038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Порядок</a:t>
            </a:r>
            <a:endParaRPr lang="en-US" sz="1600"/>
          </a:p>
        </p:txBody>
      </p:sp>
      <p:pic>
        <p:nvPicPr>
          <p:cNvPr id="1335025381" name="Image 0" descr="/mnt/data/legal_presentation/assets/file_contrac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26380" y="5285231"/>
            <a:ext cx="480060" cy="640080"/>
          </a:xfrm>
          <a:prstGeom prst="rect">
            <a:avLst/>
          </a:prstGeom>
        </p:spPr>
      </p:pic>
      <p:sp>
        <p:nvSpPr>
          <p:cNvPr id="503882326" name="Text 9"/>
          <p:cNvSpPr/>
          <p:nvPr/>
        </p:nvSpPr>
        <p:spPr bwMode="auto">
          <a:xfrm flipH="0" flipV="0">
            <a:off x="768096" y="1508759"/>
            <a:ext cx="5038344" cy="4416552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Эмансипация производится по решению органа опеки и попечительства при согласии обоих родителей, усыновителей или попечителя.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Если согласия нет, вопрос решается судом.</a:t>
            </a:r>
            <a:endParaRPr sz="1800"/>
          </a:p>
        </p:txBody>
      </p:sp>
      <p:sp>
        <p:nvSpPr>
          <p:cNvPr id="274148517" name="Shape 10"/>
          <p:cNvSpPr/>
          <p:nvPr/>
        </p:nvSpPr>
        <p:spPr bwMode="auto">
          <a:xfrm>
            <a:off x="6236208" y="1051560"/>
            <a:ext cx="5303520" cy="4983480"/>
          </a:xfrm>
          <a:prstGeom prst="roundRect">
            <a:avLst>
              <a:gd name="adj" fmla="val 917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203026929" name="Shape 11"/>
          <p:cNvSpPr/>
          <p:nvPr/>
        </p:nvSpPr>
        <p:spPr bwMode="auto">
          <a:xfrm>
            <a:off x="6236208" y="1051560"/>
            <a:ext cx="530352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06447037" name="Text 12"/>
          <p:cNvSpPr/>
          <p:nvPr/>
        </p:nvSpPr>
        <p:spPr bwMode="auto">
          <a:xfrm>
            <a:off x="6345936" y="1133856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DF9"/>
                </a:solidFill>
              </a:rPr>
              <a:t>Правовые последствия</a:t>
            </a:r>
            <a:endParaRPr lang="en-US" sz="1600"/>
          </a:p>
        </p:txBody>
      </p:sp>
      <p:pic>
        <p:nvPicPr>
          <p:cNvPr id="388378911" name="Image 1" descr="/mnt/data/legal_presentation/assets/gave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744200" y="5232035"/>
            <a:ext cx="640080" cy="640080"/>
          </a:xfrm>
          <a:prstGeom prst="rect">
            <a:avLst/>
          </a:prstGeom>
        </p:spPr>
      </p:pic>
      <p:sp>
        <p:nvSpPr>
          <p:cNvPr id="261490423" name="Text 13"/>
          <p:cNvSpPr/>
          <p:nvPr/>
        </p:nvSpPr>
        <p:spPr bwMode="auto">
          <a:xfrm flipH="0" flipV="0">
            <a:off x="6345936" y="1508759"/>
            <a:ext cx="4969536" cy="4416552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Несовершеннолетний считается полностью дееспособным в гражданско-правовом смысле.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Родители, усыновители и попечитель больше не несут ответственности по его обязательствам, в том числе возникшим вследствие причинения вреда.</a:t>
            </a:r>
            <a:endParaRPr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Эмансипация расширяет права, но одновременно возлагает полную самостоятельную имущественную ответственность.</a:t>
            </a:r>
            <a:endParaRPr sz="1800"/>
          </a:p>
        </p:txBody>
      </p:sp>
      <p:sp>
        <p:nvSpPr>
          <p:cNvPr id="1707978971" name="Shape 14"/>
          <p:cNvSpPr/>
          <p:nvPr/>
        </p:nvSpPr>
        <p:spPr bwMode="auto">
          <a:xfrm>
            <a:off x="566928" y="6236208"/>
            <a:ext cx="4160519" cy="182880"/>
          </a:xfrm>
          <a:prstGeom prst="roundRect">
            <a:avLst>
              <a:gd name="adj" fmla="val 25000"/>
            </a:avLst>
          </a:prstGeom>
          <a:solidFill>
            <a:srgbClr val="E3D0B8"/>
          </a:solidFill>
          <a:ln w="12700">
            <a:solidFill>
              <a:srgbClr val="D3B894"/>
            </a:solidFill>
            <a:prstDash val="solid"/>
          </a:ln>
        </p:spPr>
      </p:sp>
      <p:sp>
        <p:nvSpPr>
          <p:cNvPr id="690427003" name="Text 15"/>
          <p:cNvSpPr/>
          <p:nvPr/>
        </p:nvSpPr>
        <p:spPr bwMode="auto">
          <a:xfrm>
            <a:off x="713232" y="6268212"/>
            <a:ext cx="3886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4D2F22"/>
                </a:solidFill>
              </a:rPr>
              <a:t>Нормативная опора: ГК РФ ст. 27; ГК РФ ст. 1064.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5EBD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77089" name="Shape 0"/>
          <p:cNvSpPr/>
          <p:nvPr/>
        </p:nvSpPr>
        <p:spPr bwMode="auto">
          <a:xfrm>
            <a:off x="0" y="0"/>
            <a:ext cx="12191695" cy="640080"/>
          </a:xfrm>
          <a:prstGeom prst="rect">
            <a:avLst/>
          </a:prstGeom>
          <a:solidFill>
            <a:srgbClr val="4D2F22"/>
          </a:solidFill>
          <a:ln w="12700">
            <a:solidFill>
              <a:srgbClr val="4D2F22"/>
            </a:solidFill>
            <a:prstDash val="solid"/>
          </a:ln>
        </p:spPr>
      </p:sp>
      <p:sp>
        <p:nvSpPr>
          <p:cNvPr id="140631068" name="Shape 1"/>
          <p:cNvSpPr/>
          <p:nvPr/>
        </p:nvSpPr>
        <p:spPr bwMode="auto">
          <a:xfrm>
            <a:off x="0" y="640080"/>
            <a:ext cx="12191695" cy="36576"/>
          </a:xfrm>
          <a:prstGeom prst="rect">
            <a:avLst/>
          </a:prstGeom>
          <a:solidFill>
            <a:srgbClr val="C59B6D"/>
          </a:solidFill>
          <a:ln w="12700">
            <a:solidFill>
              <a:srgbClr val="C59B6D"/>
            </a:solidFill>
            <a:prstDash val="solid"/>
          </a:ln>
        </p:spPr>
      </p:sp>
      <p:sp>
        <p:nvSpPr>
          <p:cNvPr id="548904835" name="Text 2"/>
          <p:cNvSpPr/>
          <p:nvPr/>
        </p:nvSpPr>
        <p:spPr bwMode="auto">
          <a:xfrm>
            <a:off x="502920" y="128016"/>
            <a:ext cx="9784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Источники</a:t>
            </a:r>
            <a:endParaRPr lang="en-US" sz="2800"/>
          </a:p>
        </p:txBody>
      </p:sp>
      <p:sp>
        <p:nvSpPr>
          <p:cNvPr id="1220749143" name="Shape 4"/>
          <p:cNvSpPr/>
          <p:nvPr/>
        </p:nvSpPr>
        <p:spPr bwMode="auto"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7C2A8"/>
            </a:solidFill>
            <a:prstDash val="solid"/>
          </a:ln>
        </p:spPr>
      </p:sp>
      <p:sp>
        <p:nvSpPr>
          <p:cNvPr id="1133530412" name="Text 5"/>
          <p:cNvSpPr/>
          <p:nvPr/>
        </p:nvSpPr>
        <p:spPr bwMode="auto">
          <a:xfrm>
            <a:off x="11384280" y="6510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A5749"/>
                </a:solidFill>
              </a:rPr>
              <a:t>12</a:t>
            </a:r>
            <a:endParaRPr lang="en-US" sz="1000"/>
          </a:p>
        </p:txBody>
      </p:sp>
      <p:sp>
        <p:nvSpPr>
          <p:cNvPr id="1639771697" name="Shape 6"/>
          <p:cNvSpPr/>
          <p:nvPr/>
        </p:nvSpPr>
        <p:spPr bwMode="auto">
          <a:xfrm>
            <a:off x="658368" y="1005840"/>
            <a:ext cx="6537960" cy="5029200"/>
          </a:xfrm>
          <a:prstGeom prst="roundRect">
            <a:avLst>
              <a:gd name="adj" fmla="val 1091"/>
            </a:avLst>
          </a:prstGeom>
          <a:solidFill>
            <a:srgbClr val="FFF8EF"/>
          </a:solidFill>
          <a:ln w="12700">
            <a:solidFill>
              <a:srgbClr val="D7C2A8"/>
            </a:solidFill>
            <a:prstDash val="solid"/>
          </a:ln>
        </p:spPr>
      </p:sp>
      <p:sp>
        <p:nvSpPr>
          <p:cNvPr id="222315563" name="Text 7"/>
          <p:cNvSpPr/>
          <p:nvPr/>
        </p:nvSpPr>
        <p:spPr bwMode="auto">
          <a:xfrm>
            <a:off x="868680" y="1325880"/>
            <a:ext cx="608076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Конституция Российской Федерации: статьи 49 и 60.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Гражданский кодекс Российской Федерации: статьи 17, 21, 26, 27, 28, 29, 30, 1064.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Уголовный кодекс Российской Федерации: статьи 14, 19, 20, 44.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Кодекс Российской Федерации об административных правонарушениях: статьи 2.1, 2.3, 3.2.</a:t>
            </a:r>
            <a:endParaRPr lang="en-US" sz="1800"/>
          </a:p>
          <a:p>
            <a:pPr marL="203200" indent="-203200">
              <a:buSzPct val="100000"/>
              <a:buChar char="•"/>
              <a:defRPr/>
            </a:pPr>
            <a:r>
              <a:rPr lang="en-US" sz="1800">
                <a:solidFill>
                  <a:srgbClr val="2E2119"/>
                </a:solidFill>
                <a:latin typeface="Aptos"/>
                <a:ea typeface="Aptos"/>
                <a:cs typeface="Aptos"/>
              </a:rPr>
              <a:t>Трудовой кодекс Российской Федерации: статья 192.</a:t>
            </a:r>
            <a:endParaRPr lang="en-US" sz="1800"/>
          </a:p>
        </p:txBody>
      </p:sp>
      <p:sp>
        <p:nvSpPr>
          <p:cNvPr id="742376452" name="Shape 8"/>
          <p:cNvSpPr/>
          <p:nvPr/>
        </p:nvSpPr>
        <p:spPr bwMode="auto">
          <a:xfrm>
            <a:off x="7726680" y="1097280"/>
            <a:ext cx="3657600" cy="4892039"/>
          </a:xfrm>
          <a:prstGeom prst="roundRect">
            <a:avLst>
              <a:gd name="adj" fmla="val 2000"/>
            </a:avLst>
          </a:prstGeom>
          <a:solidFill>
            <a:srgbClr val="FBF5EC"/>
          </a:solidFill>
          <a:ln w="12700">
            <a:solidFill>
              <a:srgbClr val="D7C2A8"/>
            </a:solidFill>
            <a:prstDash val="solid"/>
          </a:ln>
        </p:spPr>
      </p:sp>
      <p:pic>
        <p:nvPicPr>
          <p:cNvPr id="1582462472" name="Image 0" descr="/mnt/data/legal_presentation/assets/scale_of_justice.png"/>
          <p:cNvPicPr>
            <a:picLocks noChangeAspect="1"/>
          </p:cNvPicPr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8676303" y="1463040"/>
            <a:ext cx="1758353" cy="1783080"/>
          </a:xfrm>
          <a:prstGeom prst="rect">
            <a:avLst/>
          </a:prstGeom>
        </p:spPr>
      </p:pic>
      <p:pic>
        <p:nvPicPr>
          <p:cNvPr id="810950016" name="Image 1" descr="/mnt/data/legal_presentation/assets/gave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79892" y="3401568"/>
            <a:ext cx="1005840" cy="1005840"/>
          </a:xfrm>
          <a:prstGeom prst="rect">
            <a:avLst/>
          </a:prstGeom>
        </p:spPr>
      </p:pic>
      <p:pic>
        <p:nvPicPr>
          <p:cNvPr id="448382515" name="Image 2" descr="/mnt/data/legal_presentation/assets/file_contrac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675495" y="3273552"/>
            <a:ext cx="857250" cy="1143000"/>
          </a:xfrm>
          <a:prstGeom prst="rect">
            <a:avLst/>
          </a:prstGeom>
        </p:spPr>
      </p:pic>
      <p:pic>
        <p:nvPicPr>
          <p:cNvPr id="870206917" name="Image 3" descr="/mnt/data/legal_presentation/assets/id_car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312078" y="4617720"/>
            <a:ext cx="596529" cy="530352"/>
          </a:xfrm>
          <a:prstGeom prst="rect">
            <a:avLst/>
          </a:prstGeom>
        </p:spPr>
      </p:pic>
      <p:sp>
        <p:nvSpPr>
          <p:cNvPr id="1615537675" name="Text 9"/>
          <p:cNvSpPr/>
          <p:nvPr/>
        </p:nvSpPr>
        <p:spPr bwMode="auto">
          <a:xfrm>
            <a:off x="8101584" y="5468112"/>
            <a:ext cx="288036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i="1">
                <a:solidFill>
                  <a:srgbClr val="6A5749"/>
                </a:solidFill>
                <a:latin typeface="Aptos"/>
                <a:ea typeface="Aptos"/>
                <a:cs typeface="Aptos"/>
              </a:rPr>
              <a:t>Основные нормативные акты, использованные в презентации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Правонарушения, юридическая ответственность, правоспособность и дееспособность граждан</dc:title>
  <dc:subject>Правонарушения, юридическая ответственность, правоспособность и дееспособность граждан</dc:subject>
  <dc:creator>OpenAI</dc:creator>
  <cp:lastModifiedBy/>
  <cp:revision>3</cp:revision>
  <dcterms:created xsi:type="dcterms:W3CDTF">2026-04-08T12:11:48Z</dcterms:created>
  <dcterms:modified xsi:type="dcterms:W3CDTF">2026-04-12T19:50:04Z</dcterms:modified>
</cp:coreProperties>
</file>