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2870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511742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8604660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573308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30116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042622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20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3326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189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26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110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6607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620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633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6401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121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970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7625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253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606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9237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899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5009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9512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609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7567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786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702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8227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458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563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249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5012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58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343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23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STER">
    <p:bg>
      <p:bgPr shadeToTitle="0">
        <a:solidFill>
          <a:srgbClr val="F4EDE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911426" name="Shape 0"/>
          <p:cNvSpPr/>
          <p:nvPr/>
        </p:nvSpPr>
        <p:spPr bwMode="auto">
          <a:xfrm>
            <a:off x="0" y="0"/>
            <a:ext cx="12191695" cy="777240"/>
          </a:xfrm>
          <a:prstGeom prst="rect">
            <a:avLst/>
          </a:prstGeom>
          <a:solidFill>
            <a:srgbClr val="6B4F3B"/>
          </a:solidFill>
          <a:ln w="12700">
            <a:solidFill>
              <a:srgbClr val="6B4F3B"/>
            </a:solidFill>
            <a:prstDash val="solid"/>
          </a:ln>
        </p:spPr>
      </p:sp>
      <p:sp>
        <p:nvSpPr>
          <p:cNvPr id="780428878" name="Shape 1"/>
          <p:cNvSpPr/>
          <p:nvPr/>
        </p:nvSpPr>
        <p:spPr bwMode="auto">
          <a:xfrm>
            <a:off x="502920" y="896112"/>
            <a:ext cx="6748272" cy="5376672"/>
          </a:xfrm>
          <a:prstGeom prst="rect">
            <a:avLst/>
          </a:prstGeom>
          <a:solidFill>
            <a:srgbClr val="FBF7F1"/>
          </a:solidFill>
          <a:ln w="15240">
            <a:solidFill>
              <a:srgbClr val="D9C7B5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57922140" name="Shape 2"/>
          <p:cNvSpPr/>
          <p:nvPr/>
        </p:nvSpPr>
        <p:spPr bwMode="auto">
          <a:xfrm>
            <a:off x="7498080" y="896112"/>
            <a:ext cx="4187952" cy="4754880"/>
          </a:xfrm>
          <a:prstGeom prst="rect">
            <a:avLst/>
          </a:prstGeom>
          <a:solidFill>
            <a:srgbClr val="F8F1E8"/>
          </a:solidFill>
          <a:ln w="15240">
            <a:solidFill>
              <a:srgbClr val="D9C7B5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25205345" name="Shape 3"/>
          <p:cNvSpPr/>
          <p:nvPr/>
        </p:nvSpPr>
        <p:spPr bwMode="auto">
          <a:xfrm>
            <a:off x="7498080" y="5760720"/>
            <a:ext cx="4187952" cy="658368"/>
          </a:xfrm>
          <a:prstGeom prst="rect">
            <a:avLst/>
          </a:prstGeom>
          <a:solidFill>
            <a:srgbClr val="E9D9C7"/>
          </a:solidFill>
          <a:ln w="12700">
            <a:solidFill>
              <a:srgbClr val="D9C7B5"/>
            </a:solidFill>
            <a:prstDash val="solid"/>
          </a:ln>
        </p:spPr>
      </p:sp>
      <p:sp>
        <p:nvSpPr>
          <p:cNvPr id="3174258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45327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2A1D1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0219463" name="Image 0" descr="/mnt/data/kremlin_evening.jpg"/>
          <p:cNvPicPr>
            <a:picLocks noChangeAspect="1"/>
          </p:cNvPicPr>
          <p:nvPr/>
        </p:nvPicPr>
        <p:blipFill rotWithShape="1">
          <a:blip r:embed="rId3"/>
          <a:srcRect l="0" t="7811" r="0" b="7811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90633917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3B281A">
              <a:alpha val="66000"/>
            </a:srgbClr>
          </a:solidFill>
          <a:ln w="12700">
            <a:solidFill>
              <a:srgbClr val="3B281A">
                <a:alpha val="0"/>
              </a:srgbClr>
            </a:solidFill>
            <a:prstDash val="solid"/>
          </a:ln>
        </p:spPr>
      </p:sp>
      <p:sp>
        <p:nvSpPr>
          <p:cNvPr id="1695845352" name="Shape 1"/>
          <p:cNvSpPr/>
          <p:nvPr/>
        </p:nvSpPr>
        <p:spPr bwMode="auto">
          <a:xfrm flipH="0" flipV="0">
            <a:off x="0" y="0"/>
            <a:ext cx="6746047" cy="6858000"/>
          </a:xfrm>
          <a:prstGeom prst="rect">
            <a:avLst/>
          </a:prstGeom>
          <a:solidFill>
            <a:srgbClr val="4D3523">
              <a:alpha val="78000"/>
            </a:srgbClr>
          </a:solidFill>
          <a:ln w="12700">
            <a:solidFill>
              <a:srgbClr val="4D3523">
                <a:alpha val="0"/>
              </a:srgbClr>
            </a:solidFill>
            <a:prstDash val="solid"/>
          </a:ln>
        </p:spPr>
      </p:sp>
      <p:sp>
        <p:nvSpPr>
          <p:cNvPr id="2142380822" name="Shape 2"/>
          <p:cNvSpPr/>
          <p:nvPr/>
        </p:nvSpPr>
        <p:spPr bwMode="auto">
          <a:xfrm>
            <a:off x="713232" y="1399032"/>
            <a:ext cx="1325880" cy="0"/>
          </a:xfrm>
          <a:prstGeom prst="line">
            <a:avLst/>
          </a:prstGeom>
          <a:noFill/>
          <a:ln w="30480">
            <a:solidFill>
              <a:srgbClr val="B38758"/>
            </a:solidFill>
            <a:prstDash val="solid"/>
          </a:ln>
        </p:spPr>
      </p:sp>
      <p:sp>
        <p:nvSpPr>
          <p:cNvPr id="1925560239" name="Text 3"/>
          <p:cNvSpPr/>
          <p:nvPr/>
        </p:nvSpPr>
        <p:spPr bwMode="auto">
          <a:xfrm flipH="0" flipV="0">
            <a:off x="713231" y="1645920"/>
            <a:ext cx="5904099" cy="2022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Основы конституционного права</a:t>
            </a:r>
            <a:endParaRPr lang="en-US" sz="2750"/>
          </a:p>
          <a:p>
            <a:pPr marL="0" indent="0">
              <a:buNone/>
              <a:defRPr/>
            </a:pPr>
            <a:r>
              <a:rPr lang="en-US" sz="2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Российской Федерации</a:t>
            </a:r>
            <a:endParaRPr lang="en-US" sz="2750"/>
          </a:p>
        </p:txBody>
      </p:sp>
      <p:sp>
        <p:nvSpPr>
          <p:cNvPr id="507175180" name="Shape 5"/>
          <p:cNvSpPr/>
          <p:nvPr/>
        </p:nvSpPr>
        <p:spPr bwMode="auto">
          <a:xfrm>
            <a:off x="713232" y="5257800"/>
            <a:ext cx="4434840" cy="841248"/>
          </a:xfrm>
          <a:prstGeom prst="roundRect">
            <a:avLst>
              <a:gd name="adj" fmla="val 16667"/>
            </a:avLst>
          </a:prstGeom>
          <a:solidFill>
            <a:srgbClr val="FFF5EA">
              <a:alpha val="88000"/>
            </a:srgbClr>
          </a:solidFill>
          <a:ln w="12700">
            <a:solidFill>
              <a:srgbClr val="D9C7B5">
                <a:alpha val="60000"/>
              </a:srgbClr>
            </a:solidFill>
            <a:prstDash val="solid"/>
          </a:ln>
        </p:spPr>
      </p:sp>
      <p:sp>
        <p:nvSpPr>
          <p:cNvPr id="346771486" name="Text 6"/>
          <p:cNvSpPr/>
          <p:nvPr/>
        </p:nvSpPr>
        <p:spPr bwMode="auto">
          <a:xfrm>
            <a:off x="932688" y="54681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39281A"/>
                </a:solidFill>
                <a:latin typeface="Aptos"/>
                <a:ea typeface="Aptos"/>
                <a:cs typeface="Aptos"/>
              </a:rPr>
              <a:t>Выполнили: Акулова В.С., Рыжов К.А.</a:t>
            </a:r>
            <a:endParaRPr lang="en-US" sz="1650"/>
          </a:p>
          <a:p>
            <a:pPr marL="0" indent="0">
              <a:buNone/>
              <a:defRPr/>
            </a:pPr>
            <a:r>
              <a:rPr lang="en-US" sz="1650" b="1">
                <a:solidFill>
                  <a:srgbClr val="39281A"/>
                </a:solidFill>
                <a:latin typeface="Aptos"/>
                <a:ea typeface="Aptos"/>
                <a:cs typeface="Aptos"/>
              </a:rPr>
              <a:t>Группа 3992</a:t>
            </a:r>
            <a:endParaRPr lang="en-US" sz="1650"/>
          </a:p>
        </p:txBody>
      </p:sp>
      <p:sp>
        <p:nvSpPr>
          <p:cNvPr id="1376244485" name="Text 7"/>
          <p:cNvSpPr/>
          <p:nvPr/>
        </p:nvSpPr>
        <p:spPr bwMode="auto">
          <a:xfrm>
            <a:off x="7223760" y="6153912"/>
            <a:ext cx="4160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 i="1">
                <a:solidFill>
                  <a:srgbClr val="F5EADD"/>
                </a:solidFill>
                <a:latin typeface="Aptos"/>
                <a:ea typeface="Aptos"/>
                <a:cs typeface="Aptos"/>
              </a:rPr>
              <a:t>Конституция РФ — основной закон, закрепляющий основы строя, систему власти и права человека.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202674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Понятие и юридические свойства Конституции</a:t>
            </a:r>
            <a:endParaRPr lang="en-US" sz="2300"/>
          </a:p>
        </p:txBody>
      </p:sp>
      <p:sp>
        <p:nvSpPr>
          <p:cNvPr id="1865022645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Конституция РФ — основной закон государства, закрепляющий основы строя, систему органов власти, а также права и свободы человека и гражданина.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Её ключевое свойство — высшая юридическая сила: все иные законы и подзаконные акты должны соответствовать Конституции.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Конституция обладает прямым действием и применяется на всей территории Российской Федерации.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Особое значение имеет усложнённый порядок изменения: главы 1, 2 и 9 не пересматриваются Федеральным Собранием в обычном порядке.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Принята всенародным голосованием 12 декабря 1993 года и вступила в силу после официального опубликования результатов.</a:t>
            </a:r>
            <a:endParaRPr lang="en-US" sz="1700"/>
          </a:p>
        </p:txBody>
      </p:sp>
      <p:pic>
        <p:nvPicPr>
          <p:cNvPr id="1928134928" name="Image 0" descr="/mnt/data/constitution_book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92238" y="1005840"/>
            <a:ext cx="3399636" cy="4535424"/>
          </a:xfrm>
          <a:prstGeom prst="rect">
            <a:avLst/>
          </a:prstGeom>
        </p:spPr>
      </p:pic>
      <p:sp>
        <p:nvSpPr>
          <p:cNvPr id="711252747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Конституция РФ, ст. 15, 16, 135; раздел второй.</a:t>
            </a:r>
            <a:endParaRPr lang="en-US" sz="1200"/>
          </a:p>
        </p:txBody>
      </p:sp>
      <p:sp>
        <p:nvSpPr>
          <p:cNvPr id="1176954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187395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Структура Конституции РФ</a:t>
            </a:r>
            <a:endParaRPr lang="en-US" sz="2300"/>
          </a:p>
        </p:txBody>
      </p:sp>
      <p:sp>
        <p:nvSpPr>
          <p:cNvPr id="1867004058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Конституция РФ включает преамбулу, два раздела и девять глав в первом разделе.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В преамбуле закреплены ценности российской государственности: народовластие, ответственность за Родину, уважение к правам и свободам человека.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Раздел первый содержит главы об основах конституционного строя, правах и свободах, федеративном устройстве, Президенте, парламенте, Правительстве, судебной власти, местном самоуправлении и порядке поправок.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Раздел второй — «Заключительные и переходные положения» — определяет вступление Конституции в силу и соотношение с ранее действовавшими актами.</a:t>
            </a:r>
            <a:endParaRPr lang="en-US" sz="1800"/>
          </a:p>
        </p:txBody>
      </p:sp>
      <p:pic>
        <p:nvPicPr>
          <p:cNvPr id="603631257" name="Image 0" descr="/mnt/data/constitution_cha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07808" y="1870110"/>
            <a:ext cx="3968496" cy="2806884"/>
          </a:xfrm>
          <a:prstGeom prst="rect">
            <a:avLst/>
          </a:prstGeom>
        </p:spPr>
      </p:pic>
      <p:sp>
        <p:nvSpPr>
          <p:cNvPr id="1342258994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Преамбула; главы 1–9; раздел второй.</a:t>
            </a:r>
            <a:endParaRPr lang="en-US" sz="1200"/>
          </a:p>
        </p:txBody>
      </p:sp>
      <p:sp>
        <p:nvSpPr>
          <p:cNvPr id="43826990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306284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Основы конституционного строя РФ</a:t>
            </a:r>
            <a:endParaRPr lang="en-US" sz="2300"/>
          </a:p>
        </p:txBody>
      </p:sp>
      <p:sp>
        <p:nvSpPr>
          <p:cNvPr id="1557101570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Основы конституционного строя — это базовые принципы, на которых строится российское государство.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Россия провозглашается демократическим, федеративным, правовым государством с республиканской формой правления.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Человек, его права и свободы признаются высшей ценностью, а их защита — обязанностью государства.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Источник власти — многонациональный народ, осуществляющий её непосредственно и через органы власти и местного самоуправления.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К основам также относятся суверенитет, разделение властей, политическое и идеологическое многообразие, светский характер государства, защита собственности и самостоятельность местного самоуправления.</a:t>
            </a:r>
            <a:endParaRPr lang="en-US" sz="1700"/>
          </a:p>
        </p:txBody>
      </p:sp>
      <p:pic>
        <p:nvPicPr>
          <p:cNvPr id="169999628" name="Image 0" descr="/mnt/data/grand_kremlin_palace.jpg"/>
          <p:cNvPicPr>
            <a:picLocks noChangeAspect="1"/>
          </p:cNvPicPr>
          <p:nvPr/>
        </p:nvPicPr>
        <p:blipFill rotWithShape="1">
          <a:blip r:embed="rId3"/>
          <a:srcRect l="17188" t="0" r="17188" b="0"/>
          <a:stretch/>
        </p:blipFill>
        <p:spPr bwMode="auto">
          <a:xfrm>
            <a:off x="7607808" y="1005840"/>
            <a:ext cx="3968496" cy="4535424"/>
          </a:xfrm>
          <a:prstGeom prst="rect">
            <a:avLst/>
          </a:prstGeom>
        </p:spPr>
      </p:pic>
      <p:sp>
        <p:nvSpPr>
          <p:cNvPr id="2075928105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Конституция РФ, ст. 1–16.</a:t>
            </a:r>
            <a:endParaRPr lang="en-US" sz="1200"/>
          </a:p>
        </p:txBody>
      </p:sp>
      <p:sp>
        <p:nvSpPr>
          <p:cNvPr id="54887719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316705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Конституционно-правовой статус Президента России</a:t>
            </a:r>
            <a:endParaRPr lang="en-US" sz="2300"/>
          </a:p>
        </p:txBody>
      </p:sp>
      <p:sp>
        <p:nvSpPr>
          <p:cNvPr id="1029275774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Президент Российской Федерации является главой государства.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Он выступает гарантом Конституции, прав и свобод человека и гражданина, принимает меры по охране суверенитета, независимости и государственной целостности страны.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Президент обеспечивает согласованное функционирование и взаимодействие органов государственной власти, определяет основные направления внутренней и внешней политики.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Он представляет Российскую Федерацию внутри страны и в международных отношениях.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Президент избирается на шесть лет; кандидат должен быть не моложе 35 лет, постоянно проживать в России не менее 25 лет и обладать гражданством РФ без иностранного гражданства либо вида на жительство.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Президент обладает неприкосновенностью.</a:t>
            </a:r>
            <a:endParaRPr lang="en-US" sz="1600"/>
          </a:p>
        </p:txBody>
      </p:sp>
      <p:pic>
        <p:nvPicPr>
          <p:cNvPr id="919282099" name="Image 0" descr="/mnt/data/kremlin_senate.jpg"/>
          <p:cNvPicPr>
            <a:picLocks noChangeAspect="1"/>
          </p:cNvPicPr>
          <p:nvPr/>
        </p:nvPicPr>
        <p:blipFill rotWithShape="1">
          <a:blip r:embed="rId3"/>
          <a:srcRect l="17188" t="0" r="17188" b="0"/>
          <a:stretch/>
        </p:blipFill>
        <p:spPr bwMode="auto">
          <a:xfrm>
            <a:off x="7607808" y="1005840"/>
            <a:ext cx="3968496" cy="4535424"/>
          </a:xfrm>
          <a:prstGeom prst="rect">
            <a:avLst/>
          </a:prstGeom>
        </p:spPr>
      </p:pic>
      <p:sp>
        <p:nvSpPr>
          <p:cNvPr id="833078686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Конституция РФ, ст. 80, 81, 91.</a:t>
            </a:r>
            <a:endParaRPr lang="en-US" sz="1200"/>
          </a:p>
        </p:txBody>
      </p:sp>
      <p:sp>
        <p:nvSpPr>
          <p:cNvPr id="51209016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931006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Полномочия Президента РФ</a:t>
            </a:r>
            <a:endParaRPr lang="en-US" sz="2300"/>
          </a:p>
        </p:txBody>
      </p:sp>
      <p:sp>
        <p:nvSpPr>
          <p:cNvPr id="2113296912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Президент назначает Председателя Правительства с согласия Государственной Думы и принимает решение об отставке Правительства.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Он может председательствовать на заседаниях Правительства, обладает правом законодательной инициативы, подписывает и обнародует федеральные законы либо отклоняет их в установленном порядке.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Президент издаёт указы и распоряжения, обязательные для исполнения на всей территории страны.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В сфере внешней политики представляет государство и осуществляет общее руководство этой областью.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Президент является Верховным Главнокомандующим Вооружёнными Силами и в предусмотренных законом случаях вводит военное или чрезвычайное положение.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В системе власти он занимает особое место: не относится напрямую ни к одной из трёх ветвей, но обеспечивает их взаимодействие.</a:t>
            </a:r>
            <a:endParaRPr lang="en-US" sz="1600"/>
          </a:p>
        </p:txBody>
      </p:sp>
      <p:pic>
        <p:nvPicPr>
          <p:cNvPr id="438388565" name="Image 0" descr="/mnt/data/president_office.jpg"/>
          <p:cNvPicPr>
            <a:picLocks noChangeAspect="1"/>
          </p:cNvPicPr>
          <p:nvPr/>
        </p:nvPicPr>
        <p:blipFill rotWithShape="1">
          <a:blip r:embed="rId3"/>
          <a:srcRect l="27553" t="0" r="27552" b="0"/>
          <a:stretch/>
        </p:blipFill>
        <p:spPr bwMode="auto">
          <a:xfrm>
            <a:off x="7607808" y="1005840"/>
            <a:ext cx="3968496" cy="4535424"/>
          </a:xfrm>
          <a:prstGeom prst="rect">
            <a:avLst/>
          </a:prstGeom>
        </p:spPr>
      </p:pic>
      <p:sp>
        <p:nvSpPr>
          <p:cNvPr id="193819616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Конституция РФ, ст. 83–90, 107.</a:t>
            </a:r>
            <a:endParaRPr lang="en-US" sz="1200"/>
          </a:p>
        </p:txBody>
      </p:sp>
      <p:sp>
        <p:nvSpPr>
          <p:cNvPr id="119570330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202540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Законодательная власть в России</a:t>
            </a:r>
            <a:endParaRPr lang="en-US" sz="2300"/>
          </a:p>
        </p:txBody>
      </p:sp>
      <p:sp>
        <p:nvSpPr>
          <p:cNvPr id="509221793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Законодательную власть осуществляет Федеральное Собрание — парламент Российской Федерации.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Оно состоит из двух палат: Совета Федерации и Государственной Думы. Государственная Дума включает 450 депутатов.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Совет Федерации решает вопросы, связанные с границами субъектов, утверждением указов Президента о военном и чрезвычайном положении, а также назначением на ряд высших должностей.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Государственная Дума даёт согласие на назначение Председателя Правительства, решает вопрос о доверии Правительству, объявляет амнистию и может выдвинуть обвинение против Президента для отрешения от должности.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Законодательный процесс включает внесение законопроекта, рассмотрение и принятие в Государственной Думе, последующее рассмотрение в Совете Федерации и подписание Президентом.</a:t>
            </a:r>
            <a:endParaRPr lang="en-US" sz="1600"/>
          </a:p>
        </p:txBody>
      </p:sp>
      <p:pic>
        <p:nvPicPr>
          <p:cNvPr id="1236857229" name="Image 0" descr="/mnt/data/interfax_duma.jpg"/>
          <p:cNvPicPr>
            <a:picLocks noChangeAspect="1"/>
          </p:cNvPicPr>
          <p:nvPr/>
        </p:nvPicPr>
        <p:blipFill rotWithShape="1">
          <a:blip r:embed="rId3"/>
          <a:srcRect l="21875" t="0" r="21875" b="0"/>
          <a:stretch/>
        </p:blipFill>
        <p:spPr bwMode="auto">
          <a:xfrm>
            <a:off x="7607808" y="1005840"/>
            <a:ext cx="3968496" cy="4535424"/>
          </a:xfrm>
          <a:prstGeom prst="rect">
            <a:avLst/>
          </a:prstGeom>
        </p:spPr>
      </p:pic>
      <p:sp>
        <p:nvSpPr>
          <p:cNvPr id="1724435842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Конституция РФ, ст. 94–108.</a:t>
            </a:r>
            <a:endParaRPr lang="en-US" sz="1200"/>
          </a:p>
        </p:txBody>
      </p:sp>
      <p:sp>
        <p:nvSpPr>
          <p:cNvPr id="109143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245248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Исполнительная власть в России</a:t>
            </a:r>
            <a:endParaRPr lang="en-US" sz="2300"/>
          </a:p>
        </p:txBody>
      </p:sp>
      <p:sp>
        <p:nvSpPr>
          <p:cNvPr id="289439738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Исполнительную власть в Российской Федерации осуществляет Правительство РФ; по Конституции оно действует под общим руководством Президента РФ.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В состав Правительства входят Председатель Правительства, его заместители и федеральные министры.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Правительство разрабатывает и представляет федеральный бюджет, обеспечивает его исполнение, проводит единую финансовую и денежно-кредитную политику.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Оно реализует государственную политику в социальной, экономической, культурной и иных сферах, управляет федеральной собственностью, обеспечивает оборону, безопасность, законность и защиту прав граждан.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На основании Конституции, федеральных законов и указов Президента Правительство издаёт постановления и распоряжения.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Перед вновь избранным Президентом Правительство слагает свои полномочия.</a:t>
            </a:r>
            <a:endParaRPr lang="en-US" sz="1600"/>
          </a:p>
        </p:txBody>
      </p:sp>
      <p:pic>
        <p:nvPicPr>
          <p:cNvPr id="1398676454" name="Image 0" descr="/mnt/data/white_house_night.jpg"/>
          <p:cNvPicPr>
            <a:picLocks noChangeAspect="1"/>
          </p:cNvPicPr>
          <p:nvPr/>
        </p:nvPicPr>
        <p:blipFill rotWithShape="1">
          <a:blip r:embed="rId3"/>
          <a:srcRect l="19941" t="0" r="19941" b="0"/>
          <a:stretch/>
        </p:blipFill>
        <p:spPr bwMode="auto">
          <a:xfrm>
            <a:off x="7607808" y="1005840"/>
            <a:ext cx="3968496" cy="4535424"/>
          </a:xfrm>
          <a:prstGeom prst="rect">
            <a:avLst/>
          </a:prstGeom>
        </p:spPr>
      </p:pic>
      <p:sp>
        <p:nvSpPr>
          <p:cNvPr id="210063348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Конституция РФ, ст. 110–117; ФКЗ от 06.11.2020 № 4-ФКЗ.</a:t>
            </a:r>
            <a:endParaRPr lang="en-US" sz="1200"/>
          </a:p>
        </p:txBody>
      </p:sp>
      <p:sp>
        <p:nvSpPr>
          <p:cNvPr id="120506405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267718" name="Text 0"/>
          <p:cNvSpPr/>
          <p:nvPr/>
        </p:nvSpPr>
        <p:spPr bwMode="auto">
          <a:xfrm>
            <a:off x="566928" y="164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Судебная власть в России</a:t>
            </a:r>
            <a:endParaRPr lang="en-US" sz="2300"/>
          </a:p>
        </p:txBody>
      </p:sp>
      <p:sp>
        <p:nvSpPr>
          <p:cNvPr id="92631689" name="Text 2"/>
          <p:cNvSpPr/>
          <p:nvPr/>
        </p:nvSpPr>
        <p:spPr bwMode="auto">
          <a:xfrm>
            <a:off x="749808" y="1097280"/>
            <a:ext cx="6355080" cy="4937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Судебная власть в Российской Федерации осуществляется только судом.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Правосудие реализуется посредством конституционного, гражданского, административного и уголовного судопроизводства; создание чрезвычайных судов не допускается.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Судьи независимы и подчиняются только Конституции РФ и федеральному закону.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Конституционный Суд проверяет нормативные акты на соответствие Конституции, рассматривает жалобы на нарушение конституционных прав и даёт толкование Конституции.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Верховный Суд является высшим судебным органом по гражданским, уголовным, административным делам и по разрешению экономических споров; он осуществляет судебный надзор и даёт разъяснения по вопросам практики.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>
                <a:solidFill>
                  <a:srgbClr val="39281A"/>
                </a:solidFill>
                <a:latin typeface="Aptos"/>
                <a:ea typeface="Aptos"/>
                <a:cs typeface="Aptos"/>
              </a:rPr>
              <a:t>• Порядок образования и деятельности судов определяется Конституцией и федеральными конституционными законами.</a:t>
            </a:r>
            <a:endParaRPr lang="en-US" sz="1600"/>
          </a:p>
        </p:txBody>
      </p:sp>
      <p:pic>
        <p:nvPicPr>
          <p:cNvPr id="1020579402" name="Image 0" descr="/mnt/data/constitutional_court_hall.jpeg"/>
          <p:cNvPicPr>
            <a:picLocks noChangeAspect="1"/>
          </p:cNvPicPr>
          <p:nvPr/>
        </p:nvPicPr>
        <p:blipFill rotWithShape="1">
          <a:blip r:embed="rId3"/>
          <a:srcRect l="22971" t="0" r="22971" b="0"/>
          <a:stretch/>
        </p:blipFill>
        <p:spPr bwMode="auto">
          <a:xfrm>
            <a:off x="7607808" y="1005840"/>
            <a:ext cx="3968496" cy="4535424"/>
          </a:xfrm>
          <a:prstGeom prst="rect">
            <a:avLst/>
          </a:prstGeom>
        </p:spPr>
      </p:pic>
      <p:sp>
        <p:nvSpPr>
          <p:cNvPr id="250406597" name="Text 3"/>
          <p:cNvSpPr/>
          <p:nvPr/>
        </p:nvSpPr>
        <p:spPr bwMode="auto">
          <a:xfrm>
            <a:off x="7662672" y="5879592"/>
            <a:ext cx="3840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Нормативная опора: </a:t>
            </a:r>
            <a:r>
              <a:rPr lang="en-US" sz="1200">
                <a:solidFill>
                  <a:srgbClr val="39281A"/>
                </a:solidFill>
                <a:latin typeface="Aptos"/>
                <a:ea typeface="Aptos"/>
                <a:cs typeface="Aptos"/>
              </a:rPr>
              <a:t>Конституция РФ, ст. 118, 120, 125, 126, 128.</a:t>
            </a:r>
            <a:endParaRPr lang="en-US" sz="1200"/>
          </a:p>
        </p:txBody>
      </p:sp>
      <p:sp>
        <p:nvSpPr>
          <p:cNvPr id="194607074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757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6D5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4EDE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061923" name="Shape 0"/>
          <p:cNvSpPr/>
          <p:nvPr/>
        </p:nvSpPr>
        <p:spPr bwMode="auto">
          <a:xfrm>
            <a:off x="0" y="0"/>
            <a:ext cx="12191695" cy="777240"/>
          </a:xfrm>
          <a:prstGeom prst="rect">
            <a:avLst/>
          </a:prstGeom>
          <a:solidFill>
            <a:srgbClr val="6B4F3B"/>
          </a:solidFill>
          <a:ln w="12700">
            <a:solidFill>
              <a:srgbClr val="6B4F3B"/>
            </a:solidFill>
            <a:prstDash val="solid"/>
          </a:ln>
        </p:spPr>
      </p:sp>
      <p:sp>
        <p:nvSpPr>
          <p:cNvPr id="8959427" name="Text 1"/>
          <p:cNvSpPr/>
          <p:nvPr/>
        </p:nvSpPr>
        <p:spPr bwMode="auto">
          <a:xfrm>
            <a:off x="566928" y="164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FFF8F0"/>
                </a:solidFill>
                <a:latin typeface="Aptos Display"/>
                <a:ea typeface="Aptos Display"/>
                <a:cs typeface="Aptos Display"/>
              </a:rPr>
              <a:t>Источники</a:t>
            </a:r>
            <a:endParaRPr lang="en-US" sz="2300"/>
          </a:p>
        </p:txBody>
      </p:sp>
      <p:pic>
        <p:nvPicPr>
          <p:cNvPr id="601335915" name="Image 0" descr="/mnt/data/constitution_book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70514" y="1097280"/>
            <a:ext cx="3289971" cy="4389120"/>
          </a:xfrm>
          <a:prstGeom prst="rect">
            <a:avLst/>
          </a:prstGeom>
        </p:spPr>
      </p:pic>
      <p:sp>
        <p:nvSpPr>
          <p:cNvPr id="1590792621" name="Shape 2"/>
          <p:cNvSpPr/>
          <p:nvPr/>
        </p:nvSpPr>
        <p:spPr bwMode="auto">
          <a:xfrm>
            <a:off x="548640" y="960120"/>
            <a:ext cx="6903720" cy="5440680"/>
          </a:xfrm>
          <a:prstGeom prst="rect">
            <a:avLst/>
          </a:prstGeom>
          <a:solidFill>
            <a:srgbClr val="FBF7F1"/>
          </a:solidFill>
          <a:ln w="15240">
            <a:solidFill>
              <a:srgbClr val="D9C7B5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34267687" name="Text 3"/>
          <p:cNvSpPr/>
          <p:nvPr/>
        </p:nvSpPr>
        <p:spPr bwMode="auto">
          <a:xfrm>
            <a:off x="804672" y="12070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50" b="1">
                <a:solidFill>
                  <a:srgbClr val="6B4F3B"/>
                </a:solidFill>
                <a:latin typeface="Aptos"/>
                <a:ea typeface="Aptos"/>
                <a:cs typeface="Aptos"/>
              </a:rPr>
              <a:t>Нормативные акты и официальные ресурсы:</a:t>
            </a:r>
            <a:endParaRPr lang="en-US" sz="1750"/>
          </a:p>
        </p:txBody>
      </p:sp>
      <p:sp>
        <p:nvSpPr>
          <p:cNvPr id="2006122244" name="Text 4"/>
          <p:cNvSpPr/>
          <p:nvPr/>
        </p:nvSpPr>
        <p:spPr bwMode="auto">
          <a:xfrm>
            <a:off x="822960" y="1627632"/>
            <a:ext cx="6217920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1. Конституция Российской Федерации, официальный текст.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2. Официальный интернет-портал правовой информации (pravo.gov.ru).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3. Федеральный конституционный закон от 06.11.2020 № 4-ФКЗ «О Правительстве Российской Федерации».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4. Федеральный конституционный закон «О судебной системе Российской Федерации».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5. Федеральный конституционный закон «О Конституционном Суде Российской Федерации».</a:t>
            </a:r>
            <a:endParaRPr lang="en-US" sz="1700"/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>
                <a:solidFill>
                  <a:srgbClr val="39281A"/>
                </a:solidFill>
                <a:latin typeface="Aptos"/>
                <a:ea typeface="Aptos"/>
                <a:cs typeface="Aptos"/>
              </a:rPr>
              <a:t>6. Официальный раздел «Статус и полномочия Президента» на сайте Президента России.</a:t>
            </a:r>
            <a:endParaRPr lang="en-US" sz="1700"/>
          </a:p>
        </p:txBody>
      </p:sp>
      <p:sp>
        <p:nvSpPr>
          <p:cNvPr id="966859016" name="Shape 5"/>
          <p:cNvSpPr/>
          <p:nvPr/>
        </p:nvSpPr>
        <p:spPr bwMode="auto">
          <a:xfrm>
            <a:off x="7772400" y="5468112"/>
            <a:ext cx="3840480" cy="0"/>
          </a:xfrm>
          <a:prstGeom prst="line">
            <a:avLst/>
          </a:prstGeom>
          <a:noFill/>
          <a:ln w="20320">
            <a:solidFill>
              <a:srgbClr val="B38758"/>
            </a:solidFill>
            <a:prstDash val="solid"/>
          </a:ln>
        </p:spPr>
      </p:sp>
      <p:sp>
        <p:nvSpPr>
          <p:cNvPr id="1873827720" name="Text 6"/>
          <p:cNvSpPr/>
          <p:nvPr/>
        </p:nvSpPr>
        <p:spPr bwMode="auto">
          <a:xfrm>
            <a:off x="7818120" y="5596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i="1">
                <a:solidFill>
                  <a:srgbClr val="8A6D53"/>
                </a:solidFill>
                <a:latin typeface="Aptos"/>
                <a:ea typeface="Aptos"/>
                <a:cs typeface="Aptos"/>
              </a:rPr>
              <a:t>Материал презентации основан на Конституции РФ и федеральных конституционных законах.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конституционного права Российской Федерации</dc:title>
  <dc:subject>Основы конституционного права Российской Федерации</dc:subject>
  <dc:creator>OpenAI</dc:creator>
  <cp:lastModifiedBy/>
  <cp:revision>2</cp:revision>
  <dcterms:created xsi:type="dcterms:W3CDTF">2026-04-08T11:23:33Z</dcterms:created>
  <dcterms:modified xsi:type="dcterms:W3CDTF">2026-04-12T19:27:35Z</dcterms:modified>
</cp:coreProperties>
</file>